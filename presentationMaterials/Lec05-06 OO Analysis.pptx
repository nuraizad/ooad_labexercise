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3"/>
  </p:notesMasterIdLst>
  <p:sldIdLst>
    <p:sldId id="256" r:id="rId2"/>
    <p:sldId id="316" r:id="rId3"/>
    <p:sldId id="406" r:id="rId4"/>
    <p:sldId id="402" r:id="rId5"/>
    <p:sldId id="403" r:id="rId6"/>
    <p:sldId id="404" r:id="rId7"/>
    <p:sldId id="356" r:id="rId8"/>
    <p:sldId id="360" r:id="rId9"/>
    <p:sldId id="357" r:id="rId10"/>
    <p:sldId id="358" r:id="rId11"/>
    <p:sldId id="359" r:id="rId12"/>
    <p:sldId id="405" r:id="rId13"/>
    <p:sldId id="361" r:id="rId14"/>
    <p:sldId id="363" r:id="rId15"/>
    <p:sldId id="362" r:id="rId16"/>
    <p:sldId id="364" r:id="rId17"/>
    <p:sldId id="365" r:id="rId18"/>
    <p:sldId id="366" r:id="rId19"/>
    <p:sldId id="367" r:id="rId20"/>
    <p:sldId id="368" r:id="rId21"/>
    <p:sldId id="369" r:id="rId22"/>
    <p:sldId id="371" r:id="rId23"/>
    <p:sldId id="370" r:id="rId24"/>
    <p:sldId id="374" r:id="rId25"/>
    <p:sldId id="373" r:id="rId26"/>
    <p:sldId id="375" r:id="rId27"/>
    <p:sldId id="399" r:id="rId28"/>
    <p:sldId id="376" r:id="rId29"/>
    <p:sldId id="377" r:id="rId30"/>
    <p:sldId id="378" r:id="rId31"/>
    <p:sldId id="379" r:id="rId32"/>
    <p:sldId id="381" r:id="rId33"/>
    <p:sldId id="382" r:id="rId34"/>
    <p:sldId id="383" r:id="rId35"/>
    <p:sldId id="384" r:id="rId36"/>
    <p:sldId id="385" r:id="rId37"/>
    <p:sldId id="386" r:id="rId38"/>
    <p:sldId id="387" r:id="rId39"/>
    <p:sldId id="388" r:id="rId40"/>
    <p:sldId id="389" r:id="rId41"/>
    <p:sldId id="391" r:id="rId42"/>
    <p:sldId id="392" r:id="rId43"/>
    <p:sldId id="393" r:id="rId44"/>
    <p:sldId id="394" r:id="rId45"/>
    <p:sldId id="395" r:id="rId46"/>
    <p:sldId id="396" r:id="rId47"/>
    <p:sldId id="397" r:id="rId48"/>
    <p:sldId id="401" r:id="rId49"/>
    <p:sldId id="398" r:id="rId50"/>
    <p:sldId id="400" r:id="rId51"/>
    <p:sldId id="355" r:id="rId52"/>
  </p:sldIdLst>
  <p:sldSz cx="9144000" cy="6858000" type="screen4x3"/>
  <p:notesSz cx="6858000" cy="9144000"/>
  <p:defaultTextStyle>
    <a:defPPr>
      <a:defRPr lang="en-US"/>
    </a:defPPr>
    <a:lvl1pPr algn="ctr" rtl="0" eaLnBrk="0" fontAlgn="base" hangingPunct="0">
      <a:spcBef>
        <a:spcPct val="0"/>
      </a:spcBef>
      <a:spcAft>
        <a:spcPct val="0"/>
      </a:spcAft>
      <a:defRPr kern="1200">
        <a:solidFill>
          <a:schemeClr val="tx1"/>
        </a:solidFill>
        <a:latin typeface="Calibri" pitchFamily="34" charset="0"/>
        <a:ea typeface="+mn-ea"/>
        <a:cs typeface="+mn-cs"/>
      </a:defRPr>
    </a:lvl1pPr>
    <a:lvl2pPr marL="457200" algn="ctr" rtl="0" eaLnBrk="0" fontAlgn="base" hangingPunct="0">
      <a:spcBef>
        <a:spcPct val="0"/>
      </a:spcBef>
      <a:spcAft>
        <a:spcPct val="0"/>
      </a:spcAft>
      <a:defRPr kern="1200">
        <a:solidFill>
          <a:schemeClr val="tx1"/>
        </a:solidFill>
        <a:latin typeface="Calibri" pitchFamily="34" charset="0"/>
        <a:ea typeface="+mn-ea"/>
        <a:cs typeface="+mn-cs"/>
      </a:defRPr>
    </a:lvl2pPr>
    <a:lvl3pPr marL="914400" algn="ctr" rtl="0" eaLnBrk="0" fontAlgn="base" hangingPunct="0">
      <a:spcBef>
        <a:spcPct val="0"/>
      </a:spcBef>
      <a:spcAft>
        <a:spcPct val="0"/>
      </a:spcAft>
      <a:defRPr kern="1200">
        <a:solidFill>
          <a:schemeClr val="tx1"/>
        </a:solidFill>
        <a:latin typeface="Calibri" pitchFamily="34" charset="0"/>
        <a:ea typeface="+mn-ea"/>
        <a:cs typeface="+mn-cs"/>
      </a:defRPr>
    </a:lvl3pPr>
    <a:lvl4pPr marL="1371600" algn="ctr" rtl="0" eaLnBrk="0" fontAlgn="base" hangingPunct="0">
      <a:spcBef>
        <a:spcPct val="0"/>
      </a:spcBef>
      <a:spcAft>
        <a:spcPct val="0"/>
      </a:spcAft>
      <a:defRPr kern="1200">
        <a:solidFill>
          <a:schemeClr val="tx1"/>
        </a:solidFill>
        <a:latin typeface="Calibri" pitchFamily="34" charset="0"/>
        <a:ea typeface="+mn-ea"/>
        <a:cs typeface="+mn-cs"/>
      </a:defRPr>
    </a:lvl4pPr>
    <a:lvl5pPr marL="1828800" algn="ctr"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CCFF99"/>
    <a:srgbClr val="F7F7AF"/>
    <a:srgbClr val="FF9933"/>
    <a:srgbClr val="FF33CC"/>
    <a:srgbClr val="003399"/>
    <a:srgbClr val="3399FF"/>
    <a:srgbClr val="0066CC"/>
    <a:srgbClr val="3366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3" autoAdjust="0"/>
    <p:restoredTop sz="80142" autoAdjust="0"/>
  </p:normalViewPr>
  <p:slideViewPr>
    <p:cSldViewPr>
      <p:cViewPr varScale="1">
        <p:scale>
          <a:sx n="47" d="100"/>
          <a:sy n="47" d="100"/>
        </p:scale>
        <p:origin x="1840" y="5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5895" cy="7589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MY"/>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27FCAE43-244A-4224-AEE1-EEFE455A28A4}" type="datetimeFigureOut">
              <a:rPr lang="en-MY"/>
              <a:pPr>
                <a:defRPr/>
              </a:pPr>
              <a:t>8/12/2025</a:t>
            </a:fld>
            <a:endParaRPr lang="en-MY"/>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MY"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MY"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MY"/>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A9172126-2B0B-439B-8EF1-BDDBCA272A8A}" type="slidenum">
              <a:rPr lang="en-MY"/>
              <a:pPr>
                <a:defRPr/>
              </a:pPr>
              <a:t>‹#›</a:t>
            </a:fld>
            <a:endParaRPr lang="en-MY"/>
          </a:p>
        </p:txBody>
      </p:sp>
    </p:spTree>
    <p:extLst>
      <p:ext uri="{BB962C8B-B14F-4D97-AF65-F5344CB8AC3E}">
        <p14:creationId xmlns:p14="http://schemas.microsoft.com/office/powerpoint/2010/main" val="189652215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9172126-2B0B-439B-8EF1-BDDBCA272A8A}" type="slidenum">
              <a:rPr lang="en-MY" smtClean="0"/>
              <a:pPr>
                <a:defRPr/>
              </a:pPr>
              <a:t>7</a:t>
            </a:fld>
            <a:endParaRPr lang="en-MY"/>
          </a:p>
        </p:txBody>
      </p:sp>
    </p:spTree>
    <p:extLst>
      <p:ext uri="{BB962C8B-B14F-4D97-AF65-F5344CB8AC3E}">
        <p14:creationId xmlns:p14="http://schemas.microsoft.com/office/powerpoint/2010/main" val="3814335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a:defRPr/>
            </a:pPr>
            <a:fld id="{A9172126-2B0B-439B-8EF1-BDDBCA272A8A}" type="slidenum">
              <a:rPr lang="en-MY" smtClean="0"/>
              <a:pPr>
                <a:defRPr/>
              </a:pPr>
              <a:t>11</a:t>
            </a:fld>
            <a:endParaRPr lang="en-MY"/>
          </a:p>
        </p:txBody>
      </p:sp>
    </p:spTree>
    <p:extLst>
      <p:ext uri="{BB962C8B-B14F-4D97-AF65-F5344CB8AC3E}">
        <p14:creationId xmlns:p14="http://schemas.microsoft.com/office/powerpoint/2010/main" val="2736564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a:defRPr/>
            </a:pPr>
            <a:fld id="{A9172126-2B0B-439B-8EF1-BDDBCA272A8A}" type="slidenum">
              <a:rPr lang="en-MY" smtClean="0"/>
              <a:pPr>
                <a:defRPr/>
              </a:pPr>
              <a:t>14</a:t>
            </a:fld>
            <a:endParaRPr lang="en-MY"/>
          </a:p>
        </p:txBody>
      </p:sp>
    </p:spTree>
    <p:extLst>
      <p:ext uri="{BB962C8B-B14F-4D97-AF65-F5344CB8AC3E}">
        <p14:creationId xmlns:p14="http://schemas.microsoft.com/office/powerpoint/2010/main" val="2423181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9172126-2B0B-439B-8EF1-BDDBCA272A8A}" type="slidenum">
              <a:rPr lang="en-MY" smtClean="0"/>
              <a:pPr>
                <a:defRPr/>
              </a:pPr>
              <a:t>19</a:t>
            </a:fld>
            <a:endParaRPr lang="en-MY"/>
          </a:p>
        </p:txBody>
      </p:sp>
    </p:spTree>
    <p:extLst>
      <p:ext uri="{BB962C8B-B14F-4D97-AF65-F5344CB8AC3E}">
        <p14:creationId xmlns:p14="http://schemas.microsoft.com/office/powerpoint/2010/main" val="2832669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pPr>
              <a:defRPr/>
            </a:pPr>
            <a:fld id="{A9172126-2B0B-439B-8EF1-BDDBCA272A8A}" type="slidenum">
              <a:rPr lang="en-MY" smtClean="0"/>
              <a:pPr>
                <a:defRPr/>
              </a:pPr>
              <a:t>34</a:t>
            </a:fld>
            <a:endParaRPr lang="en-MY"/>
          </a:p>
        </p:txBody>
      </p:sp>
    </p:spTree>
    <p:extLst>
      <p:ext uri="{BB962C8B-B14F-4D97-AF65-F5344CB8AC3E}">
        <p14:creationId xmlns:p14="http://schemas.microsoft.com/office/powerpoint/2010/main" val="2806773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a:defRPr/>
            </a:pPr>
            <a:fld id="{A9172126-2B0B-439B-8EF1-BDDBCA272A8A}" type="slidenum">
              <a:rPr lang="en-MY" smtClean="0"/>
              <a:pPr>
                <a:defRPr/>
              </a:pPr>
              <a:t>39</a:t>
            </a:fld>
            <a:endParaRPr lang="en-MY"/>
          </a:p>
        </p:txBody>
      </p:sp>
    </p:spTree>
    <p:extLst>
      <p:ext uri="{BB962C8B-B14F-4D97-AF65-F5344CB8AC3E}">
        <p14:creationId xmlns:p14="http://schemas.microsoft.com/office/powerpoint/2010/main" val="1359967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a:defRPr/>
            </a:pPr>
            <a:fld id="{A9172126-2B0B-439B-8EF1-BDDBCA272A8A}" type="slidenum">
              <a:rPr lang="en-MY" smtClean="0"/>
              <a:pPr>
                <a:defRPr/>
              </a:pPr>
              <a:t>46</a:t>
            </a:fld>
            <a:endParaRPr lang="en-MY"/>
          </a:p>
        </p:txBody>
      </p:sp>
    </p:spTree>
    <p:extLst>
      <p:ext uri="{BB962C8B-B14F-4D97-AF65-F5344CB8AC3E}">
        <p14:creationId xmlns:p14="http://schemas.microsoft.com/office/powerpoint/2010/main" val="2573347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pPr>
              <a:defRPr/>
            </a:pPr>
            <a:fld id="{A9172126-2B0B-439B-8EF1-BDDBCA272A8A}" type="slidenum">
              <a:rPr lang="en-MY" smtClean="0"/>
              <a:pPr>
                <a:defRPr/>
              </a:pPr>
              <a:t>50</a:t>
            </a:fld>
            <a:endParaRPr lang="en-MY"/>
          </a:p>
        </p:txBody>
      </p:sp>
    </p:spTree>
    <p:extLst>
      <p:ext uri="{BB962C8B-B14F-4D97-AF65-F5344CB8AC3E}">
        <p14:creationId xmlns:p14="http://schemas.microsoft.com/office/powerpoint/2010/main" val="3801539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2517775"/>
            <a:ext cx="9144000" cy="914400"/>
          </a:xfrm>
        </p:spPr>
        <p:txBody>
          <a:bodyPr/>
          <a:lstStyle>
            <a:lvl1pPr>
              <a:defRPr sz="4800">
                <a:solidFill>
                  <a:schemeClr val="bg1"/>
                </a:solidFill>
              </a:defRPr>
            </a:lvl1pPr>
          </a:lstStyle>
          <a:p>
            <a:pPr lvl="0"/>
            <a:r>
              <a:rPr lang="en-US" altLang="en-US" noProof="0" dirty="0"/>
              <a:t>Click to edit Master title style</a:t>
            </a:r>
          </a:p>
        </p:txBody>
      </p:sp>
      <p:sp>
        <p:nvSpPr>
          <p:cNvPr id="5123" name="Rectangle 3"/>
          <p:cNvSpPr>
            <a:spLocks noGrp="1" noChangeArrowheads="1"/>
          </p:cNvSpPr>
          <p:nvPr>
            <p:ph type="subTitle" idx="1"/>
          </p:nvPr>
        </p:nvSpPr>
        <p:spPr>
          <a:xfrm>
            <a:off x="0" y="3479800"/>
            <a:ext cx="9144000" cy="635000"/>
          </a:xfrm>
        </p:spPr>
        <p:txBody>
          <a:bodyPr/>
          <a:lstStyle>
            <a:lvl1pPr marL="0" indent="0" algn="ctr">
              <a:buFontTx/>
              <a:buNone/>
              <a:defRPr/>
            </a:lvl1pPr>
          </a:lstStyle>
          <a:p>
            <a:pPr lvl="0"/>
            <a:r>
              <a:rPr lang="en-US" altLang="en-US" noProof="0"/>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480EB4B4-F021-4B13-9C2E-AD12E8F80114}" type="slidenum">
              <a:rPr lang="en-US" altLang="en-US"/>
              <a:pPr>
                <a:defRPr/>
              </a:pPr>
              <a:t>‹#›</a:t>
            </a:fld>
            <a:endParaRPr lang="en-US" altLang="en-US"/>
          </a:p>
        </p:txBody>
      </p:sp>
    </p:spTree>
    <p:extLst>
      <p:ext uri="{BB962C8B-B14F-4D97-AF65-F5344CB8AC3E}">
        <p14:creationId xmlns:p14="http://schemas.microsoft.com/office/powerpoint/2010/main" val="326583489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92D050"/>
                </a:solidFill>
              </a:defRPr>
            </a:lvl1p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820F56F2-5169-4283-A1E7-2242F5B55C60}" type="slidenum">
              <a:rPr lang="en-US" altLang="en-US"/>
              <a:pPr>
                <a:defRPr/>
              </a:pPr>
              <a:t>‹#›</a:t>
            </a:fld>
            <a:endParaRPr lang="en-US" altLang="en-US"/>
          </a:p>
        </p:txBody>
      </p:sp>
    </p:spTree>
    <p:extLst>
      <p:ext uri="{BB962C8B-B14F-4D97-AF65-F5344CB8AC3E}">
        <p14:creationId xmlns:p14="http://schemas.microsoft.com/office/powerpoint/2010/main" val="65549692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bg1"/>
                </a:solidFill>
              </a:defRPr>
            </a:lvl1pPr>
          </a:lstStyle>
          <a:p>
            <a:r>
              <a:rPr lang="en-US" dirty="0"/>
              <a:t>Click to edit Master title style</a:t>
            </a:r>
            <a:endParaRPr lang="en-MY"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088D2563-3567-43BC-BE7B-15A033706E04}" type="slidenum">
              <a:rPr lang="en-US" altLang="en-US"/>
              <a:pPr>
                <a:defRPr/>
              </a:pPr>
              <a:t>‹#›</a:t>
            </a:fld>
            <a:endParaRPr lang="en-US" altLang="en-US"/>
          </a:p>
        </p:txBody>
      </p:sp>
    </p:spTree>
    <p:extLst>
      <p:ext uri="{BB962C8B-B14F-4D97-AF65-F5344CB8AC3E}">
        <p14:creationId xmlns:p14="http://schemas.microsoft.com/office/powerpoint/2010/main" val="120862582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381000" y="773113"/>
            <a:ext cx="43053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838700" y="773113"/>
            <a:ext cx="4305300" cy="5715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049FDF05-069B-4B62-A2E9-00D7C12307C3}" type="slidenum">
              <a:rPr lang="en-US" altLang="en-US"/>
              <a:pPr>
                <a:defRPr/>
              </a:pPr>
              <a:t>‹#›</a:t>
            </a:fld>
            <a:endParaRPr lang="en-US" altLang="en-US"/>
          </a:p>
        </p:txBody>
      </p:sp>
    </p:spTree>
    <p:extLst>
      <p:ext uri="{BB962C8B-B14F-4D97-AF65-F5344CB8AC3E}">
        <p14:creationId xmlns:p14="http://schemas.microsoft.com/office/powerpoint/2010/main" val="145766591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62EA1439-27E9-42BA-8499-74481AFFF9E6}" type="slidenum">
              <a:rPr lang="en-US" altLang="en-US"/>
              <a:pPr>
                <a:defRPr/>
              </a:pPr>
              <a:t>‹#›</a:t>
            </a:fld>
            <a:endParaRPr lang="en-US" altLang="en-US"/>
          </a:p>
        </p:txBody>
      </p:sp>
    </p:spTree>
    <p:extLst>
      <p:ext uri="{BB962C8B-B14F-4D97-AF65-F5344CB8AC3E}">
        <p14:creationId xmlns:p14="http://schemas.microsoft.com/office/powerpoint/2010/main" val="19374684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B40FFC5B-1630-4321-8255-592DF4AF3204}" type="slidenum">
              <a:rPr lang="en-US" altLang="en-US"/>
              <a:pPr>
                <a:defRPr/>
              </a:pPr>
              <a:t>‹#›</a:t>
            </a:fld>
            <a:endParaRPr lang="en-US" altLang="en-US"/>
          </a:p>
        </p:txBody>
      </p:sp>
    </p:spTree>
    <p:extLst>
      <p:ext uri="{BB962C8B-B14F-4D97-AF65-F5344CB8AC3E}">
        <p14:creationId xmlns:p14="http://schemas.microsoft.com/office/powerpoint/2010/main" val="427980965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A7669697-ED51-4984-9803-C3423990D24B}" type="slidenum">
              <a:rPr lang="en-US" altLang="en-US"/>
              <a:pPr>
                <a:defRPr/>
              </a:pPr>
              <a:t>‹#›</a:t>
            </a:fld>
            <a:endParaRPr lang="en-US" altLang="en-US"/>
          </a:p>
        </p:txBody>
      </p:sp>
    </p:spTree>
    <p:extLst>
      <p:ext uri="{BB962C8B-B14F-4D97-AF65-F5344CB8AC3E}">
        <p14:creationId xmlns:p14="http://schemas.microsoft.com/office/powerpoint/2010/main" val="297599024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273792A3-B3B5-48EC-AFCF-BD68DA01636C}" type="slidenum">
              <a:rPr lang="en-US" altLang="en-US"/>
              <a:pPr>
                <a:defRPr/>
              </a:pPr>
              <a:t>‹#›</a:t>
            </a:fld>
            <a:endParaRPr lang="en-US" altLang="en-US"/>
          </a:p>
        </p:txBody>
      </p:sp>
    </p:spTree>
    <p:extLst>
      <p:ext uri="{BB962C8B-B14F-4D97-AF65-F5344CB8AC3E}">
        <p14:creationId xmlns:p14="http://schemas.microsoft.com/office/powerpoint/2010/main" val="96387774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F94D6C5D-6A86-4BD0-9D1B-CECD3A89F5E4}" type="slidenum">
              <a:rPr lang="en-US" altLang="en-US"/>
              <a:pPr>
                <a:defRPr/>
              </a:pPr>
              <a:t>‹#›</a:t>
            </a:fld>
            <a:endParaRPr lang="en-US" altLang="en-US"/>
          </a:p>
        </p:txBody>
      </p:sp>
    </p:spTree>
    <p:extLst>
      <p:ext uri="{BB962C8B-B14F-4D97-AF65-F5344CB8AC3E}">
        <p14:creationId xmlns:p14="http://schemas.microsoft.com/office/powerpoint/2010/main" val="9989862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6AE346CD-A393-4123-8DF4-65CEF73DF589}" type="slidenum">
              <a:rPr lang="en-US" altLang="en-US"/>
              <a:pPr>
                <a:defRPr/>
              </a:pPr>
              <a:t>‹#›</a:t>
            </a:fld>
            <a:endParaRPr lang="en-US" altLang="en-US"/>
          </a:p>
        </p:txBody>
      </p:sp>
    </p:spTree>
    <p:extLst>
      <p:ext uri="{BB962C8B-B14F-4D97-AF65-F5344CB8AC3E}">
        <p14:creationId xmlns:p14="http://schemas.microsoft.com/office/powerpoint/2010/main" val="38187696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488113"/>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0" y="0"/>
            <a:ext cx="6705600" cy="6488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0C1FF06C-0032-41B3-A47F-B85CA75E8E61}" type="slidenum">
              <a:rPr lang="en-US" altLang="en-US"/>
              <a:pPr>
                <a:defRPr/>
              </a:pPr>
              <a:t>‹#›</a:t>
            </a:fld>
            <a:endParaRPr lang="en-US" altLang="en-US"/>
          </a:p>
        </p:txBody>
      </p:sp>
    </p:spTree>
    <p:extLst>
      <p:ext uri="{BB962C8B-B14F-4D97-AF65-F5344CB8AC3E}">
        <p14:creationId xmlns:p14="http://schemas.microsoft.com/office/powerpoint/2010/main" val="89915264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a:t>Click to edit Master title style</a:t>
            </a:r>
            <a:endParaRPr lang="en-MY"/>
          </a:p>
        </p:txBody>
      </p:sp>
      <p:sp>
        <p:nvSpPr>
          <p:cNvPr id="3" name="Text Placeholder 2"/>
          <p:cNvSpPr>
            <a:spLocks noGrp="1"/>
          </p:cNvSpPr>
          <p:nvPr>
            <p:ph type="body" sz="half" idx="1"/>
          </p:nvPr>
        </p:nvSpPr>
        <p:spPr>
          <a:xfrm>
            <a:off x="381000" y="773113"/>
            <a:ext cx="43053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838700" y="773113"/>
            <a:ext cx="43053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EC4D3447-A4E5-4B88-B553-55E5268EF23D}" type="slidenum">
              <a:rPr lang="en-US" altLang="en-US"/>
              <a:pPr>
                <a:defRPr/>
              </a:pPr>
              <a:t>‹#›</a:t>
            </a:fld>
            <a:endParaRPr lang="en-US" altLang="en-US"/>
          </a:p>
        </p:txBody>
      </p:sp>
    </p:spTree>
    <p:extLst>
      <p:ext uri="{BB962C8B-B14F-4D97-AF65-F5344CB8AC3E}">
        <p14:creationId xmlns:p14="http://schemas.microsoft.com/office/powerpoint/2010/main" val="353410226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381000" y="773113"/>
            <a:ext cx="8763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7" name="Rectangle 3"/>
          <p:cNvSpPr>
            <a:spLocks noGrp="1" noChangeArrowheads="1"/>
          </p:cNvSpPr>
          <p:nvPr>
            <p:ph type="title"/>
          </p:nvPr>
        </p:nvSpPr>
        <p:spPr bwMode="auto">
          <a:xfrm>
            <a:off x="0" y="0"/>
            <a:ext cx="9144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4100" name="Rectangle 4"/>
          <p:cNvSpPr>
            <a:spLocks noGrp="1" noChangeArrowheads="1"/>
          </p:cNvSpPr>
          <p:nvPr>
            <p:ph type="dt" sz="half" idx="2"/>
          </p:nvPr>
        </p:nvSpPr>
        <p:spPr bwMode="auto">
          <a:xfrm>
            <a:off x="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000" b="1" smtClean="0">
                <a:latin typeface="Arial" charset="0"/>
              </a:defRPr>
            </a:lvl1pPr>
          </a:lstStyle>
          <a:p>
            <a:pPr>
              <a:defRPr/>
            </a:pPr>
            <a:endParaRPr lang="en-US" altLang="en-US"/>
          </a:p>
        </p:txBody>
      </p:sp>
      <p:sp>
        <p:nvSpPr>
          <p:cNvPr id="4101" name="Rectangle 5"/>
          <p:cNvSpPr>
            <a:spLocks noGrp="1" noChangeArrowheads="1"/>
          </p:cNvSpPr>
          <p:nvPr>
            <p:ph type="ftr" sz="quarter" idx="3"/>
          </p:nvPr>
        </p:nvSpPr>
        <p:spPr bwMode="auto">
          <a:xfrm>
            <a:off x="3124200" y="6629400"/>
            <a:ext cx="2895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b="1" smtClean="0">
                <a:latin typeface="Arial" charset="0"/>
              </a:defRPr>
            </a:lvl1pPr>
          </a:lstStyle>
          <a:p>
            <a:pPr>
              <a:defRPr/>
            </a:pPr>
            <a:endParaRPr lang="en-US" altLang="en-US"/>
          </a:p>
        </p:txBody>
      </p:sp>
      <p:sp>
        <p:nvSpPr>
          <p:cNvPr id="4102" name="Rectangle 6"/>
          <p:cNvSpPr>
            <a:spLocks noGrp="1" noChangeArrowheads="1"/>
          </p:cNvSpPr>
          <p:nvPr>
            <p:ph type="sldNum" sz="quarter" idx="4"/>
          </p:nvPr>
        </p:nvSpPr>
        <p:spPr bwMode="auto">
          <a:xfrm>
            <a:off x="7239000" y="6629400"/>
            <a:ext cx="1905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b="1" smtClean="0">
                <a:latin typeface="Arial" charset="0"/>
              </a:defRPr>
            </a:lvl1pPr>
          </a:lstStyle>
          <a:p>
            <a:pPr>
              <a:defRPr/>
            </a:pPr>
            <a:fld id="{D8A83BE3-3BCA-4277-ABA1-9440BB607CB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ransition/>
  <p:txStyles>
    <p:titleStyle>
      <a:lvl1pPr algn="ctr" rtl="0" eaLnBrk="0" fontAlgn="base" hangingPunct="0">
        <a:spcBef>
          <a:spcPct val="0"/>
        </a:spcBef>
        <a:spcAft>
          <a:spcPct val="0"/>
        </a:spcAft>
        <a:defRPr sz="4000">
          <a:solidFill>
            <a:schemeClr val="bg1"/>
          </a:solidFill>
          <a:effectLst>
            <a:glow rad="101600">
              <a:schemeClr val="accent2">
                <a:lumMod val="50000"/>
                <a:alpha val="60000"/>
              </a:schemeClr>
            </a:glow>
          </a:effectLst>
          <a:latin typeface="+mj-lt"/>
          <a:ea typeface="+mj-ea"/>
          <a:cs typeface="+mj-cs"/>
        </a:defRPr>
      </a:lvl1pPr>
      <a:lvl2pPr algn="ctr" rtl="0" eaLnBrk="0" fontAlgn="base" hangingPunct="0">
        <a:spcBef>
          <a:spcPct val="0"/>
        </a:spcBef>
        <a:spcAft>
          <a:spcPct val="0"/>
        </a:spcAft>
        <a:defRPr sz="4000">
          <a:solidFill>
            <a:srgbClr val="3399FF"/>
          </a:solidFill>
          <a:latin typeface="Book Antiqua" pitchFamily="18" charset="0"/>
        </a:defRPr>
      </a:lvl2pPr>
      <a:lvl3pPr algn="ctr" rtl="0" eaLnBrk="0" fontAlgn="base" hangingPunct="0">
        <a:spcBef>
          <a:spcPct val="0"/>
        </a:spcBef>
        <a:spcAft>
          <a:spcPct val="0"/>
        </a:spcAft>
        <a:defRPr sz="4000">
          <a:solidFill>
            <a:srgbClr val="3399FF"/>
          </a:solidFill>
          <a:latin typeface="Book Antiqua" pitchFamily="18" charset="0"/>
        </a:defRPr>
      </a:lvl3pPr>
      <a:lvl4pPr algn="ctr" rtl="0" eaLnBrk="0" fontAlgn="base" hangingPunct="0">
        <a:spcBef>
          <a:spcPct val="0"/>
        </a:spcBef>
        <a:spcAft>
          <a:spcPct val="0"/>
        </a:spcAft>
        <a:defRPr sz="4000">
          <a:solidFill>
            <a:srgbClr val="3399FF"/>
          </a:solidFill>
          <a:latin typeface="Book Antiqua" pitchFamily="18" charset="0"/>
        </a:defRPr>
      </a:lvl4pPr>
      <a:lvl5pPr algn="ctr" rtl="0" eaLnBrk="0" fontAlgn="base" hangingPunct="0">
        <a:spcBef>
          <a:spcPct val="0"/>
        </a:spcBef>
        <a:spcAft>
          <a:spcPct val="0"/>
        </a:spcAft>
        <a:defRPr sz="4000">
          <a:solidFill>
            <a:srgbClr val="3399FF"/>
          </a:solidFill>
          <a:latin typeface="Book Antiqua" pitchFamily="18" charset="0"/>
        </a:defRPr>
      </a:lvl5pPr>
      <a:lvl6pPr marL="457200" algn="ctr" rtl="0" fontAlgn="base">
        <a:spcBef>
          <a:spcPct val="0"/>
        </a:spcBef>
        <a:spcAft>
          <a:spcPct val="0"/>
        </a:spcAft>
        <a:defRPr sz="4000">
          <a:solidFill>
            <a:srgbClr val="3399FF"/>
          </a:solidFill>
          <a:latin typeface="Book Antiqua" pitchFamily="18" charset="0"/>
        </a:defRPr>
      </a:lvl6pPr>
      <a:lvl7pPr marL="914400" algn="ctr" rtl="0" fontAlgn="base">
        <a:spcBef>
          <a:spcPct val="0"/>
        </a:spcBef>
        <a:spcAft>
          <a:spcPct val="0"/>
        </a:spcAft>
        <a:defRPr sz="4000">
          <a:solidFill>
            <a:srgbClr val="3399FF"/>
          </a:solidFill>
          <a:latin typeface="Book Antiqua" pitchFamily="18" charset="0"/>
        </a:defRPr>
      </a:lvl7pPr>
      <a:lvl8pPr marL="1371600" algn="ctr" rtl="0" fontAlgn="base">
        <a:spcBef>
          <a:spcPct val="0"/>
        </a:spcBef>
        <a:spcAft>
          <a:spcPct val="0"/>
        </a:spcAft>
        <a:defRPr sz="4000">
          <a:solidFill>
            <a:srgbClr val="3399FF"/>
          </a:solidFill>
          <a:latin typeface="Book Antiqua" pitchFamily="18" charset="0"/>
        </a:defRPr>
      </a:lvl8pPr>
      <a:lvl9pPr marL="1828800" algn="ctr" rtl="0" fontAlgn="base">
        <a:spcBef>
          <a:spcPct val="0"/>
        </a:spcBef>
        <a:spcAft>
          <a:spcPct val="0"/>
        </a:spcAft>
        <a:defRPr sz="4000">
          <a:solidFill>
            <a:srgbClr val="3399FF"/>
          </a:solidFill>
          <a:latin typeface="Book Antiqua" pitchFamily="18" charset="0"/>
        </a:defRPr>
      </a:lvl9pPr>
    </p:titleStyle>
    <p:bodyStyle>
      <a:lvl1pPr marL="342900" indent="-342900" algn="l" rtl="0" eaLnBrk="0" fontAlgn="base" hangingPunct="0">
        <a:spcBef>
          <a:spcPct val="20000"/>
        </a:spcBef>
        <a:spcAft>
          <a:spcPct val="0"/>
        </a:spcAft>
        <a:buChar char="•"/>
        <a:defRPr sz="2200">
          <a:solidFill>
            <a:schemeClr val="bg1"/>
          </a:solidFill>
          <a:effectLst>
            <a:glow rad="127000">
              <a:schemeClr val="accent2">
                <a:lumMod val="50000"/>
              </a:schemeClr>
            </a:glow>
          </a:effectLst>
          <a:latin typeface="+mn-lt"/>
          <a:ea typeface="+mn-ea"/>
          <a:cs typeface="+mn-cs"/>
        </a:defRPr>
      </a:lvl1pPr>
      <a:lvl2pPr marL="742950" indent="-285750" algn="l" rtl="0" eaLnBrk="0" fontAlgn="base" hangingPunct="0">
        <a:spcBef>
          <a:spcPct val="20000"/>
        </a:spcBef>
        <a:spcAft>
          <a:spcPct val="0"/>
        </a:spcAft>
        <a:buChar char="•"/>
        <a:defRPr sz="2200">
          <a:solidFill>
            <a:schemeClr val="bg1"/>
          </a:solidFill>
          <a:effectLst>
            <a:glow rad="127000">
              <a:schemeClr val="accent2">
                <a:lumMod val="50000"/>
              </a:schemeClr>
            </a:glow>
          </a:effectLst>
          <a:latin typeface="+mn-lt"/>
        </a:defRPr>
      </a:lvl2pPr>
      <a:lvl3pPr marL="1143000" indent="-228600" algn="l" rtl="0" eaLnBrk="0" fontAlgn="base" hangingPunct="0">
        <a:spcBef>
          <a:spcPct val="20000"/>
        </a:spcBef>
        <a:spcAft>
          <a:spcPct val="0"/>
        </a:spcAft>
        <a:buChar char="•"/>
        <a:defRPr sz="2200">
          <a:solidFill>
            <a:schemeClr val="bg1"/>
          </a:solidFill>
          <a:effectLst>
            <a:glow rad="127000">
              <a:schemeClr val="accent2">
                <a:lumMod val="50000"/>
              </a:schemeClr>
            </a:glow>
          </a:effectLst>
          <a:latin typeface="+mn-lt"/>
        </a:defRPr>
      </a:lvl3pPr>
      <a:lvl4pPr marL="1600200" indent="-228600" algn="l" rtl="0" eaLnBrk="0" fontAlgn="base" hangingPunct="0">
        <a:spcBef>
          <a:spcPct val="20000"/>
        </a:spcBef>
        <a:spcAft>
          <a:spcPct val="0"/>
        </a:spcAft>
        <a:buChar char="•"/>
        <a:defRPr sz="2200">
          <a:solidFill>
            <a:schemeClr val="bg1"/>
          </a:solidFill>
          <a:effectLst>
            <a:glow rad="127000">
              <a:schemeClr val="accent2">
                <a:lumMod val="50000"/>
              </a:schemeClr>
            </a:glow>
          </a:effectLst>
          <a:latin typeface="+mn-lt"/>
        </a:defRPr>
      </a:lvl4pPr>
      <a:lvl5pPr marL="2057400" indent="-228600" algn="l" rtl="0" eaLnBrk="0" fontAlgn="base" hangingPunct="0">
        <a:spcBef>
          <a:spcPct val="20000"/>
        </a:spcBef>
        <a:spcAft>
          <a:spcPct val="0"/>
        </a:spcAft>
        <a:buChar char="•"/>
        <a:defRPr sz="2200">
          <a:solidFill>
            <a:schemeClr val="bg1"/>
          </a:solidFill>
          <a:effectLst>
            <a:glow rad="127000">
              <a:schemeClr val="accent2">
                <a:lumMod val="50000"/>
              </a:schemeClr>
            </a:glow>
          </a:effectLst>
          <a:latin typeface="+mn-lt"/>
        </a:defRPr>
      </a:lvl5pPr>
      <a:lvl6pPr marL="2514600" indent="-228600" algn="l" rtl="0" fontAlgn="base">
        <a:spcBef>
          <a:spcPct val="20000"/>
        </a:spcBef>
        <a:spcAft>
          <a:spcPct val="0"/>
        </a:spcAft>
        <a:buChar char="•"/>
        <a:defRPr sz="2200">
          <a:solidFill>
            <a:schemeClr val="bg1"/>
          </a:solidFill>
          <a:latin typeface="+mn-lt"/>
        </a:defRPr>
      </a:lvl6pPr>
      <a:lvl7pPr marL="2971800" indent="-228600" algn="l" rtl="0" fontAlgn="base">
        <a:spcBef>
          <a:spcPct val="20000"/>
        </a:spcBef>
        <a:spcAft>
          <a:spcPct val="0"/>
        </a:spcAft>
        <a:buChar char="•"/>
        <a:defRPr sz="2200">
          <a:solidFill>
            <a:schemeClr val="bg1"/>
          </a:solidFill>
          <a:latin typeface="+mn-lt"/>
        </a:defRPr>
      </a:lvl7pPr>
      <a:lvl8pPr marL="3429000" indent="-228600" algn="l" rtl="0" fontAlgn="base">
        <a:spcBef>
          <a:spcPct val="20000"/>
        </a:spcBef>
        <a:spcAft>
          <a:spcPct val="0"/>
        </a:spcAft>
        <a:buChar char="•"/>
        <a:defRPr sz="2200">
          <a:solidFill>
            <a:schemeClr val="bg1"/>
          </a:solidFill>
          <a:latin typeface="+mn-lt"/>
        </a:defRPr>
      </a:lvl8pPr>
      <a:lvl9pPr marL="3886200" indent="-228600" algn="l" rtl="0" fontAlgn="base">
        <a:spcBef>
          <a:spcPct val="20000"/>
        </a:spcBef>
        <a:spcAft>
          <a:spcPct val="0"/>
        </a:spcAft>
        <a:buChar char="•"/>
        <a:defRPr sz="22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microsoft.com/office/2007/relationships/hdphoto" Target="../media/hdphoto1.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gif"/></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altLang="en-US" sz="5400" b="1" dirty="0">
                <a:ln w="0"/>
                <a:solidFill>
                  <a:schemeClr val="tx1"/>
                </a:solidFill>
                <a:effectLst>
                  <a:outerShdw blurRad="38100" dist="19050" dir="2700000" algn="tl" rotWithShape="0">
                    <a:schemeClr val="dk1">
                      <a:alpha val="40000"/>
                    </a:schemeClr>
                  </a:outerShdw>
                </a:effectLst>
                <a:latin typeface="Aptos Black" panose="020F0502020204030204" pitchFamily="34" charset="0"/>
              </a:rPr>
              <a:t>OO Analysis</a:t>
            </a:r>
          </a:p>
        </p:txBody>
      </p:sp>
      <p:sp>
        <p:nvSpPr>
          <p:cNvPr id="2051" name="Rectangle 3"/>
          <p:cNvSpPr>
            <a:spLocks noGrp="1" noChangeArrowheads="1"/>
          </p:cNvSpPr>
          <p:nvPr>
            <p:ph type="subTitle" idx="1"/>
          </p:nvPr>
        </p:nvSpPr>
        <p:spPr>
          <a:xfrm>
            <a:off x="0" y="3479800"/>
            <a:ext cx="9144000" cy="1618890"/>
          </a:xfrm>
        </p:spPr>
        <p:txBody>
          <a:bodyPr/>
          <a:lstStyle/>
          <a:p>
            <a:pPr eaLnBrk="1" hangingPunct="1"/>
            <a:r>
              <a:rPr lang="en-US" altLang="en-US" sz="2800" dirty="0">
                <a:ln w="0"/>
                <a:solidFill>
                  <a:schemeClr val="tx1"/>
                </a:solidFill>
                <a:effectLst>
                  <a:outerShdw blurRad="38100" dist="19050" dir="2700000" algn="tl" rotWithShape="0">
                    <a:schemeClr val="dk1">
                      <a:alpha val="40000"/>
                    </a:schemeClr>
                  </a:outerShdw>
                </a:effectLst>
                <a:latin typeface="Aptos Black" panose="020F0502020204030204" pitchFamily="34" charset="0"/>
              </a:rPr>
              <a:t>CCP 6224</a:t>
            </a:r>
          </a:p>
          <a:p>
            <a:pPr eaLnBrk="1" hangingPunct="1"/>
            <a:r>
              <a:rPr lang="en-US" altLang="en-US" sz="2800" dirty="0">
                <a:ln w="0"/>
                <a:solidFill>
                  <a:schemeClr val="tx1"/>
                </a:solidFill>
                <a:effectLst>
                  <a:outerShdw blurRad="38100" dist="19050" dir="2700000" algn="tl" rotWithShape="0">
                    <a:schemeClr val="dk1">
                      <a:alpha val="40000"/>
                    </a:schemeClr>
                  </a:outerShdw>
                </a:effectLst>
                <a:latin typeface="Aptos Black" panose="020F0502020204030204" pitchFamily="34" charset="0"/>
              </a:rPr>
              <a:t>Object-oriented Analysis and Design</a:t>
            </a:r>
          </a:p>
          <a:p>
            <a:pPr eaLnBrk="1" hangingPunct="1"/>
            <a:r>
              <a:rPr lang="en-US" altLang="en-US" sz="2800" dirty="0">
                <a:ln w="0"/>
                <a:solidFill>
                  <a:schemeClr val="tx1"/>
                </a:solidFill>
                <a:effectLst>
                  <a:outerShdw blurRad="38100" dist="19050" dir="2700000" algn="tl" rotWithShape="0">
                    <a:schemeClr val="dk1">
                      <a:alpha val="40000"/>
                    </a:schemeClr>
                  </a:outerShdw>
                </a:effectLst>
                <a:latin typeface="Aptos Black" panose="020F0502020204030204" pitchFamily="34" charset="0"/>
              </a:rPr>
              <a:t>Lecture 05-06</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tLang="en-US" dirty="0">
                <a:ln w="0"/>
                <a:solidFill>
                  <a:schemeClr val="tx1"/>
                </a:solidFill>
                <a:effectLst>
                  <a:outerShdw blurRad="38100" dist="19050" dir="2700000" algn="tl" rotWithShape="0">
                    <a:schemeClr val="dk1">
                      <a:alpha val="40000"/>
                    </a:schemeClr>
                  </a:outerShdw>
                </a:effectLst>
              </a:rPr>
              <a:t>Lecture</a:t>
            </a:r>
            <a:r>
              <a:rPr lang="en-US" altLang="en-US" dirty="0"/>
              <a:t> </a:t>
            </a:r>
            <a:r>
              <a:rPr lang="en-US" altLang="en-US" dirty="0">
                <a:ln w="0"/>
                <a:solidFill>
                  <a:schemeClr val="tx1"/>
                </a:solidFill>
                <a:effectLst>
                  <a:outerShdw blurRad="38100" dist="19050" dir="2700000" algn="tl" rotWithShape="0">
                    <a:schemeClr val="dk1">
                      <a:alpha val="40000"/>
                    </a:schemeClr>
                  </a:outerShdw>
                </a:effectLst>
              </a:rPr>
              <a:t>outcomes</a:t>
            </a:r>
            <a:endParaRPr lang="en-MY" altLang="en-US" dirty="0"/>
          </a:p>
        </p:txBody>
      </p:sp>
      <p:sp>
        <p:nvSpPr>
          <p:cNvPr id="3075" name="Content Placeholder 2"/>
          <p:cNvSpPr>
            <a:spLocks noGrp="1"/>
          </p:cNvSpPr>
          <p:nvPr>
            <p:ph idx="1"/>
          </p:nvPr>
        </p:nvSpPr>
        <p:spPr>
          <a:xfrm>
            <a:off x="381000" y="1835205"/>
            <a:ext cx="8763000" cy="4652908"/>
          </a:xfrm>
        </p:spPr>
        <p:txBody>
          <a:bodyPr/>
          <a:lstStyle/>
          <a:p>
            <a:pPr eaLnBrk="1" hangingPunct="1"/>
            <a:r>
              <a:rPr lang="en-US" altLang="en-US" sz="28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the end of this lecture, you are expected to</a:t>
            </a:r>
          </a:p>
          <a:p>
            <a:pPr lvl="1" eaLnBrk="1" hangingPunct="1"/>
            <a:r>
              <a:rPr lang="en-US" altLang="en-US" sz="28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understand how </a:t>
            </a:r>
            <a:r>
              <a:rPr lang="en-US" altLang="en-US" sz="2800" u="sng" dirty="0">
                <a:ln w="0"/>
                <a:solidFill>
                  <a:srgbClr val="FF0000"/>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OO paradigms are applied to software project development</a:t>
            </a:r>
          </a:p>
          <a:p>
            <a:pPr lvl="1" eaLnBrk="1" hangingPunct="1"/>
            <a:r>
              <a:rPr lang="en-US" altLang="en-US" sz="28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know </a:t>
            </a:r>
            <a:r>
              <a:rPr lang="en-US" altLang="en-US" sz="2800" u="sng" dirty="0">
                <a:ln w="0"/>
                <a:solidFill>
                  <a:srgbClr val="FF0000"/>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how requirements of a project are modeled </a:t>
            </a:r>
            <a:r>
              <a:rPr lang="en-US" altLang="en-US" sz="280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using Analysis Object Model (AOM) and dynamic models</a:t>
            </a:r>
          </a:p>
        </p:txBody>
      </p:sp>
      <p:sp>
        <p:nvSpPr>
          <p:cNvPr id="4" name="Rectangle 3"/>
          <p:cNvSpPr/>
          <p:nvPr/>
        </p:nvSpPr>
        <p:spPr>
          <a:xfrm>
            <a:off x="0" y="6567276"/>
            <a:ext cx="4875580" cy="276999"/>
          </a:xfrm>
          <a:prstGeom prst="rect">
            <a:avLst/>
          </a:prstGeom>
        </p:spPr>
        <p:txBody>
          <a:bodyPr wrap="square">
            <a:spAutoFit/>
          </a:bodyPr>
          <a:lstStyle/>
          <a:p>
            <a:pPr algn="l"/>
            <a:r>
              <a:rPr lang="en-MY" sz="1200" i="1">
                <a:solidFill>
                  <a:schemeClr val="bg1"/>
                </a:solidFill>
              </a:rPr>
              <a:t>Portions of this file have content sourced from www.lloseng.com</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16AA-6B57-8977-1704-2817FE8C46C0}"/>
              </a:ext>
            </a:extLst>
          </p:cNvPr>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Software : Definition</a:t>
            </a:r>
            <a:endParaRPr lang="en-MY" dirty="0"/>
          </a:p>
        </p:txBody>
      </p:sp>
      <p:sp>
        <p:nvSpPr>
          <p:cNvPr id="3" name="Content Placeholder 2">
            <a:extLst>
              <a:ext uri="{FF2B5EF4-FFF2-40B4-BE49-F238E27FC236}">
                <a16:creationId xmlns:a16="http://schemas.microsoft.com/office/drawing/2014/main" id="{22C4B727-44EA-319A-A8EC-FC7417397D12}"/>
              </a:ext>
            </a:extLst>
          </p:cNvPr>
          <p:cNvSpPr>
            <a:spLocks noGrp="1"/>
          </p:cNvSpPr>
          <p:nvPr>
            <p:ph idx="1"/>
          </p:nvPr>
        </p:nvSpPr>
        <p:spPr/>
        <p:txBody>
          <a:bodyPr/>
          <a:lstStyle/>
          <a:p>
            <a:pPr>
              <a:buFont typeface="Wingdings" panose="05000000000000000000" pitchFamily="2" charset="2"/>
              <a:buChar char="Ø"/>
            </a:pPr>
            <a:r>
              <a:rPr lang="en-US" dirty="0">
                <a:ln w="0"/>
                <a:solidFill>
                  <a:schemeClr val="tx1"/>
                </a:solidFill>
                <a:effectLst>
                  <a:outerShdw blurRad="38100" dist="19050" dir="2700000" algn="tl" rotWithShape="0">
                    <a:schemeClr val="dk1">
                      <a:alpha val="40000"/>
                    </a:schemeClr>
                  </a:outerShdw>
                </a:effectLst>
              </a:rPr>
              <a:t>Software is everything in a computer system that is not hardware; mainly the instructions, data, and object interactions that make the system work.</a:t>
            </a:r>
          </a:p>
          <a:p>
            <a:pPr marL="0" indent="0">
              <a:buNone/>
            </a:pPr>
            <a:endParaRPr lang="en-US" dirty="0">
              <a:ln w="0"/>
              <a:solidFill>
                <a:schemeClr val="tx1"/>
              </a:solidFill>
              <a:effectLst>
                <a:outerShdw blurRad="38100" dist="19050" dir="2700000" algn="tl" rotWithShape="0">
                  <a:schemeClr val="dk1">
                    <a:alpha val="40000"/>
                  </a:schemeClr>
                </a:outerShdw>
              </a:effectLst>
            </a:endParaRPr>
          </a:p>
          <a:p>
            <a:pPr>
              <a:buFont typeface="Wingdings" panose="05000000000000000000" pitchFamily="2" charset="2"/>
              <a:buChar char="Ø"/>
            </a:pPr>
            <a:r>
              <a:rPr lang="en-US" dirty="0">
                <a:ln w="0"/>
                <a:solidFill>
                  <a:schemeClr val="tx1"/>
                </a:solidFill>
                <a:effectLst>
                  <a:outerShdw blurRad="38100" dist="19050" dir="2700000" algn="tl" rotWithShape="0">
                    <a:schemeClr val="dk1">
                      <a:alpha val="40000"/>
                    </a:schemeClr>
                  </a:outerShdw>
                </a:effectLst>
              </a:rPr>
              <a:t>Software is a structured collection of programs, data, and object-based models designed to fulfill user and system requirements.</a:t>
            </a:r>
          </a:p>
          <a:p>
            <a:pPr>
              <a:buFont typeface="Wingdings" panose="05000000000000000000" pitchFamily="2" charset="2"/>
              <a:buChar char="Ø"/>
            </a:pPr>
            <a:endParaRPr lang="en-US" dirty="0">
              <a:ln w="0"/>
              <a:solidFill>
                <a:schemeClr val="tx1"/>
              </a:solidFill>
              <a:effectLst>
                <a:outerShdw blurRad="38100" dist="19050" dir="2700000" algn="tl" rotWithShape="0">
                  <a:schemeClr val="dk1">
                    <a:alpha val="40000"/>
                  </a:schemeClr>
                </a:outerShdw>
              </a:effectLst>
            </a:endParaRPr>
          </a:p>
          <a:p>
            <a:pPr marL="0" indent="0">
              <a:buNone/>
            </a:pPr>
            <a:r>
              <a:rPr lang="en-US" dirty="0">
                <a:ln w="0"/>
                <a:solidFill>
                  <a:schemeClr val="tx1"/>
                </a:solidFill>
                <a:effectLst>
                  <a:outerShdw blurRad="38100" dist="19050" dir="2700000" algn="tl" rotWithShape="0">
                    <a:schemeClr val="dk1">
                      <a:alpha val="40000"/>
                    </a:schemeClr>
                  </a:outerShdw>
                </a:effectLst>
              </a:rPr>
              <a:t>		</a:t>
            </a:r>
            <a:r>
              <a:rPr lang="en-US" dirty="0">
                <a:ln w="0"/>
                <a:solidFill>
                  <a:schemeClr val="tx1"/>
                </a:solidFill>
                <a:effectLst>
                  <a:outerShdw blurRad="38100" dist="19050" dir="2700000" algn="tl" rotWithShape="0">
                    <a:schemeClr val="dk1">
                      <a:alpha val="40000"/>
                    </a:schemeClr>
                  </a:outerShdw>
                </a:effectLst>
                <a:highlight>
                  <a:srgbClr val="FFFF00"/>
                </a:highlight>
              </a:rPr>
              <a:t>(Definition in OOAD context)</a:t>
            </a:r>
          </a:p>
          <a:p>
            <a:pPr marL="0" indent="0">
              <a:buNone/>
            </a:pPr>
            <a:endParaRPr lang="en-US" dirty="0">
              <a:ln w="0"/>
              <a:solidFill>
                <a:schemeClr val="tx1"/>
              </a:solidFill>
              <a:effectLst>
                <a:outerShdw blurRad="38100" dist="19050" dir="2700000" algn="tl" rotWithShape="0">
                  <a:schemeClr val="dk1">
                    <a:alpha val="40000"/>
                  </a:schemeClr>
                </a:outerShdw>
              </a:effectLst>
              <a:highlight>
                <a:srgbClr val="FFFF00"/>
              </a:highlight>
            </a:endParaRPr>
          </a:p>
          <a:p>
            <a:pPr>
              <a:buFont typeface="Wingdings" panose="05000000000000000000" pitchFamily="2" charset="2"/>
              <a:buChar char="Ø"/>
            </a:pPr>
            <a:r>
              <a:rPr lang="en-US" dirty="0">
                <a:ln w="0"/>
                <a:solidFill>
                  <a:srgbClr val="FF0000"/>
                </a:solidFill>
                <a:effectLst>
                  <a:outerShdw blurRad="38100" dist="19050" dir="2700000" algn="tl" rotWithShape="0">
                    <a:schemeClr val="dk1">
                      <a:alpha val="40000"/>
                    </a:schemeClr>
                  </a:outerShdw>
                </a:effectLst>
              </a:rPr>
              <a:t>Software is an organized set of programs, data, and models that work together to perform tasks and solve problems. </a:t>
            </a:r>
          </a:p>
          <a:p>
            <a:pPr marL="0" indent="0">
              <a:buNone/>
            </a:pPr>
            <a:r>
              <a:rPr lang="en-US" dirty="0">
                <a:ln w="0"/>
                <a:solidFill>
                  <a:srgbClr val="FF0000"/>
                </a:solidFill>
                <a:effectLst>
                  <a:outerShdw blurRad="38100" dist="19050" dir="2700000" algn="tl" rotWithShape="0">
                    <a:schemeClr val="dk1">
                      <a:alpha val="40000"/>
                    </a:schemeClr>
                  </a:outerShdw>
                </a:effectLst>
              </a:rPr>
              <a:t>     It includes the application logic, system behavior, and the structures that               	define how objects interact to meet user requirements.</a:t>
            </a:r>
            <a:endParaRPr lang="en-MY" dirty="0">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978142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The nature of software</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Software :-</a:t>
            </a:r>
          </a:p>
          <a:p>
            <a:pPr lvl="1"/>
            <a:r>
              <a:rPr lang="en-US" dirty="0">
                <a:ln w="0"/>
                <a:solidFill>
                  <a:schemeClr val="tx1"/>
                </a:solidFill>
                <a:effectLst>
                  <a:outerShdw blurRad="38100" dist="19050" dir="2700000" algn="tl" rotWithShape="0">
                    <a:schemeClr val="dk1">
                      <a:alpha val="40000"/>
                    </a:schemeClr>
                  </a:outerShdw>
                </a:effectLst>
              </a:rPr>
              <a:t>Is </a:t>
            </a:r>
            <a:r>
              <a:rPr lang="en-US" b="1" dirty="0">
                <a:ln w="0"/>
                <a:solidFill>
                  <a:srgbClr val="FF0000"/>
                </a:solidFill>
                <a:effectLst>
                  <a:outerShdw blurRad="38100" dist="19050" dir="2700000" algn="tl" rotWithShape="0">
                    <a:schemeClr val="dk1">
                      <a:alpha val="40000"/>
                    </a:schemeClr>
                  </a:outerShdw>
                </a:effectLst>
              </a:rPr>
              <a:t>intangible </a:t>
            </a:r>
            <a:r>
              <a:rPr lang="en-US" b="1" dirty="0">
                <a:ln w="0"/>
                <a:solidFill>
                  <a:schemeClr val="tx1"/>
                </a:solidFill>
                <a:effectLst>
                  <a:outerShdw blurRad="38100" dist="19050" dir="2700000" algn="tl" rotWithShape="0">
                    <a:schemeClr val="dk1">
                      <a:alpha val="40000"/>
                    </a:schemeClr>
                  </a:outerShdw>
                </a:effectLst>
              </a:rPr>
              <a:t>:</a:t>
            </a:r>
            <a:r>
              <a:rPr lang="en-US" dirty="0">
                <a:ln w="0"/>
                <a:solidFill>
                  <a:schemeClr val="tx1"/>
                </a:solidFill>
                <a:effectLst>
                  <a:outerShdw blurRad="38100" dist="19050" dir="2700000" algn="tl" rotWithShape="0">
                    <a:schemeClr val="dk1">
                      <a:alpha val="40000"/>
                    </a:schemeClr>
                  </a:outerShdw>
                </a:effectLst>
              </a:rPr>
              <a:t> hard to quantify and difficult to understand development effort required</a:t>
            </a:r>
          </a:p>
          <a:p>
            <a:pPr lvl="1"/>
            <a:r>
              <a:rPr lang="en-US" dirty="0">
                <a:ln w="0"/>
                <a:solidFill>
                  <a:schemeClr val="tx1"/>
                </a:solidFill>
                <a:effectLst>
                  <a:outerShdw blurRad="38100" dist="19050" dir="2700000" algn="tl" rotWithShape="0">
                    <a:schemeClr val="dk1">
                      <a:alpha val="40000"/>
                    </a:schemeClr>
                  </a:outerShdw>
                </a:effectLst>
              </a:rPr>
              <a:t>Is </a:t>
            </a:r>
            <a:r>
              <a:rPr lang="en-US" b="1" dirty="0">
                <a:ln w="0"/>
                <a:solidFill>
                  <a:srgbClr val="FF0000"/>
                </a:solidFill>
                <a:effectLst>
                  <a:outerShdw blurRad="38100" dist="19050" dir="2700000" algn="tl" rotWithShape="0">
                    <a:schemeClr val="dk1">
                      <a:alpha val="40000"/>
                    </a:schemeClr>
                  </a:outerShdw>
                </a:effectLst>
              </a:rPr>
              <a:t>easy to reproduce </a:t>
            </a:r>
            <a:r>
              <a:rPr lang="en-US" b="1" dirty="0">
                <a:ln w="0"/>
                <a:solidFill>
                  <a:schemeClr val="tx1"/>
                </a:solidFill>
                <a:effectLst>
                  <a:outerShdw blurRad="38100" dist="19050" dir="2700000" algn="tl" rotWithShape="0">
                    <a:schemeClr val="dk1">
                      <a:alpha val="40000"/>
                    </a:schemeClr>
                  </a:outerShdw>
                </a:effectLst>
              </a:rPr>
              <a:t>: </a:t>
            </a:r>
            <a:r>
              <a:rPr lang="en-US" dirty="0">
                <a:ln w="0"/>
                <a:solidFill>
                  <a:schemeClr val="tx1"/>
                </a:solidFill>
                <a:effectLst>
                  <a:outerShdw blurRad="38100" dist="19050" dir="2700000" algn="tl" rotWithShape="0">
                    <a:schemeClr val="dk1">
                      <a:alpha val="40000"/>
                    </a:schemeClr>
                  </a:outerShdw>
                </a:effectLst>
              </a:rPr>
              <a:t>compared to other outputs (e.g. manufacturing) cost is purely in development</a:t>
            </a:r>
          </a:p>
          <a:p>
            <a:pPr lvl="1"/>
            <a:r>
              <a:rPr lang="en-US" dirty="0">
                <a:ln w="0"/>
                <a:solidFill>
                  <a:schemeClr val="tx1"/>
                </a:solidFill>
                <a:effectLst>
                  <a:outerShdw blurRad="38100" dist="19050" dir="2700000" algn="tl" rotWithShape="0">
                    <a:schemeClr val="dk1">
                      <a:alpha val="40000"/>
                    </a:schemeClr>
                  </a:outerShdw>
                </a:effectLst>
              </a:rPr>
              <a:t>Is </a:t>
            </a:r>
            <a:r>
              <a:rPr lang="en-US" b="1" dirty="0" err="1">
                <a:ln w="0"/>
                <a:solidFill>
                  <a:srgbClr val="FF0000"/>
                </a:solidFill>
                <a:effectLst>
                  <a:outerShdw blurRad="38100" dist="19050" dir="2700000" algn="tl" rotWithShape="0">
                    <a:schemeClr val="dk1">
                      <a:alpha val="40000"/>
                    </a:schemeClr>
                  </a:outerShdw>
                </a:effectLst>
              </a:rPr>
              <a:t>labour-intensive</a:t>
            </a:r>
            <a:r>
              <a:rPr lang="en-US" dirty="0">
                <a:ln w="0"/>
                <a:solidFill>
                  <a:schemeClr val="tx1"/>
                </a:solidFill>
                <a:effectLst>
                  <a:outerShdw blurRad="38100" dist="19050" dir="2700000" algn="tl" rotWithShape="0">
                    <a:schemeClr val="dk1">
                      <a:alpha val="40000"/>
                    </a:schemeClr>
                  </a:outerShdw>
                </a:effectLst>
              </a:rPr>
              <a:t> : hardly ever automated, mostly custom</a:t>
            </a:r>
          </a:p>
          <a:p>
            <a:pPr lvl="1"/>
            <a:r>
              <a:rPr lang="en-US" b="1" dirty="0">
                <a:ln w="0"/>
                <a:solidFill>
                  <a:srgbClr val="FF0000"/>
                </a:solidFill>
                <a:effectLst>
                  <a:outerShdw blurRad="38100" dist="19050" dir="2700000" algn="tl" rotWithShape="0">
                    <a:schemeClr val="dk1">
                      <a:alpha val="40000"/>
                    </a:schemeClr>
                  </a:outerShdw>
                </a:effectLst>
              </a:rPr>
              <a:t>Quality is difficult to maintain</a:t>
            </a:r>
            <a:r>
              <a:rPr lang="en-US" b="1" dirty="0">
                <a:ln w="0"/>
                <a:solidFill>
                  <a:schemeClr val="tx1"/>
                </a:solidFill>
                <a:effectLst>
                  <a:outerShdw blurRad="38100" dist="19050" dir="2700000" algn="tl" rotWithShape="0">
                    <a:schemeClr val="dk1">
                      <a:alpha val="40000"/>
                    </a:schemeClr>
                  </a:outerShdw>
                </a:effectLst>
              </a:rPr>
              <a:t>: </a:t>
            </a:r>
            <a:r>
              <a:rPr lang="en-US" dirty="0">
                <a:ln w="0"/>
                <a:solidFill>
                  <a:schemeClr val="tx1"/>
                </a:solidFill>
                <a:effectLst>
                  <a:outerShdw blurRad="38100" dist="19050" dir="2700000" algn="tl" rotWithShape="0">
                    <a:schemeClr val="dk1">
                      <a:alpha val="40000"/>
                    </a:schemeClr>
                  </a:outerShdw>
                </a:effectLst>
              </a:rPr>
              <a:t>multiple people working together will generate different levels of software quality</a:t>
            </a:r>
          </a:p>
          <a:p>
            <a:pPr lvl="1"/>
            <a:r>
              <a:rPr lang="en-US" dirty="0">
                <a:ln w="0"/>
                <a:solidFill>
                  <a:schemeClr val="tx1"/>
                </a:solidFill>
                <a:effectLst>
                  <a:outerShdw blurRad="38100" dist="19050" dir="2700000" algn="tl" rotWithShape="0">
                    <a:schemeClr val="dk1">
                      <a:alpha val="40000"/>
                    </a:schemeClr>
                  </a:outerShdw>
                </a:effectLst>
              </a:rPr>
              <a:t>Is </a:t>
            </a:r>
            <a:r>
              <a:rPr lang="en-US" b="1" dirty="0">
                <a:ln w="0"/>
                <a:solidFill>
                  <a:srgbClr val="FF0000"/>
                </a:solidFill>
                <a:effectLst>
                  <a:outerShdw blurRad="38100" dist="19050" dir="2700000" algn="tl" rotWithShape="0">
                    <a:schemeClr val="dk1">
                      <a:alpha val="40000"/>
                    </a:schemeClr>
                  </a:outerShdw>
                </a:effectLst>
              </a:rPr>
              <a:t>easy to modify </a:t>
            </a:r>
            <a:r>
              <a:rPr lang="en-US" b="1" dirty="0">
                <a:ln w="0"/>
                <a:solidFill>
                  <a:schemeClr val="tx1"/>
                </a:solidFill>
                <a:effectLst>
                  <a:outerShdw blurRad="38100" dist="19050" dir="2700000" algn="tl" rotWithShape="0">
                    <a:schemeClr val="dk1">
                      <a:alpha val="40000"/>
                    </a:schemeClr>
                  </a:outerShdw>
                </a:effectLst>
              </a:rPr>
              <a:t>: </a:t>
            </a:r>
            <a:r>
              <a:rPr lang="en-US" dirty="0">
                <a:ln w="0"/>
                <a:solidFill>
                  <a:schemeClr val="tx1"/>
                </a:solidFill>
                <a:effectLst>
                  <a:outerShdw blurRad="38100" dist="19050" dir="2700000" algn="tl" rotWithShape="0">
                    <a:schemeClr val="dk1">
                      <a:alpha val="40000"/>
                    </a:schemeClr>
                  </a:outerShdw>
                </a:effectLst>
              </a:rPr>
              <a:t> changes are made without understanding the problem</a:t>
            </a:r>
          </a:p>
          <a:p>
            <a:pPr lvl="1"/>
            <a:r>
              <a:rPr lang="en-US" b="1" dirty="0">
                <a:ln w="0"/>
                <a:solidFill>
                  <a:srgbClr val="FF0000"/>
                </a:solidFill>
                <a:effectLst>
                  <a:outerShdw blurRad="38100" dist="19050" dir="2700000" algn="tl" rotWithShape="0">
                    <a:schemeClr val="dk1">
                      <a:alpha val="40000"/>
                    </a:schemeClr>
                  </a:outerShdw>
                </a:effectLst>
              </a:rPr>
              <a:t>Never wears out </a:t>
            </a:r>
            <a:r>
              <a:rPr lang="en-US" b="1" dirty="0">
                <a:ln w="0"/>
                <a:solidFill>
                  <a:schemeClr val="tx1"/>
                </a:solidFill>
                <a:effectLst>
                  <a:outerShdw blurRad="38100" dist="19050" dir="2700000" algn="tl" rotWithShape="0">
                    <a:schemeClr val="dk1">
                      <a:alpha val="40000"/>
                    </a:schemeClr>
                  </a:outerShdw>
                </a:effectLst>
              </a:rPr>
              <a:t>: </a:t>
            </a:r>
            <a:r>
              <a:rPr lang="en-US" dirty="0">
                <a:ln w="0"/>
                <a:solidFill>
                  <a:schemeClr val="tx1"/>
                </a:solidFill>
                <a:effectLst>
                  <a:outerShdw blurRad="38100" dist="19050" dir="2700000" algn="tl" rotWithShape="0">
                    <a:schemeClr val="dk1">
                      <a:alpha val="40000"/>
                    </a:schemeClr>
                  </a:outerShdw>
                </a:effectLst>
              </a:rPr>
              <a:t>unlike a physical item, software will not deteriorate until its functionality is changed or is outdated</a:t>
            </a:r>
          </a:p>
          <a:p>
            <a:r>
              <a:rPr lang="en-US" dirty="0">
                <a:ln w="0"/>
                <a:solidFill>
                  <a:schemeClr val="tx1"/>
                </a:solidFill>
                <a:effectLst>
                  <a:outerShdw blurRad="38100" dist="19050" dir="2700000" algn="tl" rotWithShape="0">
                    <a:schemeClr val="dk1">
                      <a:alpha val="40000"/>
                    </a:schemeClr>
                  </a:outerShdw>
                </a:effectLst>
              </a:rPr>
              <a:t>Much software has poor design and is getting worse whilst the high demand for software continues to rise</a:t>
            </a:r>
          </a:p>
          <a:p>
            <a:r>
              <a:rPr lang="en-US" dirty="0">
                <a:ln w="0"/>
                <a:solidFill>
                  <a:schemeClr val="tx1"/>
                </a:solidFill>
                <a:effectLst>
                  <a:outerShdw blurRad="38100" dist="19050" dir="2700000" algn="tl" rotWithShape="0">
                    <a:schemeClr val="dk1">
                      <a:alpha val="40000"/>
                    </a:schemeClr>
                  </a:outerShdw>
                </a:effectLst>
              </a:rPr>
              <a:t>People should learn how to ‘engineer’ and not ‘write’ software</a:t>
            </a:r>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57686399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n w="0"/>
                <a:solidFill>
                  <a:schemeClr val="tx1"/>
                </a:solidFill>
                <a:effectLst>
                  <a:outerShdw blurRad="38100" dist="19050" dir="2700000" algn="tl" rotWithShape="0">
                    <a:schemeClr val="dk1">
                      <a:alpha val="40000"/>
                    </a:schemeClr>
                  </a:outerShdw>
                </a:effectLst>
              </a:rPr>
              <a:t>Types of Software</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altLang="en-US" b="1" dirty="0">
                <a:ln w="0"/>
                <a:solidFill>
                  <a:schemeClr val="tx1"/>
                </a:solidFill>
                <a:effectLst>
                  <a:outerShdw blurRad="38100" dist="19050" dir="2700000" algn="tl" rotWithShape="0">
                    <a:schemeClr val="dk1">
                      <a:alpha val="40000"/>
                    </a:schemeClr>
                  </a:outerShdw>
                </a:effectLst>
              </a:rPr>
              <a:t>Custom</a:t>
            </a:r>
            <a:r>
              <a:rPr lang="en-US" altLang="en-US" dirty="0">
                <a:ln w="0"/>
                <a:solidFill>
                  <a:schemeClr val="tx1"/>
                </a:solidFill>
                <a:effectLst>
                  <a:outerShdw blurRad="38100" dist="19050" dir="2700000" algn="tl" rotWithShape="0">
                    <a:schemeClr val="dk1">
                      <a:alpha val="40000"/>
                    </a:schemeClr>
                  </a:outerShdw>
                </a:effectLst>
              </a:rPr>
              <a:t> - for a specific customer</a:t>
            </a:r>
          </a:p>
          <a:p>
            <a:r>
              <a:rPr lang="en-US" altLang="en-US" b="1" dirty="0">
                <a:ln w="0"/>
                <a:solidFill>
                  <a:schemeClr val="tx1"/>
                </a:solidFill>
                <a:effectLst>
                  <a:outerShdw blurRad="38100" dist="19050" dir="2700000" algn="tl" rotWithShape="0">
                    <a:schemeClr val="dk1">
                      <a:alpha val="40000"/>
                    </a:schemeClr>
                  </a:outerShdw>
                </a:effectLst>
              </a:rPr>
              <a:t>Generic</a:t>
            </a:r>
          </a:p>
          <a:p>
            <a:pPr lvl="1"/>
            <a:r>
              <a:rPr lang="en-US" altLang="en-US" dirty="0">
                <a:ln w="0"/>
                <a:solidFill>
                  <a:schemeClr val="tx1"/>
                </a:solidFill>
                <a:effectLst>
                  <a:outerShdw blurRad="38100" dist="19050" dir="2700000" algn="tl" rotWithShape="0">
                    <a:schemeClr val="dk1">
                      <a:alpha val="40000"/>
                    </a:schemeClr>
                  </a:outerShdw>
                </a:effectLst>
              </a:rPr>
              <a:t>Sold on open market for ready use</a:t>
            </a:r>
          </a:p>
          <a:p>
            <a:pPr lvl="2"/>
            <a:r>
              <a:rPr lang="en-US" altLang="en-US" dirty="0">
                <a:ln w="0"/>
                <a:solidFill>
                  <a:schemeClr val="tx1"/>
                </a:solidFill>
                <a:effectLst>
                  <a:outerShdw blurRad="38100" dist="19050" dir="2700000" algn="tl" rotWithShape="0">
                    <a:schemeClr val="dk1">
                      <a:alpha val="40000"/>
                    </a:schemeClr>
                  </a:outerShdw>
                </a:effectLst>
              </a:rPr>
              <a:t>COTS (Commercial Off The Shelf)</a:t>
            </a:r>
          </a:p>
          <a:p>
            <a:pPr lvl="2"/>
            <a:r>
              <a:rPr lang="en-US" altLang="en-US" dirty="0">
                <a:ln w="0"/>
                <a:solidFill>
                  <a:schemeClr val="tx1"/>
                </a:solidFill>
                <a:effectLst>
                  <a:outerShdw blurRad="38100" dist="19050" dir="2700000" algn="tl" rotWithShape="0">
                    <a:schemeClr val="dk1">
                      <a:alpha val="40000"/>
                    </a:schemeClr>
                  </a:outerShdw>
                </a:effectLst>
              </a:rPr>
              <a:t>Shrink-wrapped</a:t>
            </a:r>
          </a:p>
          <a:p>
            <a:r>
              <a:rPr lang="en-US" altLang="en-US" b="1" dirty="0">
                <a:ln w="0"/>
                <a:solidFill>
                  <a:schemeClr val="tx1"/>
                </a:solidFill>
                <a:effectLst>
                  <a:outerShdw blurRad="38100" dist="19050" dir="2700000" algn="tl" rotWithShape="0">
                    <a:schemeClr val="dk1">
                      <a:alpha val="40000"/>
                    </a:schemeClr>
                  </a:outerShdw>
                </a:effectLst>
              </a:rPr>
              <a:t>Embedded</a:t>
            </a:r>
            <a:r>
              <a:rPr lang="en-US" altLang="en-US" dirty="0">
                <a:ln w="0"/>
                <a:solidFill>
                  <a:schemeClr val="tx1"/>
                </a:solidFill>
                <a:effectLst>
                  <a:outerShdw blurRad="38100" dist="19050" dir="2700000" algn="tl" rotWithShape="0">
                    <a:schemeClr val="dk1">
                      <a:alpha val="40000"/>
                    </a:schemeClr>
                  </a:outerShdw>
                </a:effectLst>
              </a:rPr>
              <a:t> - Built into hardware and hard to change</a:t>
            </a:r>
          </a:p>
          <a:p>
            <a:r>
              <a:rPr lang="en-US" altLang="en-US" dirty="0">
                <a:ln w="0"/>
                <a:solidFill>
                  <a:schemeClr val="tx1"/>
                </a:solidFill>
                <a:effectLst>
                  <a:outerShdw blurRad="38100" dist="19050" dir="2700000" algn="tl" rotWithShape="0">
                    <a:schemeClr val="dk1">
                      <a:alpha val="40000"/>
                    </a:schemeClr>
                  </a:outerShdw>
                </a:effectLst>
              </a:rPr>
              <a:t>Differences :-</a:t>
            </a:r>
          </a:p>
          <a:p>
            <a:endParaRPr lang="en-MY" dirty="0">
              <a:ln w="0"/>
              <a:solidFill>
                <a:schemeClr val="tx1"/>
              </a:solidFill>
              <a:effectLst>
                <a:outerShdw blurRad="38100" dist="19050" dir="2700000" algn="tl" rotWithShape="0">
                  <a:schemeClr val="dk1">
                    <a:alpha val="40000"/>
                  </a:schemeClr>
                </a:outerShdw>
              </a:effectLst>
            </a:endParaRPr>
          </a:p>
        </p:txBody>
      </p:sp>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r="30047"/>
          <a:stretch/>
        </p:blipFill>
        <p:spPr bwMode="auto">
          <a:xfrm>
            <a:off x="468134" y="3711465"/>
            <a:ext cx="8261033" cy="29051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6774593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Software engineering?</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pPr marL="0" indent="0" algn="ctr">
              <a:buNone/>
            </a:pPr>
            <a:r>
              <a:rPr lang="en-MY" sz="2400" i="1" dirty="0">
                <a:ln w="0"/>
                <a:solidFill>
                  <a:srgbClr val="FF0000"/>
                </a:solidFill>
                <a:effectLst>
                  <a:outerShdw blurRad="38100" dist="19050" dir="2700000" algn="tl" rotWithShape="0">
                    <a:schemeClr val="dk1">
                      <a:alpha val="40000"/>
                    </a:schemeClr>
                  </a:outerShdw>
                </a:effectLst>
                <a:latin typeface="+mj-lt"/>
              </a:rPr>
              <a:t>The process of solving customers’ problems by the systematic development and evolution of large, high-quality software systems within cost, time and other constrain</a:t>
            </a:r>
          </a:p>
          <a:p>
            <a:r>
              <a:rPr lang="en-US" altLang="en-US" dirty="0">
                <a:ln w="0"/>
                <a:solidFill>
                  <a:schemeClr val="tx1"/>
                </a:solidFill>
                <a:effectLst>
                  <a:outerShdw blurRad="38100" dist="19050" dir="2700000" algn="tl" rotWithShape="0">
                    <a:schemeClr val="dk1">
                      <a:alpha val="40000"/>
                    </a:schemeClr>
                  </a:outerShdw>
                </a:effectLst>
              </a:rPr>
              <a:t>Solving customers’ problems – the goal of software engineering</a:t>
            </a:r>
          </a:p>
          <a:p>
            <a:pPr lvl="1">
              <a:buFont typeface="Wingdings" panose="05000000000000000000" pitchFamily="2" charset="2"/>
              <a:buChar char="Ø"/>
            </a:pPr>
            <a:r>
              <a:rPr lang="en-US" altLang="en-US" dirty="0">
                <a:ln w="0"/>
                <a:solidFill>
                  <a:schemeClr val="tx1"/>
                </a:solidFill>
                <a:effectLst>
                  <a:outerShdw blurRad="38100" dist="19050" dir="2700000" algn="tl" rotWithShape="0">
                    <a:schemeClr val="dk1">
                      <a:alpha val="40000"/>
                    </a:schemeClr>
                  </a:outerShdw>
                </a:effectLst>
              </a:rPr>
              <a:t>adding unnecessary features may not solve the problem, often times the solution is to buy and not build</a:t>
            </a:r>
          </a:p>
          <a:p>
            <a:pPr marL="342900" lvl="1" indent="-342900"/>
            <a:r>
              <a:rPr lang="en-US" altLang="en-US" dirty="0">
                <a:ln w="0"/>
                <a:solidFill>
                  <a:schemeClr val="tx1"/>
                </a:solidFill>
                <a:effectLst>
                  <a:outerShdw blurRad="38100" dist="19050" dir="2700000" algn="tl" rotWithShape="0">
                    <a:schemeClr val="dk1">
                      <a:alpha val="40000"/>
                    </a:schemeClr>
                  </a:outerShdw>
                </a:effectLst>
              </a:rPr>
              <a:t>Systematic development and evolution - involves applying </a:t>
            </a:r>
            <a:r>
              <a:rPr lang="en-US" altLang="en-US" i="1" dirty="0">
                <a:ln w="0"/>
                <a:solidFill>
                  <a:schemeClr val="tx1"/>
                </a:solidFill>
                <a:effectLst>
                  <a:outerShdw blurRad="38100" dist="19050" dir="2700000" algn="tl" rotWithShape="0">
                    <a:schemeClr val="dk1">
                      <a:alpha val="40000"/>
                    </a:schemeClr>
                  </a:outerShdw>
                </a:effectLst>
              </a:rPr>
              <a:t>well understood techniques</a:t>
            </a:r>
            <a:r>
              <a:rPr lang="en-US" altLang="en-US" dirty="0">
                <a:ln w="0"/>
                <a:solidFill>
                  <a:schemeClr val="tx1"/>
                </a:solidFill>
                <a:effectLst>
                  <a:outerShdw blurRad="38100" dist="19050" dir="2700000" algn="tl" rotWithShape="0">
                    <a:schemeClr val="dk1">
                      <a:alpha val="40000"/>
                    </a:schemeClr>
                  </a:outerShdw>
                </a:effectLst>
              </a:rPr>
              <a:t> in a organized and </a:t>
            </a:r>
            <a:r>
              <a:rPr lang="en-US" altLang="en-US" i="1" dirty="0">
                <a:ln w="0"/>
                <a:solidFill>
                  <a:schemeClr val="tx1"/>
                </a:solidFill>
                <a:effectLst>
                  <a:outerShdw blurRad="38100" dist="19050" dir="2700000" algn="tl" rotWithShape="0">
                    <a:schemeClr val="dk1">
                      <a:alpha val="40000"/>
                    </a:schemeClr>
                  </a:outerShdw>
                </a:effectLst>
              </a:rPr>
              <a:t>disciplined</a:t>
            </a:r>
            <a:r>
              <a:rPr lang="en-US" altLang="en-US" dirty="0">
                <a:ln w="0"/>
                <a:solidFill>
                  <a:schemeClr val="tx1"/>
                </a:solidFill>
                <a:effectLst>
                  <a:outerShdw blurRad="38100" dist="19050" dir="2700000" algn="tl" rotWithShape="0">
                    <a:schemeClr val="dk1">
                      <a:alpha val="40000"/>
                    </a:schemeClr>
                  </a:outerShdw>
                </a:effectLst>
              </a:rPr>
              <a:t> way</a:t>
            </a:r>
          </a:p>
          <a:p>
            <a:r>
              <a:rPr lang="en-US" altLang="en-US" dirty="0">
                <a:ln w="0"/>
                <a:solidFill>
                  <a:schemeClr val="tx1"/>
                </a:solidFill>
                <a:effectLst>
                  <a:outerShdw blurRad="38100" dist="19050" dir="2700000" algn="tl" rotWithShape="0">
                    <a:schemeClr val="dk1">
                      <a:alpha val="40000"/>
                    </a:schemeClr>
                  </a:outerShdw>
                </a:effectLst>
              </a:rPr>
              <a:t>Large, high quality software systems – many systems </a:t>
            </a:r>
            <a:r>
              <a:rPr lang="en-MY" altLang="en-US" dirty="0">
                <a:ln w="0"/>
                <a:solidFill>
                  <a:schemeClr val="tx1"/>
                </a:solidFill>
                <a:effectLst>
                  <a:outerShdw blurRad="38100" dist="19050" dir="2700000" algn="tl" rotWithShape="0">
                    <a:schemeClr val="dk1">
                      <a:alpha val="40000"/>
                    </a:schemeClr>
                  </a:outerShdw>
                </a:effectLst>
              </a:rPr>
              <a:t>cannot be completely understood by one person</a:t>
            </a:r>
          </a:p>
          <a:p>
            <a:pPr lvl="1">
              <a:buFont typeface="Wingdings" panose="05000000000000000000" pitchFamily="2" charset="2"/>
              <a:buChar char="Ø"/>
            </a:pPr>
            <a:r>
              <a:rPr lang="en-MY" altLang="en-US" dirty="0">
                <a:ln w="0"/>
                <a:solidFill>
                  <a:schemeClr val="tx1"/>
                </a:solidFill>
                <a:effectLst>
                  <a:outerShdw blurRad="38100" dist="19050" dir="2700000" algn="tl" rotWithShape="0">
                    <a:schemeClr val="dk1">
                      <a:alpha val="40000"/>
                    </a:schemeClr>
                  </a:outerShdw>
                </a:effectLst>
              </a:rPr>
              <a:t>Teamwork and co-ordination are required so the challenge is d</a:t>
            </a:r>
            <a:r>
              <a:rPr lang="en-US" altLang="en-US" dirty="0" err="1">
                <a:ln w="0"/>
                <a:solidFill>
                  <a:schemeClr val="tx1"/>
                </a:solidFill>
                <a:effectLst>
                  <a:outerShdw blurRad="38100" dist="19050" dir="2700000" algn="tl" rotWithShape="0">
                    <a:schemeClr val="dk1">
                      <a:alpha val="40000"/>
                    </a:schemeClr>
                  </a:outerShdw>
                </a:effectLst>
              </a:rPr>
              <a:t>ividing</a:t>
            </a:r>
            <a:r>
              <a:rPr lang="en-US" altLang="en-US" dirty="0">
                <a:ln w="0"/>
                <a:solidFill>
                  <a:schemeClr val="tx1"/>
                </a:solidFill>
                <a:effectLst>
                  <a:outerShdw blurRad="38100" dist="19050" dir="2700000" algn="tl" rotWithShape="0">
                    <a:schemeClr val="dk1">
                      <a:alpha val="40000"/>
                    </a:schemeClr>
                  </a:outerShdw>
                </a:effectLst>
              </a:rPr>
              <a:t> the work and ensuring the parts work properly together</a:t>
            </a:r>
          </a:p>
          <a:p>
            <a:r>
              <a:rPr lang="en-US" altLang="en-US" dirty="0">
                <a:ln w="0"/>
                <a:solidFill>
                  <a:schemeClr val="tx1"/>
                </a:solidFill>
                <a:effectLst>
                  <a:outerShdw blurRad="38100" dist="19050" dir="2700000" algn="tl" rotWithShape="0">
                    <a:schemeClr val="dk1">
                      <a:alpha val="40000"/>
                    </a:schemeClr>
                  </a:outerShdw>
                </a:effectLst>
              </a:rPr>
              <a:t>Cost, time and other constraints – is bounded by finite resources</a:t>
            </a:r>
          </a:p>
          <a:p>
            <a:pPr lvl="1">
              <a:buFont typeface="Wingdings" panose="05000000000000000000" pitchFamily="2" charset="2"/>
              <a:buChar char="Ø"/>
            </a:pPr>
            <a:r>
              <a:rPr lang="en-US" altLang="en-US" dirty="0">
                <a:ln w="0"/>
                <a:solidFill>
                  <a:schemeClr val="tx1"/>
                </a:solidFill>
                <a:effectLst>
                  <a:outerShdw blurRad="38100" dist="19050" dir="2700000" algn="tl" rotWithShape="0">
                    <a:schemeClr val="dk1">
                      <a:alpha val="40000"/>
                    </a:schemeClr>
                  </a:outerShdw>
                </a:effectLst>
              </a:rPr>
              <a:t>Inaccurate estimates of cost and time have caused many project failures</a:t>
            </a:r>
          </a:p>
        </p:txBody>
      </p:sp>
    </p:spTree>
    <p:extLst>
      <p:ext uri="{BB962C8B-B14F-4D97-AF65-F5344CB8AC3E}">
        <p14:creationId xmlns:p14="http://schemas.microsoft.com/office/powerpoint/2010/main" val="411678374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p:cNvSpPr/>
          <p:nvPr/>
        </p:nvSpPr>
        <p:spPr bwMode="auto">
          <a:xfrm>
            <a:off x="536270" y="3049525"/>
            <a:ext cx="3808045" cy="3415275"/>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OO software development </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OO represents one of many methods that can be applied in software engineering to formulate a structured plan to solve a software related problem.</a:t>
            </a:r>
          </a:p>
          <a:p>
            <a:r>
              <a:rPr lang="en-US" dirty="0">
                <a:ln w="0"/>
                <a:solidFill>
                  <a:schemeClr val="tx1"/>
                </a:solidFill>
                <a:effectLst>
                  <a:outerShdw blurRad="38100" dist="19050" dir="2700000" algn="tl" rotWithShape="0">
                    <a:schemeClr val="dk1">
                      <a:alpha val="40000"/>
                    </a:schemeClr>
                  </a:outerShdw>
                </a:effectLst>
              </a:rPr>
              <a:t>As opposed to thinking what functions the system needs, it looks at </a:t>
            </a:r>
            <a:r>
              <a:rPr lang="en-US" dirty="0">
                <a:ln w="0"/>
                <a:solidFill>
                  <a:srgbClr val="FF0000"/>
                </a:solidFill>
                <a:effectLst>
                  <a:outerShdw blurRad="38100" dist="19050" dir="2700000" algn="tl" rotWithShape="0">
                    <a:schemeClr val="dk1">
                      <a:alpha val="40000"/>
                    </a:schemeClr>
                  </a:outerShdw>
                </a:effectLst>
                <a:highlight>
                  <a:srgbClr val="FFFF00"/>
                </a:highlight>
              </a:rPr>
              <a:t>what objects are required </a:t>
            </a:r>
            <a:r>
              <a:rPr lang="en-US" dirty="0">
                <a:ln w="0"/>
                <a:solidFill>
                  <a:schemeClr val="tx1"/>
                </a:solidFill>
                <a:effectLst>
                  <a:outerShdw blurRad="38100" dist="19050" dir="2700000" algn="tl" rotWithShape="0">
                    <a:schemeClr val="dk1">
                      <a:alpha val="40000"/>
                    </a:schemeClr>
                  </a:outerShdw>
                </a:effectLst>
              </a:rPr>
              <a:t>instead and </a:t>
            </a:r>
            <a:r>
              <a:rPr lang="en-US" dirty="0">
                <a:ln w="0"/>
                <a:solidFill>
                  <a:srgbClr val="FF0000"/>
                </a:solidFill>
                <a:effectLst>
                  <a:outerShdw blurRad="38100" dist="19050" dir="2700000" algn="tl" rotWithShape="0">
                    <a:schemeClr val="dk1">
                      <a:alpha val="40000"/>
                    </a:schemeClr>
                  </a:outerShdw>
                </a:effectLst>
                <a:highlight>
                  <a:srgbClr val="FFFF00"/>
                </a:highlight>
              </a:rPr>
              <a:t>what responsibilities each object </a:t>
            </a:r>
            <a:r>
              <a:rPr lang="en-US" dirty="0">
                <a:ln w="0"/>
                <a:solidFill>
                  <a:schemeClr val="tx1"/>
                </a:solidFill>
                <a:effectLst>
                  <a:outerShdw blurRad="38100" dist="19050" dir="2700000" algn="tl" rotWithShape="0">
                    <a:schemeClr val="dk1">
                      <a:alpha val="40000"/>
                    </a:schemeClr>
                  </a:outerShdw>
                </a:effectLst>
              </a:rPr>
              <a:t>possesses.</a:t>
            </a:r>
          </a:p>
          <a:p>
            <a:endParaRPr lang="en-MY" dirty="0"/>
          </a:p>
        </p:txBody>
      </p:sp>
      <p:sp>
        <p:nvSpPr>
          <p:cNvPr id="4" name="AutoShape 2" descr="data:image/png;base64,iVBORw0KGgoAAAANSUhEUgAAAMYAAAD/CAMAAACdMFkKAAAAkFBMVEX///8AAAD6+vrs7Ozx8fH8/Pz29vbf39/w8PDk5OTU1NT39/fDw8O2trbt7e3Y2NhTU1OlpaVeXl6enp7IyMiFhYXFxcUpKSlJSUnNzc14eHivr68iIiJOTk43Nze7u7uUlJQwMDBAQEBycnKWlpYVFRWCgoJnZ2dYWFgSEhJ1dXUsLCyMjIw0NDQUFBQ9PT16u9BFAAAdNklEQVR4nM1diZaquhIVURGFRsAJQVFR0G49/v/fXSoJkAEQAnbf/dZ697QDppKaq5IMBn+I8dfSfiT7/f628qd/OZBGGGmz0F3txuyruvn9o1CIJ38zuiYYLd3kHOBx2tTrur1VeATqnw2zDqr/fWXGqZE3NHcj0AA40d8e64ZvuxjWH4weQfejqzDMqz5QNX8nvpHhkn1dO96YN77/gATV+H6VD/N6Ln35cIsd9A8XfX9iix/b/y4Jk3AlMMx55a9Vo2z8m8QOLZB8HQk7Eh51VUrq6pcImKuWHQf8PEdmxtdfDv3GafHABCC48NJzlv5LS8gHgu3t++GGhmGED6QN9F+hwuApUA47k/1pnyzOzvX0IfW6d0hfvdopUV5Gqq8z2veSM9ynsaMIuJ9jezkXP2O5vjca8q8CE+3NVDfbB0T9+RwLM5++c/vMuFmMCyK2X9x7k9FU8wzfN2YTgYbBBHGMq5tOzlgliNJF7H/QItYZSxuFDZvr1tKNky2lYO+3i8Z+cU+tYhJyhj6Dlb7pfHD0OUIykttynUqlaT+i/UuQFgyHXi03f3lljKoe7v1TWB/gY7DKh1wOinPSvzavn5+HVvnksfaNvvQ7HpffgoxiYmfZH/qs1OGw3ASboZ/lr1CBFQ5GsDs+Hs4J/fu1u5jWgyPjkX8pNYqpLKkX+LAvPFLNjIiyqBCaD9IhzJtgwOP8rdRzejxe5V/Ui4nZ/B4VOR0G93IhxdvYXHqzu5KIbyEQc6Ga8faHcWnEhfokYvyjYTkVEeH+aza5XzuWCuU187z1ccEv3sb/zcVI8RDpUMlYrrkIX3HgYX3zw63A9ndpAKwEOogmpozXDv4KqeBvLwaCFO6V5uSDIFNs5i9o6G/azQaJp4Pwb/SZLe/fvyI7gv9exB/5BZCZzX98gmy5EyLxnVvh6kCPNXFdD8lUPBiroXtMovR/F9dfqnNkVJRLTwmT4WQ0byNh04yjM7vMGw0a2PRNrqXuq6f0pKImRrxI1/p6SKp9BQG5OSdmQK0kYoGlXt8iG8gDOK0Pd/Ar/lf8ZAsODbiv7MtISJ3INXk/FflIfApQvxH9+raY8yHxqumKmNk3iLEui8LPbjH/z7IAVU3VcsAHLu1hlGRhzher0fQYWSh6xmO1macEzmpJDzsV5IXwiK90SX+6Z994+5rhFJlNHn4kH7/q9J+H5GHPVN7hdmj1TDBOV+jamQr9p4IKhKf7PkmRcyS2XcgA8L4WRsqCAR+2zw9iJlRfm7bt7la2HTbkNbOaBIKtMH88omz5MBueq+j4UsScxzB1ec/FoqnrY8IGkk/7PXMPI6UByqeWQuZ9Y52JtW6JFUg99aDktWdGhfYo9VR+3nkoXnWGlcG7lc3NBfZDlujfgtpOX77zLJpScSdPVyvdx/pkaBFvvcPWPJq1U7LMPonXAPvrD+5DqXx73EswgtQuTtxtwUnBeRGtLmYYhutM6mrVfyOGKlCbycvUFfF3o5JvTK/CeCJMuH8nX/6J3JlezJee0VZHxrwdFW+chTy3j+gYYyZnMge6kAwETR8N1kQgUqXI+HOzOHtkbVh7Qd+tHTkRnc3hELz13HJn9oj+RGNjmHrkc/E34zpEFMmTmbs7FW/9q9P5Y/D5Hdbosog0CDFvJkzSxFq90RejnI4z0mwoPK3jhiP1U0420i/L3bHq6n4sSRAXQFI55+J8QIz0fnDRB5NU9TRP0U+K4OInMg0TGLtanlSaCmXvGut1aEdnQXW6bzJvoCRswRG5X9KpVz0PT32LtJfljgazI8+j5fWWyfp4Klt+EW8dxnSmlWdhuBTwa4zYL6Hd3Ma1yzqAFBqsxEOFwjFjhF/x6uH6oadpmq7rGqo1Jw1JSLF/W84Ej9qlU/xK1Vfcd3l6K9fcN/Alh5rtiCPicVod621vbGoN/MUjGvis+FpY9Ukw0bsaIthI6XkMIaJWzbhOCcLCXZQNqV5eN4B7/u79kNgNXV7Q81oRHZzW1R/V4NcqSipaNvGOSzHTduUa6mQ68+zYOVPjAwJ8Z5fa8tF6Dw7WbG3MKPafjlK0ySuM4Ue/ieqeaVp9IiEqDT3TweQW6piaU58rDV+3TvTww9DwdHW9XK/XhpaaaM1MxYOs4NbsVqtU8dS9UKzB+z4iNKVUdPK1fJI3hXQ6xr/Ny9kdTdP0TZdntXfao5YKZp3rZmS9Sg4H9OkNr8Rm+Yhohpy527vSBKshrlrJpnXGU5PREWJwXMCo/NyksDi8cviy7N2tooiWLxAiHbJTSjKWqi3xC18X3DGx4ZF+o5jy8ukcjlTPtN1LnJSUBc82GTlaj+CatE/u8Bmxe92HR/QnCxdXo9yeGhVHPUefGSESDjM0aCbOxIsPRN5gaPNzUx9pM85KNiZ6PVv+vgCfpPnatYkIGYQ3X0c58k1y8eycfVxahFskSiswX+L0+rmN7s254Z74a88Lmw8jNTFBysIhvZqn7qk+AAmmm+ssnfz+02xfmkrt/tJkWDLoq/OReGXfTQdFMuAPmfqarvDozlE5vlD48WrIWLsGUs1+gVJEvAGudCal4LZ4JgrQqpyPyfHnh+fP1Lf1rqTCwla64q46igdOSjQqSgBroyzqRBP4GqdT2KYTXUmgmIrUKhu299+cMsHF5SamED4HscP3XXDKdKJHGUffU24DvIBjJqsVV/jt3YAl9/W+GgtDNcj6seI0JCxzZqR/mRKNgvYJ44Z9rIfu0kx1bBCDhCVcmJlrljgr/dTUsqaD+FeoyHzRd2LnIK4myp92LDNtyuVChplf+/wdKjC/vHXUQKslWW7qSjF4UiG4W7w8dNL6fZTVCTpK1tTXIpYKgzyEIG6vmDmwQOSndN/zx1uvcX2glo4hS0bmsxJpeZboulSfabR4J+JHeoZ6KGNvFlyWMBNoTAZmMj46ZgKUulCxL4yxAalLtXGOUZ7vANuGwiLtzlUAGFVbtl4fwIOZ4+pP5MhVQhjhJosbOw9jgy7UXn+rTwhxx6EuRme7NvkWB9TMQpkfpvuse/W6MTSwcLUt3mwAyKlY8Dm2qYK6PEo++5v7eMaQkbvZenVIwfh4Mf+ubk2gzQYxFpt+6DG8aALs8b74BvECUR0ZuEMLK63zH1KBShcI56ogpMjPXEX3RcsbUWjb3VvA2hxUPepRys8khav4uqhAh4Fyxq/SSu3ZJdcqC5SwdvBWqFJrqBEiS6Y4UQ6YCkal/W6PL8H8pCDroT2rfKDMDJ5cbrnMTAjWNBXKXzSWDtB6QOJguFUOpSoLksAvR+y1Gd2VI/rHF01E04xF7xil63BUEfeUyebXXfmZjQdjbZVKOU3nbHPE/6DLd7/kgpQBpvuEeKQkbB6/lGuW8NNLTT5VFFSCP+KobBxHpFpLchgr9Kp1iZ3VpZxf6E6BP9ukOkDCsZkgZ0Ks2kHUMcxbNqIS4aGdkN/Zg1eO1FBvdNL6Lry5BH5DTuQJPDAx5qPd+T/o4c+RUrEYZjvCBJ1vQYOCZsyA51MZCvjlYJpp/3Bf9w4Cfyv1JV7++lTiDVHJNkOM6Jh2GGmWUvf7jjOQznaA+nBsLAeC324X+Y0kc2bzNzWaCvk9z27nBGmWGwNVC3k40UM85y9aWB8bhRVk9qDL12FSj+wg/WUEbLoWhPXZ7f4YM15k3Lx65tFUdHClwD/tZvxBlW7QCPyqwQCl34XhG28yLtOonQPtsjnenhn1srOuHro22mU+yQIGkUmxYcjc+KGTVb0Zt3bTyjuPWYcBulJecuNnQQ1JSFjOSWF5+/ANExlCXIJi+vzaZf/TObvSzhfEyo2K5rX4QqJ6tLQZDFh8Xz0pDBCljHfekiUeHPuOf3o43MGCLNkJLIZepnIHnCuuoPiKSSG03aTj8b8Ttl5QAcidQH7E7F6lcVSk0YKts4tROirS6Oqe0LHzFlt+1TeonbELtpmewXG5U+5r65pGeqnFRqj2fu2SFwYQTnduLc1j7ACSlb+22swOLPARxpmnaN4xOt+F0aLonGPB/QxqH+e7q+7Bzm+aKzoqCcymSqWRf95MAxt7Sx1YorJMpNXsAixJj1UDmP/H1r5CKBm8q6/Q6VrJPXgPynD79Ztf27iNCrJ85gyxzBsyJlQ7iOwOWzWzouOKY5AKXJv7OerTHQ28VH2f4ItvZDakfkM6bHVgOSYG3zJ+PZ1OQo9bq4pPnkF85zVTqRD5IiVsJTtww92sPHBqxjN+j2SLycql7B0VVHGzw2EGZZswCzkbMdX1FqYxFJ9VDlpPdejMYdT2wjUNaOGgpFmnOsGb542Kut07BUdzwlGKAvg5qnLyMrGCT7h2CCMrTp+a66rieJY38jRnBFCuxUilDqw65AnwixC2zWKgZN8iEzlGk2wCa9UHYkzIJxe5UnnGE8WWpX3h43E78Zs4D1hct3brwoDbO1faVf8O1Lk8bAi+7689A6akzo+hM7Zy1TGGK5kHpFJfntSXgFIbVzO9z3Jzl6VTkumdd0OD/sqG8CvV7zL7YaQO6srM0wWtLBvzmf1xVfqoa/W7jJqSkW+iaAOk4la8PgnqprAVgG0qNdyEDglkok6yFi+cSBnylsd/047TAtuawIk+/KtVHJABW7Q89e5ysz/p79zIuhye35EMUkbIrfKIj/2T3pbDq1FBtNGoNy/Vz2ae/s15l6nD+JpacFzdslUoLgJSNxXu4ZyKcBKZSMPnhWrJcvCU9dCD2JbO7c6fXE6vAOWIyMWuuB5CvTC+5iz2ZV3YU2Ix7rL9yBAVlS8oFarJFSQEMsBMpQI/85OaePwlla2PqsiguyjlyMBWg3aLgc3e7TVLuePtiRkigD9LLVteIrtFUsmpnCtvhjoajVR9fVkJJ7JVwGndFgRTVsqPxBM5LwdXyVRCUbe93pttXcxxb/uLEHOUfgfPnI3YTrLmWH6acjO09Bq9OjIWU9RkKNtVUXKSQXO0MySzCjJGJ6TkoWWJ2/TQHKM3I61FO+9XLyfDuyMdg/dNSLfZ1p2P8Q7tYqpRKRmpm7D5GujZtgbpbGFT1VSGdgIZlIzSRscNFWZc3kmozTtTOO98I7QvyaLYENLuR59C4gayu5spFYh3OBxxXHH2HIciZTJUswxfu9VYCOnAPZ6Kwtp2qsbXHWmo3I4eiB9rtokX1M4EJnwU8IWfW7BUx+Oy9dJjOc4Pg5wEH/OxLE4bt1SPK95leuBsSRE0dd7Kpx356wYWlDh6PNdi69/Sq7Y5FT26Yy4qyOijpXBkuKsoiuKLD89lgjCNl4MJ6utomTXxuXSgS1JXRSTec09h6q0z/DK6ciVFXIVvGd76bGA/DDKRL2RTPCe/Cwx+iGAk6chtLaGoIFX1ZP/MnuAVLfVRjy154x+e7xW2Tp3I6JV03BvqzzPzBN3wo/NdglXrEPNTfWQEGturtqGTyRxiAXzJZ84nS/Ap+rvCY81bKp3mKpS8DlqXUoCL2L/y7IVuWZamW+vjob05qsFQyBdtC64aI93cviDkM2TEBZ/yJ+33p7A2yg/7wjHv8cFtUBJtYy5DhlOQUQQ9ASoVyg25DA8+KMpNhy9tcGNmhOeCjKyU/NInI9Uy5dIKAJ0PSH1eOGBfScrKXubXSxjcBXNuKEiBX7yDrEb7Z9JAzULfjOVRBYWRMsFPcaq6TMoNjgAu/qJ10pi4mk6nohAZ2opmozvPokzWW2ZXCGhYqqq8ZP7U/Qi56+c4lLV/eWGfTqIlfOaDinblcuxgbCj1Bx1bTNp7PApxxjiRyytQ4UaUT7PPsmpIZYIkWyEMhUlzI4dQcKHQ2TRyOx2YqCkbo57/yET16eNuY1lFclRYhyYVjjsxdKZzWZLQZg59UFJNCmxyxCHGJw0wb7rnRw57hqF8Pyj4YTSfUt0DaASb17e/BgWoN+4EZMCf3nUz1ZFVfmPZXf68GGT7GVu0ytmHbgjbP2RjwObX7gjnRTcHTD5byYKd4UT+Jka0KFZddq+DVlaPEVYiULq4O5CX4Lx/EMpCd01UK3QfqziO5GPZZT0hznGpTyCDIe8owFECvAsOr73ATiwjW+9n6+6XXZE/vNlE4uAMe+nTMVCIwk8C3v0T4kQu8Owteiy7b7jU1qYd73bRbre72JAL+1nSSiPVu1fZcixq8hM0EO4MTBdpWlS4AolKVh1OvDsOPyr7GzDAkr1B2IPAawxmPFDEFV8/Op0zF/I/DDwgmdhDPFVWucda0jGX6he+YlC40yXpuJdkKrABiKScVkfli1Knj+pbPW2dJOLr+24nxQLg++9R6liuh2RRPQE6V/flBCg78UweCc9DdonSbATI11XvwWNuGuCmCU6X6HgllMtPBHilUkf5MGkQEbRXx6WptAqZagHQTKzhTV/4J/Eg1KZe5wBQHZMc6xlsjk4GqPDALKjNv9AMu0oBz1D0jnMBubY/du3aRGVaprIC1wJIPBXIONVaZ7NyOXoAhHxH5hVtIRFwLEtElwNd2O79EItQIEMGX5SlrgSlraR6omux62p6ADgEfvMc75PLMdC6U0HOFXrnF1EbH/7ilvK30JoNrZedTR8E1qXvk/2nggz+Tqv/AbCFbrDXmNnB0fS+hd8CHtyribFhXKuODkjPIBu/Ghkb5vzCys1mdRPysVPRym6BqgSzKbb8lLFB+Kwscer73hrqOeDe1MY5WXZXXtnFcrNqr2b0OR2Hy2HNxZVrihI/ABepVWQ1wI2uaLvuiDHK27RoPv5iE8YC/aMadQEaoruxLoEatWIpALtVS5ApSDdXhZ/up06AwlmPdmLH5JPFlPG2xpBOP3QT9QmG0jZaZKotwhRo298+ahKbs/bxCWMF4z88tQ0DTavTfqHHbIPanxzLWACJd+19LVWYMmQor7/0d3F6Xq7ayW7zRTcT/Q3wUeTS8c+Fo2PT990OzTDD5Yq9tAYUbiP+8AnwpSCBXJcdgx6/oWf7kRse6kAsmGSzAYEq3MUX/a7FINemHjs+hj/1KcXiN0Xku4OOojET6VAWv7QiIxtfBtfHz5Vedf0bCzK+YBV17seFCMvo6D/Fy2NN1EvHQxEL6KU7yB6fPak4azO59nNBF4JZehP8ouwa1l6g+bln2m9cX07IZyIkM1/9q3gdU+eHl+5tTdazWb8/pVIs/Al3dFy53adHvTWa5bMVLXsUi/z54bz0uCaEimxWW1jutvAa+q+vAF6gZKtbvpywq7hP7Q39uF4GLQAZ81Ptrr7E1qRJmS/poLnfbTA0Sm2ggOC2CmetGWzo7eiD6lYfTOOLdxXWUXNOYrtB9D6zbd9/sEscf/ZiDPRjG0Nb8ifLVeJp1DpD+lHcGh+8u9O9M1CdB7KaWvofq9kW3vsiSeHcFnkXvD4z3BheLD8k4vrxO0qmGRkT5ThA1zop53dHLxY4HQBBzdEEJx/MUknLWo8Yj0j+7aHODdQgMbxfdea6la4IcS/UZ6wFxmSvXDKbEeBu5C9kulN76KwaC0sVnnakKBcVb+35XF5vCnu6wyJttU2dhMcdslaJckwXJvUa6y6mf4sYu+U+Lg99KrLEu0z3+WbTOzqKBKoeOmoVGweKI+Tm3mCzP1Iby63BvJCaDi3fdchKgeOslhbPLVj909FNlNMEsln3aU7GNtVM2/eib5F+g4WlgXwdUUZse1wBNR+p/uYFzWVWS7t71NyfbidosJ2QxDUuBs1H06X9YPfxHz07c/tSDrzNcYwPTXr5Drd9yr8Hpe9ICaHoCD0yexqcmfcovNGcJdgAYbLM+/5QUyHeRePTJ2G5ZKvE4hGhAP/rjm+apmD5fldzQt36EDDncD11MOx322TmXDzeLs8P7VDzO5l0VK5NkEx/Y1Mao+PW7eEYElN0jnXkENI7YEhzuT9gdpO89qjBGK4fCVP6Ipjpkm6tnP8CM9ujckFDhjZD8iZESvi61x/8g8XsZ321nbLHbC56J4SxA7CAqQexSs0vbHYoy90X3QLb2Ubxgc1OyGwCzQleiWGSxnrU0Te5lBceadnNOQ1BsdTFe6SSGcw0n16gnetBC8fwoFz8yjmjux4WY1Kt/k5naGvoiAwHb77HWHnwvkYN4IB9YHnBL0IZaPYPgQzMCD8rv1iZCM7mxic5lUcKFB3BhHgw8+zQA3iOT/U/zQbqPZsPpMx80tImHfBTaWiQXRcP9IIzw4ny8nTmwNbqfQwUHWcLk2GTno41mhbiMy411ACe/sIVFAKw9B0FgkJHdRvQEd/CU2Hek+BE1MYJ7g4DTiqYrFqdsEfMB7DVc+UhwdPpGvwObY9wIzIj5P0BXg5pMnIBdzVQgwE8EvQreNM+GnTKdd44G8ZPzaOYnMpuMCpyUT5ZdBs4KDaKzyD1ns3Ms0NxII+NdPRTKBbAl3msY6QUv9CsZZxV62PTPlfKoSP0HFC7txCZyDMX7t9t8DbzSpnT9kqWAsNTxgQDsu84eaS+ws7H1luDy0931ADrU3z0gaJA8Ao9Ag892iM60E+Ys6mW107zDMm3vAUsfjjSLOX0cPIhYHGA/3f1kLgkwbtE5YwK/Q7Y7dcw4wZIez3g3Bak6uZZZ0Fxxs1eWjYyD2oBi36F49yQqoK3gAbeFL5PLTHJlSvMwvk7gbmA7gMUsBAnIHMWqKajQJoMwlKLITq2ARYB+Uc/5txVrhqf8mmSW2I37KjYLMDMP4gx8Vlyi8QKvCS3Ky2LLuDRsPLhwAqUF9leaeMX7RFxIK7N0nzTE0VGOBijR4GlTi4oEsZbpbNfpsy29BVW9MFCuBqKDy9XcWZBAypWmc6/N/2JEb0eEVqNCKYnA/hSE+rfBECY3OU2ZNrv6agTYFI0RaDyyN6IO5qfWXOOwhiK9TefbtFMzGm2K567I06q8S9zCo8oPXUhvAuPSum6O5g5AqyxgjbLPaTTbFfTAEEXKEPzVEgGrJpchJ4pCx/JRYzOpgB6JjvEQkOKOZ7tQrMh1aeVek5lZXeMfDuXSrxHCeTxKbkqLDXol5A4vBd0wtjeM9BinNtmXemz9qKac0JzowFDOElFG3RL2BE3JIHaxtZ1Zxkn5LnvFblzjKnd5I5WmQ3O8lVIGcqVSmnPYYT9U1DbVBB7ni2BCqkTYkrkXES2YxMPRa5uQ5Fxza5d2sYwbndGb3KU7FUYNsiXkkdjj01yfzy942wFusXDbiycaaqSgxBK7yRviPH79cDzj9g4kG7iwurkmikkjTDUz2MKWt5AzmH7k5ELjKhuAbPs+A40/7Nz9uuSQA70eUSYC+SCWJIA/NwNPL5bg0KhRNzitvYcd4iR1F3+AWmAAlGzS5zOk4kbKNeLXfD0tmuxVMt0OrgGKlu/WUDakDQTPDuldEcJ2rdB5wzcIlUS9FGF0JBBxxqbsYLoJRwn9FRaZm4XJz5ISlA/hcYxGBCskejeM3w2MrBDXy3MY/4IUsCln6NIBuhcL+w60c6NcoRXQC6kjyHhkTnNSt7Lsf9IFwRb5IlHSDD6O1gxsx+PwchHhbkPdUFwJ5ffqfP9+kBGBngGEEh+qg2ipKLbZytVzlQgiKnQHT7URMAkUZ0HiH6vFdk8MEvX4QtCnM+sB9W+g660XfZ8ufw8E+3XkBipj2zjKPrm/uGONrfngmxul04WycSKoqddXNe1/XD2NWy2xUOMgXJXkfBS3HddufDLEx/nQQSVSydfn7dd7JqepqsjiqThVNfW9iPe7W6LxWL/TP9vt1td7KVGmFSlnNABarDv62qkDGKjJN9fZAmfUMCZf573+xtc0rvfPytvRLmfY8SmWQ5Dy+au97Zr4ToK4dD7qjE2BLpWnXCvmdHU/w6kNdc/JJDR6d4NgJXTEWiqDrHSJ/qUp0xFVjyDt+HFAtUIwE2j79HueLB+FXSKkJKJGkfi0FoB8dKweMrnNoh49s5ZJKuw3HB4TQ4zrAYpqFsORdXfQA3jm7ATqgT7COFG9/l8586Bbu6i6C82tNEYTnTPtN1dtMeIdqldBLju6nuXpC9QR66OJyPPXjnJw5f1cP4DJGmqhzb6H/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
        <p:nvSpPr>
          <p:cNvPr id="5" name="AutoShape 4" descr="data:image/png;base64,iVBORw0KGgoAAAANSUhEUgAAAMYAAAD/CAMAAACdMFkKAAAAkFBMVEX///8AAAD6+vrs7Ozx8fH8/Pz29vbf39/w8PDk5OTU1NT39/fDw8O2trbt7e3Y2NhTU1OlpaVeXl6enp7IyMiFhYXFxcUpKSlJSUnNzc14eHivr68iIiJOTk43Nze7u7uUlJQwMDBAQEBycnKWlpYVFRWCgoJnZ2dYWFgSEhJ1dXUsLCyMjIw0NDQUFBQ9PT16u9BFAAAdNklEQVR4nM1diZaquhIVURGFRsAJQVFR0G49/v/fXSoJkAEQAnbf/dZ697QDppKaq5IMBn+I8dfSfiT7/f628qd/OZBGGGmz0F3txuyruvn9o1CIJ38zuiYYLd3kHOBx2tTrur1VeATqnw2zDqr/fWXGqZE3NHcj0AA40d8e64ZvuxjWH4weQfejqzDMqz5QNX8nvpHhkn1dO96YN77/gATV+H6VD/N6Ln35cIsd9A8XfX9iix/b/y4Jk3AlMMx55a9Vo2z8m8QOLZB8HQk7Eh51VUrq6pcImKuWHQf8PEdmxtdfDv3GafHABCC48NJzlv5LS8gHgu3t++GGhmGED6QN9F+hwuApUA47k/1pnyzOzvX0IfW6d0hfvdopUV5Gqq8z2veSM9ynsaMIuJ9jezkXP2O5vjca8q8CE+3NVDfbB0T9+RwLM5++c/vMuFmMCyK2X9x7k9FU8wzfN2YTgYbBBHGMq5tOzlgliNJF7H/QItYZSxuFDZvr1tKNky2lYO+3i8Z+cU+tYhJyhj6Dlb7pfHD0OUIykttynUqlaT+i/UuQFgyHXi03f3lljKoe7v1TWB/gY7DKh1wOinPSvzavn5+HVvnksfaNvvQ7HpffgoxiYmfZH/qs1OGw3ASboZ/lr1CBFQ5GsDs+Hs4J/fu1u5jWgyPjkX8pNYqpLKkX+LAvPFLNjIiyqBCaD9IhzJtgwOP8rdRzejxe5V/Ui4nZ/B4VOR0G93IhxdvYXHqzu5KIbyEQc6Ga8faHcWnEhfokYvyjYTkVEeH+aza5XzuWCuU187z1ccEv3sb/zcVI8RDpUMlYrrkIX3HgYX3zw63A9ndpAKwEOogmpozXDv4KqeBvLwaCFO6V5uSDIFNs5i9o6G/azQaJp4Pwb/SZLe/fvyI7gv9exB/5BZCZzX98gmy5EyLxnVvh6kCPNXFdD8lUPBiroXtMovR/F9dfqnNkVJRLTwmT4WQ0byNh04yjM7vMGw0a2PRNrqXuq6f0pKImRrxI1/p6SKp9BQG5OSdmQK0kYoGlXt8iG8gDOK0Pd/Ar/lf8ZAsODbiv7MtISJ3INXk/FflIfApQvxH9+raY8yHxqumKmNk3iLEui8LPbjH/z7IAVU3VcsAHLu1hlGRhzher0fQYWSh6xmO1macEzmpJDzsV5IXwiK90SX+6Z994+5rhFJlNHn4kH7/q9J+H5GHPVN7hdmj1TDBOV+jamQr9p4IKhKf7PkmRcyS2XcgA8L4WRsqCAR+2zw9iJlRfm7bt7la2HTbkNbOaBIKtMH88omz5MBueq+j4UsScxzB1ec/FoqnrY8IGkk/7PXMPI6UByqeWQuZ9Y52JtW6JFUg99aDktWdGhfYo9VR+3nkoXnWGlcG7lc3NBfZDlujfgtpOX77zLJpScSdPVyvdx/pkaBFvvcPWPJq1U7LMPonXAPvrD+5DqXx73EswgtQuTtxtwUnBeRGtLmYYhutM6mrVfyOGKlCbycvUFfF3o5JvTK/CeCJMuH8nX/6J3JlezJee0VZHxrwdFW+chTy3j+gYYyZnMge6kAwETR8N1kQgUqXI+HOzOHtkbVh7Qd+tHTkRnc3hELz13HJn9oj+RGNjmHrkc/E34zpEFMmTmbs7FW/9q9P5Y/D5Hdbosog0CDFvJkzSxFq90RejnI4z0mwoPK3jhiP1U0420i/L3bHq6n4sSRAXQFI55+J8QIz0fnDRB5NU9TRP0U+K4OInMg0TGLtanlSaCmXvGut1aEdnQXW6bzJvoCRswRG5X9KpVz0PT32LtJfljgazI8+j5fWWyfp4Klt+EW8dxnSmlWdhuBTwa4zYL6Hd3Ma1yzqAFBqsxEOFwjFjhF/x6uH6oadpmq7rGqo1Jw1JSLF/W84Ej9qlU/xK1Vfcd3l6K9fcN/Alh5rtiCPicVod621vbGoN/MUjGvis+FpY9Ukw0bsaIthI6XkMIaJWzbhOCcLCXZQNqV5eN4B7/u79kNgNXV7Q81oRHZzW1R/V4NcqSipaNvGOSzHTduUa6mQ68+zYOVPjAwJ8Z5fa8tF6Dw7WbG3MKPafjlK0ySuM4Ue/ieqeaVp9IiEqDT3TweQW6piaU58rDV+3TvTww9DwdHW9XK/XhpaaaM1MxYOs4NbsVqtU8dS9UKzB+z4iNKVUdPK1fJI3hXQ6xr/Ny9kdTdP0TZdntXfao5YKZp3rZmS9Sg4H9OkNr8Rm+Yhohpy527vSBKshrlrJpnXGU5PREWJwXMCo/NyksDi8cviy7N2tooiWLxAiHbJTSjKWqi3xC18X3DGx4ZF+o5jy8ukcjlTPtN1LnJSUBc82GTlaj+CatE/u8Bmxe92HR/QnCxdXo9yeGhVHPUefGSESDjM0aCbOxIsPRN5gaPNzUx9pM85KNiZ6PVv+vgCfpPnatYkIGYQ3X0c58k1y8eycfVxahFskSiswX+L0+rmN7s254Z74a88Lmw8jNTFBysIhvZqn7qk+AAmmm+ssnfz+02xfmkrt/tJkWDLoq/OReGXfTQdFMuAPmfqarvDozlE5vlD48WrIWLsGUs1+gVJEvAGudCal4LZ4JgrQqpyPyfHnh+fP1Lf1rqTCwla64q46igdOSjQqSgBroyzqRBP4GqdT2KYTXUmgmIrUKhu299+cMsHF5SamED4HscP3XXDKdKJHGUffU24DvIBjJqsVV/jt3YAl9/W+GgtDNcj6seI0JCxzZqR/mRKNgvYJ44Z9rIfu0kx1bBCDhCVcmJlrljgr/dTUsqaD+FeoyHzRd2LnIK4myp92LDNtyuVChplf+/wdKjC/vHXUQKslWW7qSjF4UiG4W7w8dNL6fZTVCTpK1tTXIpYKgzyEIG6vmDmwQOSndN/zx1uvcX2glo4hS0bmsxJpeZboulSfabR4J+JHeoZ6KGNvFlyWMBNoTAZmMj46ZgKUulCxL4yxAalLtXGOUZ7vANuGwiLtzlUAGFVbtl4fwIOZ4+pP5MhVQhjhJosbOw9jgy7UXn+rTwhxx6EuRme7NvkWB9TMQpkfpvuse/W6MTSwcLUt3mwAyKlY8Dm2qYK6PEo++5v7eMaQkbvZenVIwfh4Mf+ubk2gzQYxFpt+6DG8aALs8b74BvECUR0ZuEMLK63zH1KBShcI56ogpMjPXEX3RcsbUWjb3VvA2hxUPepRys8khav4uqhAh4Fyxq/SSu3ZJdcqC5SwdvBWqFJrqBEiS6Y4UQ6YCkal/W6PL8H8pCDroT2rfKDMDJ5cbrnMTAjWNBXKXzSWDtB6QOJguFUOpSoLksAvR+y1Gd2VI/rHF01E04xF7xil63BUEfeUyebXXfmZjQdjbZVKOU3nbHPE/6DLd7/kgpQBpvuEeKQkbB6/lGuW8NNLTT5VFFSCP+KobBxHpFpLchgr9Kp1iZ3VpZxf6E6BP9ukOkDCsZkgZ0Ks2kHUMcxbNqIS4aGdkN/Zg1eO1FBvdNL6Lry5BH5DTuQJPDAx5qPd+T/o4c+RUrEYZjvCBJ1vQYOCZsyA51MZCvjlYJpp/3Bf9w4Cfyv1JV7++lTiDVHJNkOM6Jh2GGmWUvf7jjOQznaA+nBsLAeC324X+Y0kc2bzNzWaCvk9z27nBGmWGwNVC3k40UM85y9aWB8bhRVk9qDL12FSj+wg/WUEbLoWhPXZ7f4YM15k3Lx65tFUdHClwD/tZvxBlW7QCPyqwQCl34XhG28yLtOonQPtsjnenhn1srOuHro22mU+yQIGkUmxYcjc+KGTVb0Zt3bTyjuPWYcBulJecuNnQQ1JSFjOSWF5+/ANExlCXIJi+vzaZf/TObvSzhfEyo2K5rX4QqJ6tLQZDFh8Xz0pDBCljHfekiUeHPuOf3o43MGCLNkJLIZepnIHnCuuoPiKSSG03aTj8b8Ttl5QAcidQH7E7F6lcVSk0YKts4tROirS6Oqe0LHzFlt+1TeonbELtpmewXG5U+5r65pGeqnFRqj2fu2SFwYQTnduLc1j7ACSlb+22swOLPARxpmnaN4xOt+F0aLonGPB/QxqH+e7q+7Bzm+aKzoqCcymSqWRf95MAxt7Sx1YorJMpNXsAixJj1UDmP/H1r5CKBm8q6/Q6VrJPXgPynD79Ztf27iNCrJ85gyxzBsyJlQ7iOwOWzWzouOKY5AKXJv7OerTHQ28VH2f4ItvZDakfkM6bHVgOSYG3zJ+PZ1OQo9bq4pPnkF85zVTqRD5IiVsJTtww92sPHBqxjN+j2SLycql7B0VVHGzw2EGZZswCzkbMdX1FqYxFJ9VDlpPdejMYdT2wjUNaOGgpFmnOsGb542Kut07BUdzwlGKAvg5qnLyMrGCT7h2CCMrTp+a66rieJY38jRnBFCuxUilDqw65AnwixC2zWKgZN8iEzlGk2wCa9UHYkzIJxe5UnnGE8WWpX3h43E78Zs4D1hct3brwoDbO1faVf8O1Lk8bAi+7689A6akzo+hM7Zy1TGGK5kHpFJfntSXgFIbVzO9z3Jzl6VTkumdd0OD/sqG8CvV7zL7YaQO6srM0wWtLBvzmf1xVfqoa/W7jJqSkW+iaAOk4la8PgnqprAVgG0qNdyEDglkok6yFi+cSBnylsd/047TAtuawIk+/KtVHJABW7Q89e5ysz/p79zIuhye35EMUkbIrfKIj/2T3pbDq1FBtNGoNy/Vz2ae/s15l6nD+JpacFzdslUoLgJSNxXu4ZyKcBKZSMPnhWrJcvCU9dCD2JbO7c6fXE6vAOWIyMWuuB5CvTC+5iz2ZV3YU2Ix7rL9yBAVlS8oFarJFSQEMsBMpQI/85OaePwlla2PqsiguyjlyMBWg3aLgc3e7TVLuePtiRkigD9LLVteIrtFUsmpnCtvhjoajVR9fVkJJ7JVwGndFgRTVsqPxBM5LwdXyVRCUbe93pttXcxxb/uLEHOUfgfPnI3YTrLmWH6acjO09Bq9OjIWU9RkKNtVUXKSQXO0MySzCjJGJ6TkoWWJ2/TQHKM3I61FO+9XLyfDuyMdg/dNSLfZ1p2P8Q7tYqpRKRmpm7D5GujZtgbpbGFT1VSGdgIZlIzSRscNFWZc3kmozTtTOO98I7QvyaLYENLuR59C4gayu5spFYh3OBxxXHH2HIciZTJUswxfu9VYCOnAPZ6Kwtp2qsbXHWmo3I4eiB9rtokX1M4EJnwU8IWfW7BUx+Oy9dJjOc4Pg5wEH/OxLE4bt1SPK95leuBsSRE0dd7Kpx356wYWlDh6PNdi69/Sq7Y5FT26Yy4qyOijpXBkuKsoiuKLD89lgjCNl4MJ6utomTXxuXSgS1JXRSTec09h6q0z/DK6ciVFXIVvGd76bGA/DDKRL2RTPCe/Cwx+iGAk6chtLaGoIFX1ZP/MnuAVLfVRjy154x+e7xW2Tp3I6JV03BvqzzPzBN3wo/NdglXrEPNTfWQEGturtqGTyRxiAXzJZ84nS/Ap+rvCY81bKp3mKpS8DlqXUoCL2L/y7IVuWZamW+vjob05qsFQyBdtC64aI93cviDkM2TEBZ/yJ+33p7A2yg/7wjHv8cFtUBJtYy5DhlOQUQQ9ASoVyg25DA8+KMpNhy9tcGNmhOeCjKyU/NInI9Uy5dIKAJ0PSH1eOGBfScrKXubXSxjcBXNuKEiBX7yDrEb7Z9JAzULfjOVRBYWRMsFPcaq6TMoNjgAu/qJ10pi4mk6nohAZ2opmozvPokzWW2ZXCGhYqqq8ZP7U/Qi56+c4lLV/eWGfTqIlfOaDinblcuxgbCj1Bx1bTNp7PApxxjiRyytQ4UaUT7PPsmpIZYIkWyEMhUlzI4dQcKHQ2TRyOx2YqCkbo57/yET16eNuY1lFclRYhyYVjjsxdKZzWZLQZg59UFJNCmxyxCHGJw0wb7rnRw57hqF8Pyj4YTSfUt0DaASb17e/BgWoN+4EZMCf3nUz1ZFVfmPZXf68GGT7GVu0ytmHbgjbP2RjwObX7gjnRTcHTD5byYKd4UT+Jka0KFZddq+DVlaPEVYiULq4O5CX4Lx/EMpCd01UK3QfqziO5GPZZT0hznGpTyCDIe8owFECvAsOr73ATiwjW+9n6+6XXZE/vNlE4uAMe+nTMVCIwk8C3v0T4kQu8Owteiy7b7jU1qYd73bRbre72JAL+1nSSiPVu1fZcixq8hM0EO4MTBdpWlS4AolKVh1OvDsOPyr7GzDAkr1B2IPAawxmPFDEFV8/Op0zF/I/DDwgmdhDPFVWucda0jGX6he+YlC40yXpuJdkKrABiKScVkfli1Knj+pbPW2dJOLr+24nxQLg++9R6liuh2RRPQE6V/flBCg78UweCc9DdonSbATI11XvwWNuGuCmCU6X6HgllMtPBHilUkf5MGkQEbRXx6WptAqZagHQTKzhTV/4J/Eg1KZe5wBQHZMc6xlsjk4GqPDALKjNv9AMu0oBz1D0jnMBubY/du3aRGVaprIC1wJIPBXIONVaZ7NyOXoAhHxH5hVtIRFwLEtElwNd2O79EItQIEMGX5SlrgSlraR6omux62p6ADgEfvMc75PLMdC6U0HOFXrnF1EbH/7ilvK30JoNrZedTR8E1qXvk/2nggz+Tqv/AbCFbrDXmNnB0fS+hd8CHtyribFhXKuODkjPIBu/Ghkb5vzCys1mdRPysVPRym6BqgSzKbb8lLFB+Kwscer73hrqOeDe1MY5WXZXXtnFcrNqr2b0OR2Hy2HNxZVrihI/ABepVWQ1wI2uaLvuiDHK27RoPv5iE8YC/aMadQEaoruxLoEatWIpALtVS5ApSDdXhZ/up06AwlmPdmLH5JPFlPG2xpBOP3QT9QmG0jZaZKotwhRo298+ahKbs/bxCWMF4z88tQ0DTavTfqHHbIPanxzLWACJd+19LVWYMmQor7/0d3F6Xq7ayW7zRTcT/Q3wUeTS8c+Fo2PT990OzTDD5Yq9tAYUbiP+8AnwpSCBXJcdgx6/oWf7kRse6kAsmGSzAYEq3MUX/a7FINemHjs+hj/1KcXiN0Xku4OOojET6VAWv7QiIxtfBtfHz5Vedf0bCzK+YBV17seFCMvo6D/Fy2NN1EvHQxEL6KU7yB6fPak4azO59nNBF4JZehP8ouwa1l6g+bln2m9cX07IZyIkM1/9q3gdU+eHl+5tTdazWb8/pVIs/Al3dFy53adHvTWa5bMVLXsUi/z54bz0uCaEimxWW1jutvAa+q+vAF6gZKtbvpywq7hP7Q39uF4GLQAZ81Ptrr7E1qRJmS/poLnfbTA0Sm2ggOC2CmetGWzo7eiD6lYfTOOLdxXWUXNOYrtB9D6zbd9/sEscf/ZiDPRjG0Nb8ifLVeJp1DpD+lHcGh+8u9O9M1CdB7KaWvofq9kW3vsiSeHcFnkXvD4z3BheLD8k4vrxO0qmGRkT5ThA1zop53dHLxY4HQBBzdEEJx/MUknLWo8Yj0j+7aHODdQgMbxfdea6la4IcS/UZ6wFxmSvXDKbEeBu5C9kulN76KwaC0sVnnakKBcVb+35XF5vCnu6wyJttU2dhMcdslaJckwXJvUa6y6mf4sYu+U+Lg99KrLEu0z3+WbTOzqKBKoeOmoVGweKI+Tm3mCzP1Iby63BvJCaDi3fdchKgeOslhbPLVj909FNlNMEsln3aU7GNtVM2/eib5F+g4WlgXwdUUZse1wBNR+p/uYFzWVWS7t71NyfbidosJ2QxDUuBs1H06X9YPfxHz07c/tSDrzNcYwPTXr5Drd9yr8Hpe9ICaHoCD0yexqcmfcovNGcJdgAYbLM+/5QUyHeRePTJ2G5ZKvE4hGhAP/rjm+apmD5fldzQt36EDDncD11MOx322TmXDzeLs8P7VDzO5l0VK5NkEx/Y1Mao+PW7eEYElN0jnXkENI7YEhzuT9gdpO89qjBGK4fCVP6Ipjpkm6tnP8CM9ujckFDhjZD8iZESvi61x/8g8XsZ321nbLHbC56J4SxA7CAqQexSs0vbHYoy90X3QLb2Ubxgc1OyGwCzQleiWGSxnrU0Te5lBceadnNOQ1BsdTFe6SSGcw0n16gnetBC8fwoFz8yjmjux4WY1Kt/k5naGvoiAwHb77HWHnwvkYN4IB9YHnBL0IZaPYPgQzMCD8rv1iZCM7mxic5lUcKFB3BhHgw8+zQA3iOT/U/zQbqPZsPpMx80tImHfBTaWiQXRcP9IIzw4ny8nTmwNbqfQwUHWcLk2GTno41mhbiMy411ACe/sIVFAKw9B0FgkJHdRvQEd/CU2Hek+BE1MYJ7g4DTiqYrFqdsEfMB7DVc+UhwdPpGvwObY9wIzIj5P0BXg5pMnIBdzVQgwE8EvQreNM+GnTKdd44G8ZPzaOYnMpuMCpyUT5ZdBs4KDaKzyD1ns3Ms0NxII+NdPRTKBbAl3msY6QUv9CsZZxV62PTPlfKoSP0HFC7txCZyDMX7t9t8DbzSpnT9kqWAsNTxgQDsu84eaS+ws7H1luDy0931ADrU3z0gaJA8Ao9Ag892iM60E+Ys6mW107zDMm3vAUsfjjSLOX0cPIhYHGA/3f1kLgkwbtE5YwK/Q7Y7dcw4wZIez3g3Bak6uZZZ0Fxxs1eWjYyD2oBi36F49yQqoK3gAbeFL5PLTHJlSvMwvk7gbmA7gMUsBAnIHMWqKajQJoMwlKLITq2ARYB+Uc/5txVrhqf8mmSW2I37KjYLMDMP4gx8Vlyi8QKvCS3Ky2LLuDRsPLhwAqUF9leaeMX7RFxIK7N0nzTE0VGOBijR4GlTi4oEsZbpbNfpsy29BVW9MFCuBqKDy9XcWZBAypWmc6/N/2JEb0eEVqNCKYnA/hSE+rfBECY3OU2ZNrv6agTYFI0RaDyyN6IO5qfWXOOwhiK9TefbtFMzGm2K567I06q8S9zCo8oPXUhvAuPSum6O5g5AqyxgjbLPaTTbFfTAEEXKEPzVEgGrJpchJ4pCx/JRYzOpgB6JjvEQkOKOZ7tQrMh1aeVek5lZXeMfDuXSrxHCeTxKbkqLDXol5A4vBd0wtjeM9BinNtmXemz9qKac0JzowFDOElFG3RL2BE3JIHaxtZ1Zxkn5LnvFblzjKnd5I5WmQ3O8lVIGcqVSmnPYYT9U1DbVBB7ni2BCqkTYkrkXES2YxMPRa5uQ5Fxza5d2sYwbndGb3KU7FUYNsiXkkdjj01yfzy942wFusXDbiycaaqSgxBK7yRviPH79cDzj9g4kG7iwurkmikkjTDUz2MKWt5AzmH7k5ELjKhuAbPs+A40/7Nz9uuSQA70eUSYC+SCWJIA/NwNPL5bg0KhRNzitvYcd4iR1F3+AWmAAlGzS5zOk4kbKNeLXfD0tmuxVMt0OrgGKlu/WUDakDQTPDuldEcJ2rdB5wzcIlUS9FGF0JBBxxqbsYLoJRwn9FRaZm4XJz5ISlA/hcYxGBCskejeM3w2MrBDXy3MY/4IUsCln6NIBuhcL+w60c6NcoRXQC6kjyHhkTnNSt7Lsf9IFwRb5IlHSDD6O1gxsx+PwchHhbkPdUFwJ5ffqfP9+kBGBngGEEh+qg2ipKLbZytVzlQgiKnQHT7URMAkUZ0HiH6vFdk8MEvX4QtCnM+sB9W+g660XfZ8ufw8E+3XkBipj2zjKPrm/uGONrfngmxul04WycSKoqddXNe1/XD2NWy2xUOMgXJXkfBS3HddufDLEx/nQQSVSydfn7dd7JqepqsjiqThVNfW9iPe7W6LxWL/TP9vt1td7KVGmFSlnNABarDv62qkDGKjJN9fZAmfUMCZf573+xtc0rvfPytvRLmfY8SmWQ5Dy+au97Zr4ToK4dD7qjE2BLpWnXCvmdHU/w6kNdc/JJDR6d4NgJXTEWiqDrHSJ/qUp0xFVjyDt+HFAtUIwE2j79HueLB+FXSKkJKJGkfi0FoB8dKweMrnNoh49s5ZJKuw3HB4TQ4zrAYpqFsORdXfQA3jm7ATqgT7COFG9/l8586Bbu6i6C82tNEYTnTPtN1dtMeIdqldBLju6nuXpC9QR66OJyPPXjnJw5f1cP4DJGmqhzb6H/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pic>
        <p:nvPicPr>
          <p:cNvPr id="1029" name="Picture 5"/>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12775" y="3960265"/>
            <a:ext cx="1126848" cy="1451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ture 9" descr="http://images.clipartpanda.com/bank-clipart-cliparti1_bank-clipart_04.jpg"/>
          <p:cNvPicPr>
            <a:picLocks noChangeAspect="1" noChangeArrowheads="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902310" y="3185579"/>
            <a:ext cx="1249738" cy="12143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http://images.clipartpanda.com/bank-clipart-cliparti1_bank-clipart_04.jpg"/>
          <p:cNvPicPr>
            <a:picLocks noChangeAspect="1" noChangeArrowheads="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902310" y="5098690"/>
            <a:ext cx="1249738" cy="1214320"/>
          </a:xfrm>
          <a:prstGeom prst="rect">
            <a:avLst/>
          </a:prstGeom>
          <a:noFill/>
          <a:extLst>
            <a:ext uri="{909E8E84-426E-40DD-AFC4-6F175D3DCCD1}">
              <a14:hiddenFill xmlns:a14="http://schemas.microsoft.com/office/drawing/2010/main">
                <a:solidFill>
                  <a:srgbClr val="FFFFFF"/>
                </a:solidFill>
              </a14:hiddenFill>
            </a:ext>
          </a:extLst>
        </p:spPr>
      </p:pic>
      <p:sp>
        <p:nvSpPr>
          <p:cNvPr id="6" name="Up-Down Arrow 5"/>
          <p:cNvSpPr/>
          <p:nvPr/>
        </p:nvSpPr>
        <p:spPr bwMode="auto">
          <a:xfrm>
            <a:off x="3364802" y="4040779"/>
            <a:ext cx="303580" cy="1290215"/>
          </a:xfrm>
          <a:prstGeom prst="upDownArrow">
            <a:avLst/>
          </a:prstGeom>
          <a:ln/>
        </p:spPr>
        <p:style>
          <a:lnRef idx="3">
            <a:schemeClr val="lt1"/>
          </a:lnRef>
          <a:fillRef idx="1">
            <a:schemeClr val="accent6"/>
          </a:fillRef>
          <a:effectRef idx="1">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
        <p:nvSpPr>
          <p:cNvPr id="12" name="Up-Down Arrow 11"/>
          <p:cNvSpPr/>
          <p:nvPr/>
        </p:nvSpPr>
        <p:spPr bwMode="auto">
          <a:xfrm rot="3600000">
            <a:off x="2134540" y="3389691"/>
            <a:ext cx="303580" cy="1290215"/>
          </a:xfrm>
          <a:prstGeom prst="upDownArrow">
            <a:avLst/>
          </a:prstGeom>
          <a:ln/>
        </p:spPr>
        <p:style>
          <a:lnRef idx="3">
            <a:schemeClr val="lt1"/>
          </a:lnRef>
          <a:fillRef idx="1">
            <a:schemeClr val="accent6"/>
          </a:fillRef>
          <a:effectRef idx="1">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
        <p:nvSpPr>
          <p:cNvPr id="8" name="TextBox 7"/>
          <p:cNvSpPr txBox="1"/>
          <p:nvPr/>
        </p:nvSpPr>
        <p:spPr>
          <a:xfrm>
            <a:off x="536270" y="3049525"/>
            <a:ext cx="1729320" cy="646331"/>
          </a:xfrm>
          <a:prstGeom prst="rect">
            <a:avLst/>
          </a:prstGeom>
          <a:noFill/>
        </p:spPr>
        <p:txBody>
          <a:bodyPr wrap="none" rtlCol="0">
            <a:spAutoFit/>
          </a:bodyPr>
          <a:lstStyle/>
          <a:p>
            <a:pPr algn="l"/>
            <a:r>
              <a:rPr lang="en-US"/>
              <a:t>TRADITIONAL</a:t>
            </a:r>
          </a:p>
          <a:p>
            <a:pPr algn="l"/>
            <a:r>
              <a:rPr lang="en-US"/>
              <a:t>PROGRAMMING</a:t>
            </a:r>
            <a:endParaRPr lang="en-MY"/>
          </a:p>
        </p:txBody>
      </p:sp>
      <p:sp>
        <p:nvSpPr>
          <p:cNvPr id="9" name="Rectangular Callout 8"/>
          <p:cNvSpPr/>
          <p:nvPr/>
        </p:nvSpPr>
        <p:spPr bwMode="auto">
          <a:xfrm>
            <a:off x="227511" y="5981275"/>
            <a:ext cx="1897375" cy="663470"/>
          </a:xfrm>
          <a:prstGeom prst="wedgeRectCallout">
            <a:avLst>
              <a:gd name="adj1" fmla="val 113083"/>
              <a:gd name="adj2" fmla="val -15321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342900" marR="0" defTabSz="914400" rtl="0" eaLnBrk="0" fontAlgn="base" latinLnBrk="0" hangingPunct="0">
              <a:lnSpc>
                <a:spcPct val="100000"/>
              </a:lnSpc>
              <a:spcBef>
                <a:spcPct val="0"/>
              </a:spcBef>
              <a:spcAft>
                <a:spcPct val="0"/>
              </a:spcAft>
              <a:buClrTx/>
              <a:buSzTx/>
              <a:buFontTx/>
              <a:buNone/>
              <a:tabLst/>
            </a:pPr>
            <a:endParaRPr kumimoji="0" lang="en-MY" sz="1400" b="0" i="0" u="none" strike="noStrike" cap="none" normalizeH="0" baseline="0">
              <a:ln>
                <a:noFill/>
              </a:ln>
              <a:solidFill>
                <a:schemeClr val="tx1"/>
              </a:solidFill>
              <a:effectLst/>
              <a:latin typeface="Calibri" pitchFamily="34" charset="0"/>
            </a:endParaRPr>
          </a:p>
        </p:txBody>
      </p:sp>
      <p:sp>
        <p:nvSpPr>
          <p:cNvPr id="11" name="TextBox 10"/>
          <p:cNvSpPr txBox="1"/>
          <p:nvPr/>
        </p:nvSpPr>
        <p:spPr>
          <a:xfrm>
            <a:off x="261940" y="5933535"/>
            <a:ext cx="1862946" cy="738664"/>
          </a:xfrm>
          <a:prstGeom prst="rect">
            <a:avLst/>
          </a:prstGeom>
          <a:noFill/>
        </p:spPr>
        <p:txBody>
          <a:bodyPr wrap="square" rtlCol="0">
            <a:spAutoFit/>
          </a:bodyPr>
          <a:lstStyle/>
          <a:p>
            <a:r>
              <a:rPr lang="en-US" sz="1400"/>
              <a:t>focuses on operations (i.e. withdraw, deposit, transfer)</a:t>
            </a:r>
            <a:endParaRPr lang="en-MY" sz="1400"/>
          </a:p>
        </p:txBody>
      </p:sp>
      <p:sp>
        <p:nvSpPr>
          <p:cNvPr id="17" name="Rectangle 16"/>
          <p:cNvSpPr/>
          <p:nvPr/>
        </p:nvSpPr>
        <p:spPr bwMode="auto">
          <a:xfrm>
            <a:off x="4875580" y="3049525"/>
            <a:ext cx="3808045" cy="3415275"/>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pic>
        <p:nvPicPr>
          <p:cNvPr id="18" name="Picture 5"/>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4952085" y="3960265"/>
            <a:ext cx="1126848" cy="1451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9" descr="http://images.clipartpanda.com/bank-clipart-cliparti1_bank-clipart_0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41620" y="3185579"/>
            <a:ext cx="1249738" cy="121432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 name="Picture 19" descr="http://images.clipartpanda.com/bank-clipart-cliparti1_bank-clipart_0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41620" y="5098690"/>
            <a:ext cx="1249738" cy="121432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1" name="Up-Down Arrow 20"/>
          <p:cNvSpPr/>
          <p:nvPr/>
        </p:nvSpPr>
        <p:spPr bwMode="auto">
          <a:xfrm>
            <a:off x="7704112" y="4040779"/>
            <a:ext cx="303580" cy="1290215"/>
          </a:xfrm>
          <a:prstGeom prst="upDownArrow">
            <a:avLst/>
          </a:prstGeom>
          <a:solidFill>
            <a:schemeClr val="bg1">
              <a:lumMod val="85000"/>
            </a:schemeClr>
          </a:solidFill>
          <a:ln>
            <a:prstDash val="sysDot"/>
          </a:ln>
        </p:spPr>
        <p:style>
          <a:lnRef idx="3">
            <a:schemeClr val="lt1"/>
          </a:lnRef>
          <a:fillRef idx="1">
            <a:schemeClr val="accent6"/>
          </a:fillRef>
          <a:effectRef idx="1">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
        <p:nvSpPr>
          <p:cNvPr id="22" name="Up-Down Arrow 21"/>
          <p:cNvSpPr/>
          <p:nvPr/>
        </p:nvSpPr>
        <p:spPr bwMode="auto">
          <a:xfrm rot="3600000">
            <a:off x="6473850" y="3389691"/>
            <a:ext cx="303580" cy="1290215"/>
          </a:xfrm>
          <a:prstGeom prst="upDownArrow">
            <a:avLst/>
          </a:prstGeom>
          <a:solidFill>
            <a:schemeClr val="bg1">
              <a:lumMod val="85000"/>
            </a:schemeClr>
          </a:solidFill>
          <a:ln>
            <a:prstDash val="sysDot"/>
          </a:ln>
        </p:spPr>
        <p:style>
          <a:lnRef idx="3">
            <a:schemeClr val="lt1"/>
          </a:lnRef>
          <a:fillRef idx="1">
            <a:schemeClr val="accent6"/>
          </a:fillRef>
          <a:effectRef idx="1">
            <a:schemeClr val="accent6"/>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
        <p:nvSpPr>
          <p:cNvPr id="23" name="TextBox 22"/>
          <p:cNvSpPr txBox="1"/>
          <p:nvPr/>
        </p:nvSpPr>
        <p:spPr>
          <a:xfrm>
            <a:off x="4875580" y="3049525"/>
            <a:ext cx="1898340" cy="646331"/>
          </a:xfrm>
          <a:prstGeom prst="rect">
            <a:avLst/>
          </a:prstGeom>
          <a:noFill/>
        </p:spPr>
        <p:txBody>
          <a:bodyPr wrap="none" rtlCol="0">
            <a:spAutoFit/>
          </a:bodyPr>
          <a:lstStyle/>
          <a:p>
            <a:pPr algn="l"/>
            <a:r>
              <a:rPr lang="en-US"/>
              <a:t>OBJECT ORIENTED</a:t>
            </a:r>
          </a:p>
          <a:p>
            <a:pPr algn="l"/>
            <a:r>
              <a:rPr lang="en-US"/>
              <a:t>PROGRAMMING</a:t>
            </a:r>
            <a:endParaRPr lang="en-MY"/>
          </a:p>
        </p:txBody>
      </p:sp>
      <p:sp>
        <p:nvSpPr>
          <p:cNvPr id="24" name="Rectangular Callout 23"/>
          <p:cNvSpPr/>
          <p:nvPr/>
        </p:nvSpPr>
        <p:spPr bwMode="auto">
          <a:xfrm>
            <a:off x="4566821" y="5981275"/>
            <a:ext cx="1897375" cy="663470"/>
          </a:xfrm>
          <a:prstGeom prst="wedgeRectCallout">
            <a:avLst>
              <a:gd name="adj1" fmla="val 113083"/>
              <a:gd name="adj2" fmla="val -15321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342900" marR="0" defTabSz="914400" rtl="0" eaLnBrk="0" fontAlgn="base" latinLnBrk="0" hangingPunct="0">
              <a:lnSpc>
                <a:spcPct val="100000"/>
              </a:lnSpc>
              <a:spcBef>
                <a:spcPct val="0"/>
              </a:spcBef>
              <a:spcAft>
                <a:spcPct val="0"/>
              </a:spcAft>
              <a:buClrTx/>
              <a:buSzTx/>
              <a:buFontTx/>
              <a:buNone/>
              <a:tabLst/>
            </a:pPr>
            <a:endParaRPr kumimoji="0" lang="en-MY" sz="1400" b="0" i="0" u="none" strike="noStrike" cap="none" normalizeH="0" baseline="0">
              <a:ln>
                <a:noFill/>
              </a:ln>
              <a:solidFill>
                <a:schemeClr val="tx1"/>
              </a:solidFill>
              <a:effectLst/>
              <a:latin typeface="Calibri" pitchFamily="34" charset="0"/>
            </a:endParaRPr>
          </a:p>
        </p:txBody>
      </p:sp>
      <p:sp>
        <p:nvSpPr>
          <p:cNvPr id="25" name="TextBox 24"/>
          <p:cNvSpPr txBox="1"/>
          <p:nvPr/>
        </p:nvSpPr>
        <p:spPr>
          <a:xfrm>
            <a:off x="4601250" y="5933535"/>
            <a:ext cx="1862946" cy="738664"/>
          </a:xfrm>
          <a:prstGeom prst="rect">
            <a:avLst/>
          </a:prstGeom>
          <a:noFill/>
        </p:spPr>
        <p:txBody>
          <a:bodyPr wrap="square" rtlCol="0">
            <a:spAutoFit/>
          </a:bodyPr>
          <a:lstStyle/>
          <a:p>
            <a:r>
              <a:rPr lang="en-US" sz="1400"/>
              <a:t>focuses on objects (i.e. customer, account, branch)</a:t>
            </a:r>
            <a:endParaRPr lang="en-MY" sz="1400"/>
          </a:p>
        </p:txBody>
      </p:sp>
    </p:spTree>
    <p:extLst>
      <p:ext uri="{BB962C8B-B14F-4D97-AF65-F5344CB8AC3E}">
        <p14:creationId xmlns:p14="http://schemas.microsoft.com/office/powerpoint/2010/main" val="379035376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Why OO?</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pPr>
              <a:lnSpc>
                <a:spcPct val="90000"/>
              </a:lnSpc>
            </a:pPr>
            <a:r>
              <a:rPr lang="en-US" altLang="en-US" dirty="0">
                <a:ln w="0"/>
                <a:solidFill>
                  <a:schemeClr val="tx1"/>
                </a:solidFill>
                <a:effectLst>
                  <a:outerShdw blurRad="38100" dist="19050" dir="2700000" algn="tl" rotWithShape="0">
                    <a:schemeClr val="dk1">
                      <a:alpha val="40000"/>
                    </a:schemeClr>
                  </a:outerShdw>
                </a:effectLst>
              </a:rPr>
              <a:t>While developing using OO paradigm, developers/engineers should take advantage of the </a:t>
            </a:r>
            <a:r>
              <a:rPr lang="en-US" altLang="en-US" dirty="0">
                <a:ln w="0"/>
                <a:solidFill>
                  <a:srgbClr val="FF0000"/>
                </a:solidFill>
                <a:effectLst>
                  <a:outerShdw blurRad="38100" dist="19050" dir="2700000" algn="tl" rotWithShape="0">
                    <a:schemeClr val="dk1">
                      <a:alpha val="40000"/>
                    </a:schemeClr>
                  </a:outerShdw>
                </a:effectLst>
                <a:highlight>
                  <a:srgbClr val="FFFF00"/>
                </a:highlight>
              </a:rPr>
              <a:t>reusability aspects</a:t>
            </a:r>
            <a:r>
              <a:rPr lang="en-US" altLang="en-US" dirty="0">
                <a:ln w="0"/>
                <a:solidFill>
                  <a:schemeClr val="tx1"/>
                </a:solidFill>
                <a:effectLst>
                  <a:outerShdw blurRad="38100" dist="19050" dir="2700000" algn="tl" rotWithShape="0">
                    <a:schemeClr val="dk1">
                      <a:alpha val="40000"/>
                    </a:schemeClr>
                  </a:outerShdw>
                </a:effectLst>
              </a:rPr>
              <a:t> of an OO language</a:t>
            </a:r>
          </a:p>
          <a:p>
            <a:pPr>
              <a:lnSpc>
                <a:spcPct val="90000"/>
              </a:lnSpc>
            </a:pPr>
            <a:r>
              <a:rPr lang="en-MY" altLang="en-US" dirty="0">
                <a:ln w="0"/>
                <a:solidFill>
                  <a:schemeClr val="tx1"/>
                </a:solidFill>
                <a:effectLst>
                  <a:outerShdw blurRad="38100" dist="19050" dir="2700000" algn="tl" rotWithShape="0">
                    <a:schemeClr val="dk1">
                      <a:alpha val="40000"/>
                    </a:schemeClr>
                  </a:outerShdw>
                </a:effectLst>
              </a:rPr>
              <a:t>Avoid re-developing software already developed</a:t>
            </a:r>
          </a:p>
          <a:p>
            <a:pPr>
              <a:lnSpc>
                <a:spcPct val="90000"/>
              </a:lnSpc>
            </a:pPr>
            <a:r>
              <a:rPr lang="en-MY" altLang="en-US" dirty="0">
                <a:ln w="0"/>
                <a:solidFill>
                  <a:schemeClr val="tx1"/>
                </a:solidFill>
                <a:effectLst>
                  <a:outerShdw blurRad="38100" dist="19050" dir="2700000" algn="tl" rotWithShape="0">
                    <a:schemeClr val="dk1">
                      <a:alpha val="40000"/>
                    </a:schemeClr>
                  </a:outerShdw>
                </a:effectLst>
              </a:rPr>
              <a:t>Types of reuse:</a:t>
            </a:r>
          </a:p>
          <a:p>
            <a:pPr lvl="1">
              <a:lnSpc>
                <a:spcPct val="90000"/>
              </a:lnSpc>
            </a:pPr>
            <a:r>
              <a:rPr lang="en-MY" altLang="en-US" dirty="0">
                <a:ln w="0"/>
                <a:solidFill>
                  <a:schemeClr val="tx1"/>
                </a:solidFill>
                <a:effectLst>
                  <a:outerShdw blurRad="38100" dist="19050" dir="2700000" algn="tl" rotWithShape="0">
                    <a:schemeClr val="dk1">
                      <a:alpha val="40000"/>
                    </a:schemeClr>
                  </a:outerShdw>
                </a:effectLst>
              </a:rPr>
              <a:t>Reuse of expertise (developer/engineer/designer)</a:t>
            </a:r>
          </a:p>
          <a:p>
            <a:pPr lvl="1">
              <a:lnSpc>
                <a:spcPct val="90000"/>
              </a:lnSpc>
            </a:pPr>
            <a:r>
              <a:rPr lang="en-MY" altLang="en-US" dirty="0">
                <a:ln w="0"/>
                <a:solidFill>
                  <a:schemeClr val="tx1"/>
                </a:solidFill>
                <a:effectLst>
                  <a:outerShdw blurRad="38100" dist="19050" dir="2700000" algn="tl" rotWithShape="0">
                    <a:schemeClr val="dk1">
                      <a:alpha val="40000"/>
                    </a:schemeClr>
                  </a:outerShdw>
                </a:effectLst>
              </a:rPr>
              <a:t>Reuse of standard designs and algorithms </a:t>
            </a:r>
          </a:p>
          <a:p>
            <a:pPr lvl="1">
              <a:lnSpc>
                <a:spcPct val="90000"/>
              </a:lnSpc>
            </a:pPr>
            <a:r>
              <a:rPr lang="en-MY" altLang="en-US" dirty="0">
                <a:ln w="0"/>
                <a:solidFill>
                  <a:schemeClr val="tx1"/>
                </a:solidFill>
                <a:effectLst>
                  <a:outerShdw blurRad="38100" dist="19050" dir="2700000" algn="tl" rotWithShape="0">
                    <a:schemeClr val="dk1">
                      <a:alpha val="40000"/>
                    </a:schemeClr>
                  </a:outerShdw>
                </a:effectLst>
              </a:rPr>
              <a:t>Reuse of libraries of classes or procedures </a:t>
            </a:r>
          </a:p>
          <a:p>
            <a:pPr lvl="1">
              <a:lnSpc>
                <a:spcPct val="90000"/>
              </a:lnSpc>
            </a:pPr>
            <a:r>
              <a:rPr lang="en-MY" altLang="en-US" dirty="0">
                <a:ln w="0"/>
                <a:solidFill>
                  <a:schemeClr val="tx1"/>
                </a:solidFill>
                <a:effectLst>
                  <a:outerShdw blurRad="38100" dist="19050" dir="2700000" algn="tl" rotWithShape="0">
                    <a:schemeClr val="dk1">
                      <a:alpha val="40000"/>
                    </a:schemeClr>
                  </a:outerShdw>
                </a:effectLst>
              </a:rPr>
              <a:t>Reuse of powerful commands built into languages and/or operating systems </a:t>
            </a:r>
          </a:p>
          <a:p>
            <a:pPr lvl="1">
              <a:lnSpc>
                <a:spcPct val="90000"/>
              </a:lnSpc>
            </a:pPr>
            <a:r>
              <a:rPr lang="en-MY" altLang="en-US" dirty="0">
                <a:ln w="0"/>
                <a:solidFill>
                  <a:schemeClr val="tx1"/>
                </a:solidFill>
                <a:effectLst>
                  <a:outerShdw blurRad="38100" dist="19050" dir="2700000" algn="tl" rotWithShape="0">
                    <a:schemeClr val="dk1">
                      <a:alpha val="40000"/>
                    </a:schemeClr>
                  </a:outerShdw>
                </a:effectLst>
              </a:rPr>
              <a:t>Reuse of frameworks and design patterns</a:t>
            </a:r>
          </a:p>
          <a:p>
            <a:pPr lvl="1">
              <a:lnSpc>
                <a:spcPct val="90000"/>
              </a:lnSpc>
            </a:pPr>
            <a:r>
              <a:rPr lang="en-MY" altLang="en-US" dirty="0">
                <a:ln w="0"/>
                <a:solidFill>
                  <a:schemeClr val="tx1"/>
                </a:solidFill>
                <a:effectLst>
                  <a:outerShdw blurRad="38100" dist="19050" dir="2700000" algn="tl" rotWithShape="0">
                    <a:schemeClr val="dk1">
                      <a:alpha val="40000"/>
                    </a:schemeClr>
                  </a:outerShdw>
                </a:effectLst>
              </a:rPr>
              <a:t>Reuse of complete applications </a:t>
            </a:r>
          </a:p>
          <a:p>
            <a:pPr lvl="1">
              <a:lnSpc>
                <a:spcPct val="90000"/>
              </a:lnSpc>
            </a:pPr>
            <a:endParaRPr lang="en-US" altLang="en-US" dirty="0">
              <a:ln w="0"/>
              <a:solidFill>
                <a:schemeClr val="tx1"/>
              </a:solidFill>
              <a:effectLst>
                <a:outerShdw blurRad="38100" dist="19050" dir="2700000" algn="tl" rotWithShape="0">
                  <a:schemeClr val="dk1">
                    <a:alpha val="40000"/>
                  </a:schemeClr>
                </a:outerShdw>
              </a:effectLst>
            </a:endParaRPr>
          </a:p>
          <a:p>
            <a:pPr>
              <a:lnSpc>
                <a:spcPct val="90000"/>
              </a:lnSpc>
            </a:pPr>
            <a:r>
              <a:rPr lang="en-GB" altLang="en-US" i="1" dirty="0">
                <a:ln w="0"/>
                <a:solidFill>
                  <a:srgbClr val="FF0000"/>
                </a:solidFill>
                <a:effectLst>
                  <a:outerShdw blurRad="38100" dist="19050" dir="2700000" algn="tl" rotWithShape="0">
                    <a:schemeClr val="dk1">
                      <a:alpha val="40000"/>
                    </a:schemeClr>
                  </a:outerShdw>
                </a:effectLst>
              </a:rPr>
              <a:t>Reuse</a:t>
            </a:r>
            <a:r>
              <a:rPr lang="en-GB" altLang="en-US" dirty="0">
                <a:ln w="0"/>
                <a:solidFill>
                  <a:schemeClr val="tx1"/>
                </a:solidFill>
                <a:effectLst>
                  <a:outerShdw blurRad="38100" dist="19050" dir="2700000" algn="tl" rotWithShape="0">
                    <a:schemeClr val="dk1">
                      <a:alpha val="40000"/>
                    </a:schemeClr>
                  </a:outerShdw>
                </a:effectLst>
              </a:rPr>
              <a:t> AND </a:t>
            </a:r>
            <a:r>
              <a:rPr lang="en-GB" altLang="en-US" i="1" dirty="0">
                <a:ln w="0"/>
                <a:solidFill>
                  <a:srgbClr val="FF0000"/>
                </a:solidFill>
                <a:effectLst>
                  <a:outerShdw blurRad="38100" dist="19050" dir="2700000" algn="tl" rotWithShape="0">
                    <a:schemeClr val="dk1">
                      <a:alpha val="40000"/>
                    </a:schemeClr>
                  </a:outerShdw>
                </a:effectLst>
              </a:rPr>
              <a:t>design for reusability</a:t>
            </a:r>
            <a:r>
              <a:rPr lang="en-GB" altLang="en-US" dirty="0">
                <a:ln w="0"/>
                <a:solidFill>
                  <a:srgbClr val="FF0000"/>
                </a:solidFill>
                <a:effectLst>
                  <a:outerShdw blurRad="38100" dist="19050" dir="2700000" algn="tl" rotWithShape="0">
                    <a:schemeClr val="dk1">
                      <a:alpha val="40000"/>
                    </a:schemeClr>
                  </a:outerShdw>
                </a:effectLst>
              </a:rPr>
              <a:t> </a:t>
            </a:r>
            <a:r>
              <a:rPr lang="en-GB" altLang="en-US" dirty="0">
                <a:ln w="0"/>
                <a:solidFill>
                  <a:schemeClr val="tx1"/>
                </a:solidFill>
                <a:effectLst>
                  <a:outerShdw blurRad="38100" dist="19050" dir="2700000" algn="tl" rotWithShape="0">
                    <a:schemeClr val="dk1">
                      <a:alpha val="40000"/>
                    </a:schemeClr>
                  </a:outerShdw>
                </a:effectLst>
              </a:rPr>
              <a:t>should be part of the culture of software development organizations</a:t>
            </a:r>
          </a:p>
          <a:p>
            <a:pPr>
              <a:lnSpc>
                <a:spcPct val="90000"/>
              </a:lnSpc>
            </a:pPr>
            <a:endParaRPr lang="en-MY" altLang="en-US" dirty="0">
              <a:ln w="0"/>
              <a:solidFill>
                <a:schemeClr val="tx1"/>
              </a:solidFill>
              <a:effectLst>
                <a:outerShdw blurRad="38100" dist="19050" dir="2700000" algn="tl" rotWithShape="0">
                  <a:schemeClr val="dk1">
                    <a:alpha val="40000"/>
                  </a:schemeClr>
                </a:outerShdw>
              </a:effectLst>
            </a:endParaRPr>
          </a:p>
          <a:p>
            <a:pPr>
              <a:lnSpc>
                <a:spcPct val="90000"/>
              </a:lnSpc>
            </a:pPr>
            <a:endParaRPr lang="en-US" alt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80542856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Types of software projects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170090" y="773113"/>
            <a:ext cx="8973910" cy="5715000"/>
          </a:xfrm>
        </p:spPr>
        <p:txBody>
          <a:bodyPr/>
          <a:lstStyle/>
          <a:p>
            <a:r>
              <a:rPr lang="en-MY" dirty="0">
                <a:ln w="0"/>
                <a:solidFill>
                  <a:schemeClr val="tx1"/>
                </a:solidFill>
                <a:effectLst>
                  <a:outerShdw blurRad="38100" dist="19050" dir="2700000" algn="tl" rotWithShape="0">
                    <a:schemeClr val="dk1">
                      <a:alpha val="40000"/>
                    </a:schemeClr>
                  </a:outerShdw>
                </a:effectLst>
              </a:rPr>
              <a:t>Many projects are evolutionary or maintenance projects, involving work on legacy systems</a:t>
            </a:r>
          </a:p>
          <a:p>
            <a:pPr lvl="1"/>
            <a:r>
              <a:rPr lang="en-MY" dirty="0">
                <a:ln w="0"/>
                <a:solidFill>
                  <a:srgbClr val="FF0000"/>
                </a:solidFill>
                <a:effectLst>
                  <a:outerShdw blurRad="38100" dist="19050" dir="2700000" algn="tl" rotWithShape="0">
                    <a:schemeClr val="dk1">
                      <a:alpha val="40000"/>
                    </a:schemeClr>
                  </a:outerShdw>
                </a:effectLst>
              </a:rPr>
              <a:t>Corrective projects: </a:t>
            </a:r>
            <a:r>
              <a:rPr lang="en-MY" dirty="0">
                <a:ln w="0"/>
                <a:solidFill>
                  <a:schemeClr val="tx1"/>
                </a:solidFill>
                <a:effectLst>
                  <a:outerShdw blurRad="38100" dist="19050" dir="2700000" algn="tl" rotWithShape="0">
                    <a:schemeClr val="dk1">
                      <a:alpha val="40000"/>
                    </a:schemeClr>
                  </a:outerShdw>
                </a:effectLst>
              </a:rPr>
              <a:t>fixing defects</a:t>
            </a:r>
          </a:p>
          <a:p>
            <a:pPr marL="457200" lvl="1" indent="0">
              <a:buNone/>
            </a:pPr>
            <a:endParaRPr lang="en-MY" dirty="0">
              <a:ln w="0"/>
              <a:solidFill>
                <a:schemeClr val="tx1"/>
              </a:solidFill>
              <a:effectLst>
                <a:outerShdw blurRad="38100" dist="19050" dir="2700000" algn="tl" rotWithShape="0">
                  <a:schemeClr val="dk1">
                    <a:alpha val="40000"/>
                  </a:schemeClr>
                </a:outerShdw>
              </a:effectLst>
            </a:endParaRPr>
          </a:p>
          <a:p>
            <a:pPr lvl="1"/>
            <a:r>
              <a:rPr lang="en-MY" dirty="0">
                <a:ln w="0"/>
                <a:solidFill>
                  <a:srgbClr val="FF0000"/>
                </a:solidFill>
                <a:effectLst>
                  <a:outerShdw blurRad="38100" dist="19050" dir="2700000" algn="tl" rotWithShape="0">
                    <a:schemeClr val="dk1">
                      <a:alpha val="40000"/>
                    </a:schemeClr>
                  </a:outerShdw>
                </a:effectLst>
              </a:rPr>
              <a:t>Adaptive projects: </a:t>
            </a:r>
            <a:r>
              <a:rPr lang="en-MY" dirty="0">
                <a:ln w="0"/>
                <a:solidFill>
                  <a:schemeClr val="tx1"/>
                </a:solidFill>
                <a:effectLst>
                  <a:outerShdw blurRad="38100" dist="19050" dir="2700000" algn="tl" rotWithShape="0">
                    <a:schemeClr val="dk1">
                      <a:alpha val="40000"/>
                    </a:schemeClr>
                  </a:outerShdw>
                </a:effectLst>
              </a:rPr>
              <a:t>changing the system in response to changes in operating system, database, business rules and regulations etc.</a:t>
            </a:r>
          </a:p>
          <a:p>
            <a:pPr marL="457200" lvl="1" indent="0">
              <a:buNone/>
            </a:pPr>
            <a:endParaRPr lang="en-MY" dirty="0">
              <a:ln w="0"/>
              <a:solidFill>
                <a:schemeClr val="tx1"/>
              </a:solidFill>
              <a:effectLst>
                <a:outerShdw blurRad="38100" dist="19050" dir="2700000" algn="tl" rotWithShape="0">
                  <a:schemeClr val="dk1">
                    <a:alpha val="40000"/>
                  </a:schemeClr>
                </a:outerShdw>
              </a:effectLst>
            </a:endParaRPr>
          </a:p>
          <a:p>
            <a:pPr lvl="1"/>
            <a:r>
              <a:rPr lang="en-MY" dirty="0">
                <a:ln w="0"/>
                <a:solidFill>
                  <a:srgbClr val="FF0000"/>
                </a:solidFill>
                <a:effectLst>
                  <a:outerShdw blurRad="38100" dist="19050" dir="2700000" algn="tl" rotWithShape="0">
                    <a:schemeClr val="dk1">
                      <a:alpha val="40000"/>
                    </a:schemeClr>
                  </a:outerShdw>
                </a:effectLst>
              </a:rPr>
              <a:t>Enhancement projects: </a:t>
            </a:r>
            <a:r>
              <a:rPr lang="en-MY" dirty="0">
                <a:ln w="0"/>
                <a:solidFill>
                  <a:schemeClr val="tx1"/>
                </a:solidFill>
                <a:effectLst>
                  <a:outerShdw blurRad="38100" dist="19050" dir="2700000" algn="tl" rotWithShape="0">
                    <a:schemeClr val="dk1">
                      <a:alpha val="40000"/>
                    </a:schemeClr>
                  </a:outerShdw>
                </a:effectLst>
              </a:rPr>
              <a:t>adding new features for users</a:t>
            </a:r>
          </a:p>
          <a:p>
            <a:pPr marL="457200" lvl="1" indent="0">
              <a:buNone/>
            </a:pPr>
            <a:endParaRPr lang="en-MY" dirty="0">
              <a:ln w="0"/>
              <a:solidFill>
                <a:schemeClr val="tx1"/>
              </a:solidFill>
              <a:effectLst>
                <a:outerShdw blurRad="38100" dist="19050" dir="2700000" algn="tl" rotWithShape="0">
                  <a:schemeClr val="dk1">
                    <a:alpha val="40000"/>
                  </a:schemeClr>
                </a:outerShdw>
              </a:effectLst>
            </a:endParaRPr>
          </a:p>
          <a:p>
            <a:pPr lvl="1"/>
            <a:r>
              <a:rPr lang="en-MY" dirty="0">
                <a:ln w="0"/>
                <a:solidFill>
                  <a:srgbClr val="FF0000"/>
                </a:solidFill>
                <a:effectLst>
                  <a:outerShdw blurRad="38100" dist="19050" dir="2700000" algn="tl" rotWithShape="0">
                    <a:schemeClr val="dk1">
                      <a:alpha val="40000"/>
                    </a:schemeClr>
                  </a:outerShdw>
                </a:effectLst>
              </a:rPr>
              <a:t>Re-engineering or perfective projects: </a:t>
            </a:r>
            <a:r>
              <a:rPr lang="en-MY" dirty="0">
                <a:ln w="0"/>
                <a:solidFill>
                  <a:schemeClr val="tx1"/>
                </a:solidFill>
                <a:effectLst>
                  <a:outerShdw blurRad="38100" dist="19050" dir="2700000" algn="tl" rotWithShape="0">
                    <a:schemeClr val="dk1">
                      <a:alpha val="40000"/>
                    </a:schemeClr>
                  </a:outerShdw>
                </a:effectLst>
              </a:rPr>
              <a:t>changing the system internally so it is more maintainable – functionally it works the same</a:t>
            </a:r>
          </a:p>
          <a:p>
            <a:pPr marL="457200" lvl="1" indent="0">
              <a:buNone/>
            </a:pPr>
            <a:endParaRPr lang="en-MY" dirty="0">
              <a:ln w="0"/>
              <a:solidFill>
                <a:schemeClr val="tx1"/>
              </a:solidFill>
              <a:effectLst>
                <a:outerShdw blurRad="38100" dist="19050" dir="2700000" algn="tl" rotWithShape="0">
                  <a:schemeClr val="dk1">
                    <a:alpha val="40000"/>
                  </a:schemeClr>
                </a:outerShdw>
              </a:effectLst>
            </a:endParaRPr>
          </a:p>
          <a:p>
            <a:r>
              <a:rPr lang="en-US" altLang="en-US" dirty="0">
                <a:ln w="0"/>
                <a:solidFill>
                  <a:srgbClr val="FF0000"/>
                </a:solidFill>
                <a:effectLst>
                  <a:outerShdw blurRad="38100" dist="19050" dir="2700000" algn="tl" rotWithShape="0">
                    <a:schemeClr val="dk1">
                      <a:alpha val="40000"/>
                    </a:schemeClr>
                  </a:outerShdw>
                </a:effectLst>
              </a:rPr>
              <a:t>‘Greenfield’ projects</a:t>
            </a:r>
          </a:p>
          <a:p>
            <a:pPr lvl="1"/>
            <a:r>
              <a:rPr lang="en-US" altLang="en-US" dirty="0">
                <a:ln w="0"/>
                <a:solidFill>
                  <a:schemeClr val="tx1"/>
                </a:solidFill>
                <a:effectLst>
                  <a:outerShdw blurRad="38100" dist="19050" dir="2700000" algn="tl" rotWithShape="0">
                    <a:schemeClr val="dk1">
                      <a:alpha val="40000"/>
                    </a:schemeClr>
                  </a:outerShdw>
                </a:effectLst>
              </a:rPr>
              <a:t>Totally new development</a:t>
            </a:r>
          </a:p>
          <a:p>
            <a:pPr lvl="1"/>
            <a:r>
              <a:rPr lang="en-US" altLang="en-US" dirty="0">
                <a:ln w="0"/>
                <a:solidFill>
                  <a:schemeClr val="tx1"/>
                </a:solidFill>
                <a:effectLst>
                  <a:outerShdw blurRad="38100" dist="19050" dir="2700000" algn="tl" rotWithShape="0">
                    <a:schemeClr val="dk1">
                      <a:alpha val="40000"/>
                    </a:schemeClr>
                  </a:outerShdw>
                </a:effectLst>
              </a:rPr>
              <a:t>The minority of projects</a:t>
            </a:r>
          </a:p>
          <a:p>
            <a:endParaRPr lang="en-MY" dirty="0">
              <a:ln w="0"/>
              <a:solidFill>
                <a:schemeClr val="tx1"/>
              </a:solidFill>
              <a:effectLst>
                <a:outerShdw blurRad="38100" dist="19050" dir="2700000" algn="tl" rotWithShape="0">
                  <a:schemeClr val="dk1">
                    <a:alpha val="40000"/>
                  </a:schemeClr>
                </a:outerShdw>
              </a:effectLst>
            </a:endParaRPr>
          </a:p>
        </p:txBody>
      </p:sp>
      <p:sp>
        <p:nvSpPr>
          <p:cNvPr id="4" name="TextBox 3">
            <a:extLst>
              <a:ext uri="{FF2B5EF4-FFF2-40B4-BE49-F238E27FC236}">
                <a16:creationId xmlns:a16="http://schemas.microsoft.com/office/drawing/2014/main" id="{D5439E88-11D7-5A0A-3330-D46790F16294}"/>
              </a:ext>
            </a:extLst>
          </p:cNvPr>
          <p:cNvSpPr txBox="1"/>
          <p:nvPr/>
        </p:nvSpPr>
        <p:spPr>
          <a:xfrm>
            <a:off x="6025652" y="5629955"/>
            <a:ext cx="3111695" cy="646331"/>
          </a:xfrm>
          <a:prstGeom prst="rect">
            <a:avLst/>
          </a:prstGeom>
          <a:solidFill>
            <a:srgbClr val="FFFF00"/>
          </a:solidFill>
        </p:spPr>
        <p:txBody>
          <a:bodyPr wrap="square" rtlCol="0">
            <a:spAutoFit/>
          </a:bodyPr>
          <a:lstStyle/>
          <a:p>
            <a:pPr marL="285750" indent="-285750" algn="l">
              <a:buFont typeface="Arial" panose="020B0604020202020204" pitchFamily="34" charset="0"/>
              <a:buChar char="•"/>
            </a:pPr>
            <a:r>
              <a:rPr lang="en-US" dirty="0"/>
              <a:t>Greenfield projects </a:t>
            </a:r>
          </a:p>
          <a:p>
            <a:pPr marL="285750" indent="-285750" algn="l">
              <a:buFont typeface="Arial" panose="020B0604020202020204" pitchFamily="34" charset="0"/>
              <a:buChar char="•"/>
            </a:pPr>
            <a:r>
              <a:rPr lang="en-US" dirty="0"/>
              <a:t>Brownfield projects</a:t>
            </a:r>
            <a:endParaRPr lang="en-MY" dirty="0"/>
          </a:p>
        </p:txBody>
      </p:sp>
    </p:spTree>
    <p:extLst>
      <p:ext uri="{BB962C8B-B14F-4D97-AF65-F5344CB8AC3E}">
        <p14:creationId xmlns:p14="http://schemas.microsoft.com/office/powerpoint/2010/main" val="72531650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Activities in software projects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dirty="0">
                <a:ln w="0"/>
                <a:solidFill>
                  <a:schemeClr val="tx1"/>
                </a:solidFill>
                <a:effectLst>
                  <a:outerShdw blurRad="38100" dist="19050" dir="2700000" algn="tl" rotWithShape="0">
                    <a:schemeClr val="dk1">
                      <a:alpha val="40000"/>
                    </a:schemeClr>
                  </a:outerShdw>
                </a:effectLst>
              </a:rPr>
              <a:t>Typical requirements and specification navigates 6 phases including:</a:t>
            </a:r>
          </a:p>
          <a:p>
            <a:pPr marL="914400" lvl="2" indent="0">
              <a:buNone/>
            </a:pPr>
            <a:r>
              <a:rPr lang="en-MY" u="sng" dirty="0">
                <a:ln w="0"/>
                <a:solidFill>
                  <a:srgbClr val="FF0000"/>
                </a:solidFill>
                <a:effectLst>
                  <a:outerShdw blurRad="38100" dist="19050" dir="2700000" algn="tl" rotWithShape="0">
                    <a:schemeClr val="dk1">
                      <a:alpha val="40000"/>
                    </a:schemeClr>
                  </a:outerShdw>
                </a:effectLst>
              </a:rPr>
              <a:t>[1] Domain analysis </a:t>
            </a:r>
          </a:p>
          <a:p>
            <a:pPr lvl="2"/>
            <a:r>
              <a:rPr lang="en-MY" dirty="0">
                <a:ln w="0"/>
                <a:solidFill>
                  <a:schemeClr val="tx1"/>
                </a:solidFill>
                <a:effectLst>
                  <a:outerShdw blurRad="38100" dist="19050" dir="2700000" algn="tl" rotWithShape="0">
                    <a:schemeClr val="dk1">
                      <a:alpha val="40000"/>
                    </a:schemeClr>
                  </a:outerShdw>
                </a:effectLst>
              </a:rPr>
              <a:t>Requirements gathering - obtaining input from as many sources as possible to define the problem</a:t>
            </a:r>
          </a:p>
          <a:p>
            <a:pPr lvl="2"/>
            <a:r>
              <a:rPr lang="en-MY" dirty="0">
                <a:ln w="0"/>
                <a:solidFill>
                  <a:schemeClr val="tx1"/>
                </a:solidFill>
                <a:effectLst>
                  <a:outerShdw blurRad="38100" dist="19050" dir="2700000" algn="tl" rotWithShape="0">
                    <a:schemeClr val="dk1">
                      <a:alpha val="40000"/>
                    </a:schemeClr>
                  </a:outerShdw>
                </a:effectLst>
              </a:rPr>
              <a:t>Requirements analysis - organizing the information</a:t>
            </a:r>
          </a:p>
          <a:p>
            <a:pPr lvl="2"/>
            <a:r>
              <a:rPr lang="en-MY" dirty="0">
                <a:ln w="0"/>
                <a:solidFill>
                  <a:schemeClr val="tx1"/>
                </a:solidFill>
                <a:effectLst>
                  <a:outerShdw blurRad="38100" dist="19050" dir="2700000" algn="tl" rotWithShape="0">
                    <a:schemeClr val="dk1">
                      <a:alpha val="40000"/>
                    </a:schemeClr>
                  </a:outerShdw>
                </a:effectLst>
              </a:rPr>
              <a:t>Requirements specification - writing detailed instructions about how the software should behave</a:t>
            </a:r>
          </a:p>
          <a:p>
            <a:pPr lvl="2"/>
            <a:endParaRPr lang="en-US" dirty="0">
              <a:ln w="0"/>
              <a:solidFill>
                <a:schemeClr val="tx1"/>
              </a:solidFill>
              <a:effectLst>
                <a:outerShdw blurRad="38100" dist="19050" dir="2700000" algn="tl" rotWithShape="0">
                  <a:schemeClr val="dk1">
                    <a:alpha val="40000"/>
                  </a:schemeClr>
                </a:outerShdw>
              </a:effectLst>
            </a:endParaRPr>
          </a:p>
          <a:p>
            <a:r>
              <a:rPr lang="en-US" dirty="0">
                <a:ln w="0"/>
                <a:solidFill>
                  <a:schemeClr val="tx1"/>
                </a:solidFill>
                <a:effectLst>
                  <a:outerShdw blurRad="38100" dist="19050" dir="2700000" algn="tl" rotWithShape="0">
                    <a:schemeClr val="dk1">
                      <a:alpha val="40000"/>
                    </a:schemeClr>
                  </a:outerShdw>
                </a:effectLst>
                <a:highlight>
                  <a:srgbClr val="FFFF00"/>
                </a:highlight>
              </a:rPr>
              <a:t>This phase will be covered in today’s lecture</a:t>
            </a:r>
            <a:endParaRPr lang="en-MY" dirty="0">
              <a:ln w="0"/>
              <a:solidFill>
                <a:schemeClr val="tx1"/>
              </a:solidFill>
              <a:effectLst>
                <a:outerShdw blurRad="38100" dist="19050" dir="2700000" algn="tl" rotWithShape="0">
                  <a:schemeClr val="dk1">
                    <a:alpha val="40000"/>
                  </a:schemeClr>
                </a:outerShdw>
              </a:effectLst>
              <a:highlight>
                <a:srgbClr val="FFFF00"/>
              </a:highlight>
            </a:endParaRPr>
          </a:p>
          <a:p>
            <a:pPr marL="0" indent="0">
              <a:buNone/>
            </a:pPr>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8382593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41410"/>
            <a:ext cx="8763000" cy="6246703"/>
          </a:xfrm>
        </p:spPr>
        <p:txBody>
          <a:bodyPr/>
          <a:lstStyle/>
          <a:p>
            <a:pPr marL="0" indent="0">
              <a:lnSpc>
                <a:spcPct val="90000"/>
              </a:lnSpc>
              <a:buNone/>
            </a:pPr>
            <a:r>
              <a:rPr lang="en-US" altLang="en-US" u="sng" dirty="0">
                <a:ln w="0"/>
                <a:solidFill>
                  <a:srgbClr val="FF0000"/>
                </a:solidFill>
                <a:effectLst>
                  <a:outerShdw blurRad="38100" dist="19050" dir="2700000" algn="tl" rotWithShape="0">
                    <a:schemeClr val="dk1">
                      <a:alpha val="40000"/>
                    </a:schemeClr>
                  </a:outerShdw>
                </a:effectLst>
              </a:rPr>
              <a:t>[2] Design</a:t>
            </a:r>
          </a:p>
          <a:p>
            <a:pPr lvl="1">
              <a:lnSpc>
                <a:spcPct val="90000"/>
              </a:lnSpc>
            </a:pPr>
            <a:r>
              <a:rPr lang="en-US" altLang="en-US" dirty="0">
                <a:ln w="0"/>
                <a:solidFill>
                  <a:schemeClr val="tx1"/>
                </a:solidFill>
                <a:effectLst>
                  <a:outerShdw blurRad="38100" dist="19050" dir="2700000" algn="tl" rotWithShape="0">
                    <a:schemeClr val="dk1">
                      <a:alpha val="40000"/>
                    </a:schemeClr>
                  </a:outerShdw>
                </a:effectLst>
              </a:rPr>
              <a:t>Deciding how the requirements should be implemented, using the available technology. Includes:</a:t>
            </a:r>
          </a:p>
          <a:p>
            <a:pPr lvl="2">
              <a:lnSpc>
                <a:spcPct val="90000"/>
              </a:lnSpc>
            </a:pPr>
            <a:r>
              <a:rPr lang="en-US" altLang="en-US" i="1" dirty="0">
                <a:ln w="0"/>
                <a:solidFill>
                  <a:schemeClr val="tx1"/>
                </a:solidFill>
                <a:effectLst>
                  <a:outerShdw blurRad="38100" dist="19050" dir="2700000" algn="tl" rotWithShape="0">
                    <a:schemeClr val="dk1">
                      <a:alpha val="40000"/>
                    </a:schemeClr>
                  </a:outerShdw>
                </a:effectLst>
              </a:rPr>
              <a:t>Systems engineering</a:t>
            </a:r>
            <a:r>
              <a:rPr lang="en-US" altLang="en-US" dirty="0">
                <a:ln w="0"/>
                <a:solidFill>
                  <a:schemeClr val="tx1"/>
                </a:solidFill>
                <a:effectLst>
                  <a:outerShdw blurRad="38100" dist="19050" dir="2700000" algn="tl" rotWithShape="0">
                    <a:schemeClr val="dk1">
                      <a:alpha val="40000"/>
                    </a:schemeClr>
                  </a:outerShdw>
                </a:effectLst>
              </a:rPr>
              <a:t>: Deciding what should be in hardware and what in software</a:t>
            </a:r>
          </a:p>
          <a:p>
            <a:pPr lvl="2">
              <a:lnSpc>
                <a:spcPct val="90000"/>
              </a:lnSpc>
            </a:pPr>
            <a:r>
              <a:rPr lang="en-US" altLang="en-US" i="1" dirty="0">
                <a:ln w="0"/>
                <a:solidFill>
                  <a:schemeClr val="tx1"/>
                </a:solidFill>
                <a:effectLst>
                  <a:outerShdw blurRad="38100" dist="19050" dir="2700000" algn="tl" rotWithShape="0">
                    <a:schemeClr val="dk1">
                      <a:alpha val="40000"/>
                    </a:schemeClr>
                  </a:outerShdw>
                </a:effectLst>
              </a:rPr>
              <a:t>Software architecture</a:t>
            </a:r>
            <a:r>
              <a:rPr lang="en-US" altLang="en-US" dirty="0">
                <a:ln w="0"/>
                <a:solidFill>
                  <a:schemeClr val="tx1"/>
                </a:solidFill>
                <a:effectLst>
                  <a:outerShdw blurRad="38100" dist="19050" dir="2700000" algn="tl" rotWithShape="0">
                    <a:schemeClr val="dk1">
                      <a:alpha val="40000"/>
                    </a:schemeClr>
                  </a:outerShdw>
                </a:effectLst>
              </a:rPr>
              <a:t>: Dividing the system into subsystems and deciding how the subsystems will interact</a:t>
            </a:r>
          </a:p>
          <a:p>
            <a:pPr lvl="2">
              <a:lnSpc>
                <a:spcPct val="90000"/>
              </a:lnSpc>
            </a:pPr>
            <a:r>
              <a:rPr lang="en-US" altLang="en-US" i="1" dirty="0">
                <a:ln w="0"/>
                <a:solidFill>
                  <a:schemeClr val="tx1"/>
                </a:solidFill>
                <a:effectLst>
                  <a:outerShdw blurRad="38100" dist="19050" dir="2700000" algn="tl" rotWithShape="0">
                    <a:schemeClr val="dk1">
                      <a:alpha val="40000"/>
                    </a:schemeClr>
                  </a:outerShdw>
                </a:effectLst>
              </a:rPr>
              <a:t>Detailed design</a:t>
            </a:r>
            <a:r>
              <a:rPr lang="en-US" altLang="en-US" dirty="0">
                <a:ln w="0"/>
                <a:solidFill>
                  <a:schemeClr val="tx1"/>
                </a:solidFill>
                <a:effectLst>
                  <a:outerShdw blurRad="38100" dist="19050" dir="2700000" algn="tl" rotWithShape="0">
                    <a:schemeClr val="dk1">
                      <a:alpha val="40000"/>
                    </a:schemeClr>
                  </a:outerShdw>
                </a:effectLst>
              </a:rPr>
              <a:t> of the internals of a subsystem</a:t>
            </a:r>
          </a:p>
          <a:p>
            <a:pPr lvl="2">
              <a:lnSpc>
                <a:spcPct val="90000"/>
              </a:lnSpc>
            </a:pPr>
            <a:r>
              <a:rPr lang="en-US" altLang="en-US" i="1" dirty="0">
                <a:ln w="0"/>
                <a:solidFill>
                  <a:schemeClr val="tx1"/>
                </a:solidFill>
                <a:effectLst>
                  <a:outerShdw blurRad="38100" dist="19050" dir="2700000" algn="tl" rotWithShape="0">
                    <a:schemeClr val="dk1">
                      <a:alpha val="40000"/>
                    </a:schemeClr>
                  </a:outerShdw>
                </a:effectLst>
              </a:rPr>
              <a:t>User interface and database design</a:t>
            </a:r>
          </a:p>
          <a:p>
            <a:pPr marL="0" indent="0">
              <a:lnSpc>
                <a:spcPct val="90000"/>
              </a:lnSpc>
              <a:buNone/>
            </a:pPr>
            <a:r>
              <a:rPr lang="en-US" altLang="en-US" u="sng" dirty="0">
                <a:ln w="0"/>
                <a:solidFill>
                  <a:srgbClr val="FF0000"/>
                </a:solidFill>
                <a:effectLst>
                  <a:outerShdw blurRad="38100" dist="19050" dir="2700000" algn="tl" rotWithShape="0">
                    <a:schemeClr val="dk1">
                      <a:alpha val="40000"/>
                    </a:schemeClr>
                  </a:outerShdw>
                </a:effectLst>
              </a:rPr>
              <a:t>[3] Modeling</a:t>
            </a:r>
          </a:p>
          <a:p>
            <a:pPr lvl="1">
              <a:lnSpc>
                <a:spcPct val="90000"/>
              </a:lnSpc>
            </a:pPr>
            <a:r>
              <a:rPr lang="en-US" altLang="en-US" dirty="0">
                <a:ln w="0"/>
                <a:solidFill>
                  <a:schemeClr val="tx1"/>
                </a:solidFill>
                <a:effectLst>
                  <a:outerShdw blurRad="38100" dist="19050" dir="2700000" algn="tl" rotWithShape="0">
                    <a:schemeClr val="dk1">
                      <a:alpha val="40000"/>
                    </a:schemeClr>
                  </a:outerShdw>
                </a:effectLst>
              </a:rPr>
              <a:t>Creating representations of the domain or the software using UML diagrams</a:t>
            </a:r>
          </a:p>
          <a:p>
            <a:pPr marL="0" indent="0">
              <a:lnSpc>
                <a:spcPct val="90000"/>
              </a:lnSpc>
              <a:buNone/>
            </a:pPr>
            <a:r>
              <a:rPr lang="en-US" altLang="en-US" u="sng" dirty="0">
                <a:ln w="0"/>
                <a:solidFill>
                  <a:srgbClr val="FF0000"/>
                </a:solidFill>
                <a:effectLst>
                  <a:outerShdw blurRad="38100" dist="19050" dir="2700000" algn="tl" rotWithShape="0">
                    <a:schemeClr val="dk1">
                      <a:alpha val="40000"/>
                    </a:schemeClr>
                  </a:outerShdw>
                </a:effectLst>
              </a:rPr>
              <a:t>[4] Programming / prototyping / versioning</a:t>
            </a:r>
          </a:p>
          <a:p>
            <a:pPr marL="0" indent="0">
              <a:lnSpc>
                <a:spcPct val="90000"/>
              </a:lnSpc>
              <a:buNone/>
            </a:pPr>
            <a:r>
              <a:rPr lang="en-US" altLang="en-US" u="sng" dirty="0">
                <a:ln w="0"/>
                <a:solidFill>
                  <a:srgbClr val="FF0000"/>
                </a:solidFill>
                <a:effectLst>
                  <a:outerShdw blurRad="38100" dist="19050" dir="2700000" algn="tl" rotWithShape="0">
                    <a:schemeClr val="dk1">
                      <a:alpha val="40000"/>
                    </a:schemeClr>
                  </a:outerShdw>
                </a:effectLst>
              </a:rPr>
              <a:t>[5] Quality assurance</a:t>
            </a:r>
          </a:p>
          <a:p>
            <a:pPr lvl="1">
              <a:lnSpc>
                <a:spcPct val="90000"/>
              </a:lnSpc>
            </a:pPr>
            <a:r>
              <a:rPr lang="en-US" altLang="en-US" dirty="0">
                <a:ln w="0"/>
                <a:solidFill>
                  <a:schemeClr val="tx1"/>
                </a:solidFill>
                <a:effectLst>
                  <a:outerShdw blurRad="38100" dist="19050" dir="2700000" algn="tl" rotWithShape="0">
                    <a:schemeClr val="dk1">
                      <a:alpha val="40000"/>
                    </a:schemeClr>
                  </a:outerShdw>
                </a:effectLst>
              </a:rPr>
              <a:t>Reviews and inspections</a:t>
            </a:r>
          </a:p>
          <a:p>
            <a:pPr lvl="1">
              <a:lnSpc>
                <a:spcPct val="90000"/>
              </a:lnSpc>
            </a:pPr>
            <a:r>
              <a:rPr lang="en-US" altLang="en-US" dirty="0">
                <a:ln w="0"/>
                <a:solidFill>
                  <a:schemeClr val="tx1"/>
                </a:solidFill>
                <a:effectLst>
                  <a:outerShdw blurRad="38100" dist="19050" dir="2700000" algn="tl" rotWithShape="0">
                    <a:schemeClr val="dk1">
                      <a:alpha val="40000"/>
                    </a:schemeClr>
                  </a:outerShdw>
                </a:effectLst>
              </a:rPr>
              <a:t>Testing</a:t>
            </a:r>
          </a:p>
          <a:p>
            <a:pPr marL="0" indent="0">
              <a:lnSpc>
                <a:spcPct val="90000"/>
              </a:lnSpc>
              <a:buNone/>
            </a:pPr>
            <a:r>
              <a:rPr lang="en-US" altLang="en-US" u="sng" dirty="0">
                <a:ln w="0"/>
                <a:solidFill>
                  <a:srgbClr val="FF0000"/>
                </a:solidFill>
                <a:effectLst>
                  <a:outerShdw blurRad="38100" dist="19050" dir="2700000" algn="tl" rotWithShape="0">
                    <a:schemeClr val="dk1">
                      <a:alpha val="40000"/>
                    </a:schemeClr>
                  </a:outerShdw>
                </a:effectLst>
              </a:rPr>
              <a:t>[6] Deployment/Maintenance</a:t>
            </a:r>
          </a:p>
          <a:p>
            <a:pPr marL="0" indent="0">
              <a:lnSpc>
                <a:spcPct val="90000"/>
              </a:lnSpc>
              <a:buNone/>
            </a:pPr>
            <a:endParaRPr lang="en-MY" u="sng" dirty="0">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1867350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How does this map to design models?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A different course may cover content such as waterfall, V, spiral, Boehm etc.</a:t>
            </a:r>
          </a:p>
          <a:p>
            <a:r>
              <a:rPr lang="en-US" dirty="0">
                <a:ln w="0"/>
                <a:solidFill>
                  <a:schemeClr val="tx1"/>
                </a:solidFill>
                <a:effectLst>
                  <a:outerShdw blurRad="38100" dist="19050" dir="2700000" algn="tl" rotWithShape="0">
                    <a:schemeClr val="dk1">
                      <a:alpha val="40000"/>
                    </a:schemeClr>
                  </a:outerShdw>
                </a:effectLst>
              </a:rPr>
              <a:t>These models (or methodologies) are generic and work with both traditional and OO development styles</a:t>
            </a:r>
          </a:p>
          <a:p>
            <a:r>
              <a:rPr lang="en-US" dirty="0">
                <a:ln w="0"/>
                <a:solidFill>
                  <a:schemeClr val="tx1"/>
                </a:solidFill>
                <a:effectLst>
                  <a:outerShdw blurRad="38100" dist="19050" dir="2700000" algn="tl" rotWithShape="0">
                    <a:schemeClr val="dk1">
                      <a:alpha val="40000"/>
                    </a:schemeClr>
                  </a:outerShdw>
                </a:effectLst>
              </a:rPr>
              <a:t>OOAD is </a:t>
            </a:r>
            <a:r>
              <a:rPr lang="en-US" i="1" u="sng" dirty="0">
                <a:ln w="0"/>
                <a:solidFill>
                  <a:schemeClr val="tx1"/>
                </a:solidFill>
                <a:effectLst>
                  <a:outerShdw blurRad="38100" dist="19050" dir="2700000" algn="tl" rotWithShape="0">
                    <a:schemeClr val="dk1">
                      <a:alpha val="40000"/>
                    </a:schemeClr>
                  </a:outerShdw>
                </a:effectLst>
              </a:rPr>
              <a:t>complementary</a:t>
            </a:r>
            <a:r>
              <a:rPr lang="en-US" dirty="0">
                <a:ln w="0"/>
                <a:solidFill>
                  <a:schemeClr val="tx1"/>
                </a:solidFill>
                <a:effectLst>
                  <a:outerShdw blurRad="38100" dist="19050" dir="2700000" algn="tl" rotWithShape="0">
                    <a:schemeClr val="dk1">
                      <a:alpha val="40000"/>
                    </a:schemeClr>
                  </a:outerShdw>
                </a:effectLst>
              </a:rPr>
              <a:t> to software design and is not meant to replace it</a:t>
            </a:r>
            <a:endParaRPr lang="en-MY" dirty="0">
              <a:ln w="0"/>
              <a:solidFill>
                <a:schemeClr val="tx1"/>
              </a:solidFill>
              <a:effectLst>
                <a:outerShdw blurRad="38100" dist="19050" dir="2700000" algn="tl" rotWithShape="0">
                  <a:schemeClr val="dk1">
                    <a:alpha val="40000"/>
                  </a:schemeClr>
                </a:outerShdw>
              </a:effectLst>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400" y="3266240"/>
            <a:ext cx="4897647" cy="303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descr="http://www.csse.monash.edu.au/~jonmc/CSE2305/Topics/07.13.SWEng1/html/spiral.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260" y="3277210"/>
            <a:ext cx="3157965" cy="303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38920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Domain analysis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dirty="0">
                <a:ln w="0"/>
                <a:solidFill>
                  <a:schemeClr val="tx1"/>
                </a:solidFill>
                <a:effectLst>
                  <a:outerShdw blurRad="38100" dist="19050" dir="2700000" algn="tl" rotWithShape="0">
                    <a:schemeClr val="dk1">
                      <a:alpha val="40000"/>
                    </a:schemeClr>
                  </a:outerShdw>
                </a:effectLst>
              </a:rPr>
              <a:t>The software engineer learns about the domain to better understand the problem</a:t>
            </a:r>
          </a:p>
          <a:p>
            <a:pPr lvl="1"/>
            <a:r>
              <a:rPr lang="en-MY" dirty="0">
                <a:ln w="0"/>
                <a:solidFill>
                  <a:schemeClr val="tx1"/>
                </a:solidFill>
                <a:effectLst>
                  <a:outerShdw blurRad="38100" dist="19050" dir="2700000" algn="tl" rotWithShape="0">
                    <a:schemeClr val="dk1">
                      <a:alpha val="40000"/>
                    </a:schemeClr>
                  </a:outerShdw>
                </a:effectLst>
              </a:rPr>
              <a:t>The domain is the </a:t>
            </a:r>
            <a:r>
              <a:rPr lang="en-MY" dirty="0">
                <a:ln w="0"/>
                <a:solidFill>
                  <a:srgbClr val="FF0000"/>
                </a:solidFill>
                <a:effectLst>
                  <a:outerShdw blurRad="38100" dist="19050" dir="2700000" algn="tl" rotWithShape="0">
                    <a:schemeClr val="dk1">
                      <a:alpha val="40000"/>
                    </a:schemeClr>
                  </a:outerShdw>
                </a:effectLst>
              </a:rPr>
              <a:t>general field of business or technology in which the customer/clients will use the software</a:t>
            </a:r>
          </a:p>
          <a:p>
            <a:pPr lvl="1"/>
            <a:r>
              <a:rPr lang="en-MY" dirty="0">
                <a:ln w="0"/>
                <a:solidFill>
                  <a:schemeClr val="tx1"/>
                </a:solidFill>
                <a:effectLst>
                  <a:outerShdw blurRad="38100" dist="19050" dir="2700000" algn="tl" rotWithShape="0">
                    <a:schemeClr val="dk1">
                      <a:alpha val="40000"/>
                    </a:schemeClr>
                  </a:outerShdw>
                </a:effectLst>
              </a:rPr>
              <a:t>A domain expert is </a:t>
            </a:r>
            <a:r>
              <a:rPr lang="en-MY" dirty="0">
                <a:ln w="0"/>
                <a:solidFill>
                  <a:srgbClr val="FF0000"/>
                </a:solidFill>
                <a:effectLst>
                  <a:outerShdw blurRad="38100" dist="19050" dir="2700000" algn="tl" rotWithShape="0">
                    <a:schemeClr val="dk1">
                      <a:alpha val="40000"/>
                    </a:schemeClr>
                  </a:outerShdw>
                </a:effectLst>
              </a:rPr>
              <a:t>a person who has a deep  knowledge of the domain </a:t>
            </a:r>
            <a:r>
              <a:rPr lang="en-MY" dirty="0">
                <a:ln w="0"/>
                <a:solidFill>
                  <a:schemeClr val="tx1"/>
                </a:solidFill>
                <a:effectLst>
                  <a:outerShdw blurRad="38100" dist="19050" dir="2700000" algn="tl" rotWithShape="0">
                    <a:schemeClr val="dk1">
                      <a:alpha val="40000"/>
                    </a:schemeClr>
                  </a:outerShdw>
                </a:effectLst>
              </a:rPr>
              <a:t>– usually a well-versed client or possible another software engineer!</a:t>
            </a:r>
          </a:p>
          <a:p>
            <a:endParaRPr lang="en-MY" dirty="0">
              <a:ln w="0"/>
              <a:solidFill>
                <a:schemeClr val="tx1"/>
              </a:solidFill>
              <a:effectLst>
                <a:outerShdw blurRad="38100" dist="19050" dir="2700000" algn="tl" rotWithShape="0">
                  <a:schemeClr val="dk1">
                    <a:alpha val="40000"/>
                  </a:schemeClr>
                </a:outerShdw>
              </a:effectLst>
            </a:endParaRPr>
          </a:p>
          <a:p>
            <a:r>
              <a:rPr lang="en-MY" dirty="0">
                <a:ln w="0"/>
                <a:solidFill>
                  <a:schemeClr val="tx1"/>
                </a:solidFill>
                <a:effectLst>
                  <a:outerShdw blurRad="38100" dist="19050" dir="2700000" algn="tl" rotWithShape="0">
                    <a:schemeClr val="dk1">
                      <a:alpha val="40000"/>
                    </a:schemeClr>
                  </a:outerShdw>
                </a:effectLst>
              </a:rPr>
              <a:t>Benefits of performing domain analysis:</a:t>
            </a:r>
          </a:p>
          <a:p>
            <a:pPr lvl="2"/>
            <a:r>
              <a:rPr lang="en-MY" dirty="0">
                <a:ln w="0"/>
                <a:solidFill>
                  <a:schemeClr val="tx1"/>
                </a:solidFill>
                <a:effectLst>
                  <a:outerShdw blurRad="38100" dist="19050" dir="2700000" algn="tl" rotWithShape="0">
                    <a:schemeClr val="dk1">
                      <a:alpha val="40000"/>
                    </a:schemeClr>
                  </a:outerShdw>
                </a:effectLst>
              </a:rPr>
              <a:t>Faster development</a:t>
            </a:r>
          </a:p>
          <a:p>
            <a:pPr lvl="2"/>
            <a:r>
              <a:rPr lang="en-MY" dirty="0">
                <a:ln w="0"/>
                <a:solidFill>
                  <a:schemeClr val="tx1"/>
                </a:solidFill>
                <a:effectLst>
                  <a:outerShdw blurRad="38100" dist="19050" dir="2700000" algn="tl" rotWithShape="0">
                    <a:schemeClr val="dk1">
                      <a:alpha val="40000"/>
                    </a:schemeClr>
                  </a:outerShdw>
                </a:effectLst>
              </a:rPr>
              <a:t>Better system (less errors)</a:t>
            </a:r>
          </a:p>
          <a:p>
            <a:pPr lvl="2"/>
            <a:r>
              <a:rPr lang="en-MY" dirty="0">
                <a:ln w="0"/>
                <a:solidFill>
                  <a:schemeClr val="tx1"/>
                </a:solidFill>
                <a:effectLst>
                  <a:outerShdw blurRad="38100" dist="19050" dir="2700000" algn="tl" rotWithShape="0">
                    <a:schemeClr val="dk1">
                      <a:alpha val="40000"/>
                    </a:schemeClr>
                  </a:outerShdw>
                </a:effectLst>
              </a:rPr>
              <a:t>Anticipation of extensions (preparation for future)</a:t>
            </a:r>
          </a:p>
          <a:p>
            <a:pPr lvl="2"/>
            <a:endParaRPr lang="en-US" dirty="0">
              <a:ln w="0"/>
              <a:solidFill>
                <a:schemeClr val="tx1"/>
              </a:solidFill>
              <a:effectLst>
                <a:outerShdw blurRad="38100" dist="19050" dir="2700000" algn="tl" rotWithShape="0">
                  <a:schemeClr val="dk1">
                    <a:alpha val="40000"/>
                  </a:schemeClr>
                </a:outerShdw>
              </a:effectLst>
            </a:endParaRPr>
          </a:p>
          <a:p>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2789918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p:cNvSpPr/>
          <p:nvPr/>
        </p:nvSpPr>
        <p:spPr bwMode="auto">
          <a:xfrm>
            <a:off x="170090" y="1455730"/>
            <a:ext cx="8727925" cy="3870645"/>
          </a:xfrm>
          <a:prstGeom prst="rect">
            <a:avLst/>
          </a:prstGeom>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The starting point of software projects</a:t>
            </a:r>
            <a:endParaRPr lang="en-MY" dirty="0">
              <a:ln w="0"/>
              <a:solidFill>
                <a:schemeClr val="tx1"/>
              </a:solidFill>
              <a:effectLst>
                <a:outerShdw blurRad="38100" dist="19050" dir="2700000" algn="tl" rotWithShape="0">
                  <a:schemeClr val="dk1">
                    <a:alpha val="40000"/>
                  </a:schemeClr>
                </a:outerShdw>
              </a:effectLs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880" y="1607520"/>
            <a:ext cx="8420088" cy="356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170850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Problem definition</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dirty="0">
                <a:ln w="0"/>
                <a:solidFill>
                  <a:schemeClr val="tx1"/>
                </a:solidFill>
                <a:effectLst>
                  <a:outerShdw blurRad="38100" dist="19050" dir="2700000" algn="tl" rotWithShape="0">
                    <a:schemeClr val="dk1">
                      <a:alpha val="40000"/>
                    </a:schemeClr>
                  </a:outerShdw>
                </a:effectLst>
              </a:rPr>
              <a:t>A problem can be expressed as: </a:t>
            </a:r>
          </a:p>
          <a:p>
            <a:pPr lvl="1"/>
            <a:r>
              <a:rPr lang="en-MY" dirty="0">
                <a:ln w="0"/>
                <a:solidFill>
                  <a:schemeClr val="tx1"/>
                </a:solidFill>
                <a:effectLst>
                  <a:outerShdw blurRad="38100" dist="19050" dir="2700000" algn="tl" rotWithShape="0">
                    <a:schemeClr val="dk1">
                      <a:alpha val="40000"/>
                    </a:schemeClr>
                  </a:outerShdw>
                </a:effectLst>
              </a:rPr>
              <a:t>A difficulty the users or customers are facing </a:t>
            </a:r>
          </a:p>
          <a:p>
            <a:pPr lvl="1"/>
            <a:r>
              <a:rPr lang="en-MY" dirty="0">
                <a:ln w="0"/>
                <a:solidFill>
                  <a:schemeClr val="tx1"/>
                </a:solidFill>
                <a:effectLst>
                  <a:outerShdw blurRad="38100" dist="19050" dir="2700000" algn="tl" rotWithShape="0">
                    <a:schemeClr val="dk1">
                      <a:alpha val="40000"/>
                    </a:schemeClr>
                  </a:outerShdw>
                </a:effectLst>
              </a:rPr>
              <a:t>Or as an opportunity that will result in some benefit such as improved productivity or sales </a:t>
            </a:r>
          </a:p>
          <a:p>
            <a:r>
              <a:rPr lang="en-MY" dirty="0">
                <a:ln w="0"/>
                <a:solidFill>
                  <a:schemeClr val="tx1"/>
                </a:solidFill>
                <a:effectLst>
                  <a:outerShdw blurRad="38100" dist="19050" dir="2700000" algn="tl" rotWithShape="0">
                    <a:schemeClr val="dk1">
                      <a:alpha val="40000"/>
                    </a:schemeClr>
                  </a:outerShdw>
                </a:effectLst>
              </a:rPr>
              <a:t>The solution to the problem normally will entail developing software – that’s what we’re here for!</a:t>
            </a:r>
          </a:p>
          <a:p>
            <a:r>
              <a:rPr lang="en-MY" dirty="0">
                <a:ln w="0"/>
                <a:solidFill>
                  <a:schemeClr val="tx1"/>
                </a:solidFill>
                <a:effectLst>
                  <a:outerShdw blurRad="38100" dist="19050" dir="2700000" algn="tl" rotWithShape="0">
                    <a:schemeClr val="dk1">
                      <a:alpha val="40000"/>
                    </a:schemeClr>
                  </a:outerShdw>
                </a:effectLst>
              </a:rPr>
              <a:t>A good problem statement is short and succinct</a:t>
            </a:r>
          </a:p>
          <a:p>
            <a:r>
              <a:rPr lang="en-US" dirty="0">
                <a:ln w="0"/>
                <a:solidFill>
                  <a:schemeClr val="tx1"/>
                </a:solidFill>
                <a:effectLst>
                  <a:outerShdw blurRad="38100" dist="19050" dir="2700000" algn="tl" rotWithShape="0">
                    <a:schemeClr val="dk1">
                      <a:alpha val="40000"/>
                    </a:schemeClr>
                  </a:outerShdw>
                </a:effectLst>
              </a:rPr>
              <a:t>It should be straight to the point and un-ambiguous</a:t>
            </a:r>
          </a:p>
          <a:p>
            <a:r>
              <a:rPr lang="en-US" dirty="0">
                <a:ln w="0"/>
                <a:solidFill>
                  <a:schemeClr val="tx1"/>
                </a:solidFill>
                <a:effectLst>
                  <a:outerShdw blurRad="38100" dist="19050" dir="2700000" algn="tl" rotWithShape="0">
                    <a:schemeClr val="dk1">
                      <a:alpha val="40000"/>
                    </a:schemeClr>
                  </a:outerShdw>
                </a:effectLst>
              </a:rPr>
              <a:t>The definition should cover ONE (1) problem (or at least can treat multiple smaller ones and one large one) – else there may be multiple problem definitions, thus there may be multiple projects</a:t>
            </a:r>
          </a:p>
          <a:p>
            <a:r>
              <a:rPr lang="en-US" dirty="0">
                <a:ln w="0"/>
                <a:solidFill>
                  <a:schemeClr val="tx1"/>
                </a:solidFill>
                <a:effectLst>
                  <a:outerShdw blurRad="38100" dist="19050" dir="2700000" algn="tl" rotWithShape="0">
                    <a:schemeClr val="dk1">
                      <a:alpha val="40000"/>
                    </a:schemeClr>
                  </a:outerShdw>
                </a:effectLst>
              </a:rPr>
              <a:t>The problem definition will lead into discovering the project requirements</a:t>
            </a:r>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9314169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Problem scope</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GB" altLang="en-US" dirty="0">
                <a:ln w="0"/>
                <a:solidFill>
                  <a:schemeClr val="tx1"/>
                </a:solidFill>
                <a:effectLst>
                  <a:outerShdw blurRad="38100" dist="19050" dir="2700000" algn="tl" rotWithShape="0">
                    <a:schemeClr val="dk1">
                      <a:alpha val="40000"/>
                    </a:schemeClr>
                  </a:outerShdw>
                </a:effectLst>
              </a:rPr>
              <a:t>Narrow the </a:t>
            </a:r>
            <a:r>
              <a:rPr lang="en-GB" altLang="en-US" i="1" dirty="0">
                <a:ln w="0"/>
                <a:solidFill>
                  <a:schemeClr val="tx1"/>
                </a:solidFill>
                <a:effectLst>
                  <a:outerShdw blurRad="38100" dist="19050" dir="2700000" algn="tl" rotWithShape="0">
                    <a:schemeClr val="dk1">
                      <a:alpha val="40000"/>
                    </a:schemeClr>
                  </a:outerShdw>
                </a:effectLst>
              </a:rPr>
              <a:t>scope</a:t>
            </a:r>
            <a:r>
              <a:rPr lang="en-GB" altLang="en-US" dirty="0">
                <a:ln w="0"/>
                <a:solidFill>
                  <a:schemeClr val="tx1"/>
                </a:solidFill>
                <a:effectLst>
                  <a:outerShdw blurRad="38100" dist="19050" dir="2700000" algn="tl" rotWithShape="0">
                    <a:schemeClr val="dk1">
                      <a:alpha val="40000"/>
                    </a:schemeClr>
                  </a:outerShdw>
                </a:effectLst>
              </a:rPr>
              <a:t> by defining a more precise problem</a:t>
            </a:r>
            <a:r>
              <a:rPr lang="en-US" altLang="en-US" dirty="0">
                <a:ln w="0"/>
                <a:solidFill>
                  <a:schemeClr val="tx1"/>
                </a:solidFill>
                <a:effectLst>
                  <a:outerShdw blurRad="38100" dist="19050" dir="2700000" algn="tl" rotWithShape="0">
                    <a:schemeClr val="dk1">
                      <a:alpha val="40000"/>
                    </a:schemeClr>
                  </a:outerShdw>
                </a:effectLst>
              </a:rPr>
              <a:t> </a:t>
            </a:r>
          </a:p>
          <a:p>
            <a:pPr lvl="1"/>
            <a:r>
              <a:rPr lang="en-GB" altLang="en-US" dirty="0">
                <a:ln w="0"/>
                <a:solidFill>
                  <a:schemeClr val="tx1"/>
                </a:solidFill>
                <a:effectLst>
                  <a:outerShdw blurRad="38100" dist="19050" dir="2700000" algn="tl" rotWithShape="0">
                    <a:schemeClr val="dk1">
                      <a:alpha val="40000"/>
                    </a:schemeClr>
                  </a:outerShdw>
                </a:effectLst>
              </a:rPr>
              <a:t>List all the things you might imagine the system doing</a:t>
            </a:r>
            <a:r>
              <a:rPr lang="en-US" altLang="en-US" dirty="0">
                <a:ln w="0"/>
                <a:solidFill>
                  <a:schemeClr val="tx1"/>
                </a:solidFill>
                <a:effectLst>
                  <a:outerShdw blurRad="38100" dist="19050" dir="2700000" algn="tl" rotWithShape="0">
                    <a:schemeClr val="dk1">
                      <a:alpha val="40000"/>
                    </a:schemeClr>
                  </a:outerShdw>
                </a:effectLst>
              </a:rPr>
              <a:t> </a:t>
            </a:r>
          </a:p>
          <a:p>
            <a:pPr lvl="2"/>
            <a:r>
              <a:rPr lang="en-GB" altLang="en-US" dirty="0">
                <a:ln w="0"/>
                <a:solidFill>
                  <a:schemeClr val="tx1"/>
                </a:solidFill>
                <a:effectLst>
                  <a:outerShdw blurRad="38100" dist="19050" dir="2700000" algn="tl" rotWithShape="0">
                    <a:schemeClr val="dk1">
                      <a:alpha val="40000"/>
                    </a:schemeClr>
                  </a:outerShdw>
                </a:effectLst>
              </a:rPr>
              <a:t>Exclude some of these things if too broad</a:t>
            </a:r>
          </a:p>
          <a:p>
            <a:pPr lvl="2"/>
            <a:r>
              <a:rPr lang="en-GB" altLang="en-US" dirty="0">
                <a:ln w="0"/>
                <a:solidFill>
                  <a:schemeClr val="tx1"/>
                </a:solidFill>
                <a:effectLst>
                  <a:outerShdw blurRad="38100" dist="19050" dir="2700000" algn="tl" rotWithShape="0">
                    <a:schemeClr val="dk1">
                      <a:alpha val="40000"/>
                    </a:schemeClr>
                  </a:outerShdw>
                </a:effectLst>
              </a:rPr>
              <a:t>Combine those that have reasons to work together (or should go together)</a:t>
            </a:r>
          </a:p>
          <a:p>
            <a:pPr lvl="2"/>
            <a:r>
              <a:rPr lang="en-GB" altLang="en-US" dirty="0">
                <a:ln w="0"/>
                <a:solidFill>
                  <a:schemeClr val="tx1"/>
                </a:solidFill>
                <a:effectLst>
                  <a:outerShdw blurRad="38100" dist="19050" dir="2700000" algn="tl" rotWithShape="0">
                    <a:schemeClr val="dk1">
                      <a:alpha val="40000"/>
                    </a:schemeClr>
                  </a:outerShdw>
                </a:effectLst>
              </a:rPr>
              <a:t>Determine high-level goals if too narrow (summary goals)</a:t>
            </a:r>
          </a:p>
          <a:p>
            <a:r>
              <a:rPr lang="en-US" dirty="0">
                <a:ln w="0"/>
                <a:solidFill>
                  <a:schemeClr val="tx1"/>
                </a:solidFill>
                <a:effectLst>
                  <a:outerShdw blurRad="38100" dist="19050" dir="2700000" algn="tl" rotWithShape="0">
                    <a:schemeClr val="dk1">
                      <a:alpha val="40000"/>
                    </a:schemeClr>
                  </a:outerShdw>
                </a:effectLst>
              </a:rPr>
              <a:t>Example – university registration system</a:t>
            </a:r>
            <a:endParaRPr lang="en-MY" dirty="0">
              <a:ln w="0"/>
              <a:solidFill>
                <a:schemeClr val="tx1"/>
              </a:solidFill>
              <a:effectLst>
                <a:outerShdw blurRad="38100" dist="19050" dir="2700000" algn="tl" rotWithShape="0">
                  <a:schemeClr val="dk1">
                    <a:alpha val="40000"/>
                  </a:schemeClr>
                </a:outerShdw>
              </a:effectLst>
            </a:endParaRPr>
          </a:p>
        </p:txBody>
      </p:sp>
      <p:sp>
        <p:nvSpPr>
          <p:cNvPr id="8" name="Rectangle 7"/>
          <p:cNvSpPr/>
          <p:nvPr/>
        </p:nvSpPr>
        <p:spPr bwMode="auto">
          <a:xfrm>
            <a:off x="321880" y="3808474"/>
            <a:ext cx="8576135" cy="2656325"/>
          </a:xfrm>
          <a:prstGeom prst="rect">
            <a:avLst/>
          </a:prstGeom>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90" y="3808475"/>
            <a:ext cx="8637583" cy="250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258656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Defining requirements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381000" y="773113"/>
            <a:ext cx="8668805" cy="5715000"/>
          </a:xfrm>
        </p:spPr>
        <p:txBody>
          <a:bodyPr/>
          <a:lstStyle/>
          <a:p>
            <a:r>
              <a:rPr lang="en-US" dirty="0">
                <a:ln w="0"/>
                <a:solidFill>
                  <a:schemeClr val="tx1"/>
                </a:solidFill>
                <a:effectLst>
                  <a:outerShdw blurRad="38100" dist="19050" dir="2700000" algn="tl" rotWithShape="0">
                    <a:schemeClr val="dk1">
                      <a:alpha val="40000"/>
                    </a:schemeClr>
                  </a:outerShdw>
                </a:effectLst>
              </a:rPr>
              <a:t>What is a requirement?</a:t>
            </a:r>
          </a:p>
          <a:p>
            <a:pPr marL="0" indent="0" algn="just">
              <a:buNone/>
            </a:pPr>
            <a:r>
              <a:rPr lang="en-US" altLang="en-US" dirty="0">
                <a:ln w="0"/>
                <a:solidFill>
                  <a:schemeClr val="tx1"/>
                </a:solidFill>
                <a:effectLst>
                  <a:outerShdw blurRad="38100" dist="19050" dir="2700000" algn="tl" rotWithShape="0">
                    <a:schemeClr val="dk1">
                      <a:alpha val="40000"/>
                    </a:schemeClr>
                  </a:outerShdw>
                </a:effectLst>
              </a:rPr>
              <a:t>	It is a</a:t>
            </a:r>
            <a:r>
              <a:rPr lang="en-GB" altLang="en-US" dirty="0">
                <a:ln w="0"/>
                <a:solidFill>
                  <a:schemeClr val="tx1"/>
                </a:solidFill>
                <a:effectLst>
                  <a:outerShdw blurRad="38100" dist="19050" dir="2700000" algn="tl" rotWithShape="0">
                    <a:schemeClr val="dk1">
                      <a:alpha val="40000"/>
                    </a:schemeClr>
                  </a:outerShdw>
                </a:effectLst>
              </a:rPr>
              <a:t> statement describing either </a:t>
            </a:r>
          </a:p>
          <a:p>
            <a:pPr lvl="3" algn="just"/>
            <a:r>
              <a:rPr lang="en-GB" altLang="en-US" dirty="0">
                <a:ln w="0"/>
                <a:solidFill>
                  <a:schemeClr val="tx1"/>
                </a:solidFill>
                <a:effectLst>
                  <a:outerShdw blurRad="38100" dist="19050" dir="2700000" algn="tl" rotWithShape="0">
                    <a:schemeClr val="dk1">
                      <a:alpha val="40000"/>
                    </a:schemeClr>
                  </a:outerShdw>
                </a:effectLst>
              </a:rPr>
              <a:t> an aspect of what the proposed system must do or </a:t>
            </a:r>
          </a:p>
          <a:p>
            <a:pPr lvl="3" algn="just"/>
            <a:r>
              <a:rPr lang="en-GB" altLang="en-US" dirty="0">
                <a:ln w="0"/>
                <a:solidFill>
                  <a:schemeClr val="tx1"/>
                </a:solidFill>
                <a:effectLst>
                  <a:outerShdw blurRad="38100" dist="19050" dir="2700000" algn="tl" rotWithShape="0">
                    <a:schemeClr val="dk1">
                      <a:alpha val="40000"/>
                    </a:schemeClr>
                  </a:outerShdw>
                </a:effectLst>
              </a:rPr>
              <a:t>a constraint on the system’s development. </a:t>
            </a:r>
          </a:p>
          <a:p>
            <a:pPr marL="457200" lvl="1" indent="0" algn="just">
              <a:buNone/>
            </a:pPr>
            <a:r>
              <a:rPr lang="en-GB" altLang="en-US" dirty="0">
                <a:ln w="0"/>
                <a:solidFill>
                  <a:schemeClr val="tx1"/>
                </a:solidFill>
                <a:effectLst>
                  <a:outerShdw blurRad="38100" dist="19050" dir="2700000" algn="tl" rotWithShape="0">
                    <a:schemeClr val="dk1">
                      <a:alpha val="40000"/>
                    </a:schemeClr>
                  </a:outerShdw>
                </a:effectLst>
              </a:rPr>
              <a:t>In either case it must contribute in some way towards adequately solving the customer’s problem;</a:t>
            </a:r>
          </a:p>
          <a:p>
            <a:pPr marL="457200" lvl="1" indent="0" algn="just">
              <a:buNone/>
            </a:pPr>
            <a:r>
              <a:rPr lang="en-GB" altLang="en-US" dirty="0">
                <a:ln w="0"/>
                <a:solidFill>
                  <a:schemeClr val="tx1"/>
                </a:solidFill>
                <a:effectLst>
                  <a:outerShdw blurRad="38100" dist="19050" dir="2700000" algn="tl" rotWithShape="0">
                    <a:schemeClr val="dk1">
                      <a:alpha val="40000"/>
                    </a:schemeClr>
                  </a:outerShdw>
                </a:effectLst>
              </a:rPr>
              <a:t>the set of requirements as a whole represents a negotiated agreement among the stakeholders.</a:t>
            </a:r>
            <a:endParaRPr lang="en-GB" altLang="en-US" i="1" dirty="0">
              <a:ln w="0"/>
              <a:solidFill>
                <a:schemeClr val="tx1"/>
              </a:solidFill>
              <a:effectLst>
                <a:outerShdw blurRad="38100" dist="19050" dir="2700000" algn="tl" rotWithShape="0">
                  <a:schemeClr val="dk1">
                    <a:alpha val="40000"/>
                  </a:schemeClr>
                </a:outerShdw>
              </a:effectLst>
            </a:endParaRPr>
          </a:p>
          <a:p>
            <a:pPr algn="just"/>
            <a:r>
              <a:rPr lang="en-US" altLang="en-US" dirty="0">
                <a:ln w="0"/>
                <a:solidFill>
                  <a:schemeClr val="tx1"/>
                </a:solidFill>
                <a:effectLst>
                  <a:outerShdw blurRad="38100" dist="19050" dir="2700000" algn="tl" rotWithShape="0">
                    <a:schemeClr val="dk1">
                      <a:alpha val="40000"/>
                    </a:schemeClr>
                  </a:outerShdw>
                </a:effectLst>
              </a:rPr>
              <a:t>A </a:t>
            </a:r>
            <a:r>
              <a:rPr lang="en-GB" altLang="en-US" dirty="0">
                <a:ln w="0"/>
                <a:solidFill>
                  <a:schemeClr val="tx1"/>
                </a:solidFill>
                <a:effectLst>
                  <a:outerShdw blurRad="38100" dist="19050" dir="2700000" algn="tl" rotWithShape="0">
                    <a:schemeClr val="dk1">
                      <a:alpha val="40000"/>
                    </a:schemeClr>
                  </a:outerShdw>
                </a:effectLst>
              </a:rPr>
              <a:t>collection of requirements</a:t>
            </a:r>
            <a:r>
              <a:rPr lang="en-US" altLang="en-US" dirty="0">
                <a:ln w="0"/>
                <a:solidFill>
                  <a:schemeClr val="tx1"/>
                </a:solidFill>
                <a:effectLst>
                  <a:outerShdw blurRad="38100" dist="19050" dir="2700000" algn="tl" rotWithShape="0">
                    <a:schemeClr val="dk1">
                      <a:alpha val="40000"/>
                    </a:schemeClr>
                  </a:outerShdw>
                </a:effectLst>
              </a:rPr>
              <a:t> is</a:t>
            </a:r>
            <a:r>
              <a:rPr lang="en-GB" altLang="en-US" dirty="0">
                <a:ln w="0"/>
                <a:solidFill>
                  <a:schemeClr val="tx1"/>
                </a:solidFill>
                <a:effectLst>
                  <a:outerShdw blurRad="38100" dist="19050" dir="2700000" algn="tl" rotWithShape="0">
                    <a:schemeClr val="dk1">
                      <a:alpha val="40000"/>
                    </a:schemeClr>
                  </a:outerShdw>
                </a:effectLst>
              </a:rPr>
              <a:t> called a </a:t>
            </a:r>
            <a:r>
              <a:rPr lang="en-GB" altLang="en-US" b="1" i="1" dirty="0">
                <a:ln w="0"/>
                <a:solidFill>
                  <a:srgbClr val="FF0000"/>
                </a:solidFill>
                <a:effectLst>
                  <a:outerShdw blurRad="38100" dist="19050" dir="2700000" algn="tl" rotWithShape="0">
                    <a:schemeClr val="dk1">
                      <a:alpha val="40000"/>
                    </a:schemeClr>
                  </a:outerShdw>
                </a:effectLst>
                <a:highlight>
                  <a:srgbClr val="FFFF00"/>
                </a:highlight>
              </a:rPr>
              <a:t>requirements document</a:t>
            </a:r>
            <a:r>
              <a:rPr lang="en-GB" altLang="en-US" dirty="0">
                <a:ln w="0"/>
                <a:solidFill>
                  <a:schemeClr val="tx1"/>
                </a:solidFill>
                <a:effectLst>
                  <a:outerShdw blurRad="38100" dist="19050" dir="2700000" algn="tl" rotWithShape="0">
                    <a:schemeClr val="dk1">
                      <a:alpha val="40000"/>
                    </a:schemeClr>
                  </a:outerShdw>
                </a:effectLst>
              </a:rPr>
              <a:t>.</a:t>
            </a:r>
          </a:p>
          <a:p>
            <a:pPr marL="342900" lvl="1" indent="-342900"/>
            <a:r>
              <a:rPr lang="en-MY" altLang="en-US" dirty="0">
                <a:ln w="0"/>
                <a:solidFill>
                  <a:schemeClr val="tx1"/>
                </a:solidFill>
                <a:effectLst>
                  <a:outerShdw blurRad="38100" dist="19050" dir="2700000" algn="tl" rotWithShape="0">
                    <a:schemeClr val="dk1">
                      <a:alpha val="40000"/>
                    </a:schemeClr>
                  </a:outerShdw>
                </a:effectLst>
              </a:rPr>
              <a:t>All documents should be:</a:t>
            </a:r>
          </a:p>
          <a:p>
            <a:pPr marL="742950" lvl="2" indent="-342900"/>
            <a:r>
              <a:rPr lang="en-MY" altLang="en-US" dirty="0">
                <a:ln w="0"/>
                <a:solidFill>
                  <a:schemeClr val="tx1"/>
                </a:solidFill>
                <a:effectLst>
                  <a:outerShdw blurRad="38100" dist="19050" dir="2700000" algn="tl" rotWithShape="0">
                    <a:schemeClr val="dk1">
                      <a:alpha val="40000"/>
                    </a:schemeClr>
                  </a:outerShdw>
                </a:effectLst>
              </a:rPr>
              <a:t>sufficiently complete </a:t>
            </a:r>
          </a:p>
          <a:p>
            <a:pPr marL="742950" lvl="2" indent="-342900"/>
            <a:r>
              <a:rPr lang="en-MY" altLang="en-US" dirty="0">
                <a:ln w="0"/>
                <a:solidFill>
                  <a:schemeClr val="tx1"/>
                </a:solidFill>
                <a:effectLst>
                  <a:outerShdw blurRad="38100" dist="19050" dir="2700000" algn="tl" rotWithShape="0">
                    <a:schemeClr val="dk1">
                      <a:alpha val="40000"/>
                    </a:schemeClr>
                  </a:outerShdw>
                </a:effectLst>
              </a:rPr>
              <a:t>well organized </a:t>
            </a:r>
          </a:p>
          <a:p>
            <a:pPr marL="742950" lvl="2" indent="-342900"/>
            <a:r>
              <a:rPr lang="en-MY" altLang="en-US" dirty="0">
                <a:ln w="0"/>
                <a:solidFill>
                  <a:schemeClr val="tx1"/>
                </a:solidFill>
                <a:effectLst>
                  <a:outerShdw blurRad="38100" dist="19050" dir="2700000" algn="tl" rotWithShape="0">
                    <a:schemeClr val="dk1">
                      <a:alpha val="40000"/>
                    </a:schemeClr>
                  </a:outerShdw>
                </a:effectLst>
              </a:rPr>
              <a:t>clear and legible</a:t>
            </a:r>
          </a:p>
          <a:p>
            <a:pPr marL="742950" lvl="2" indent="-342900"/>
            <a:r>
              <a:rPr lang="en-MY" altLang="en-US" dirty="0">
                <a:ln w="0"/>
                <a:solidFill>
                  <a:schemeClr val="tx1"/>
                </a:solidFill>
                <a:effectLst>
                  <a:outerShdw blurRad="38100" dist="19050" dir="2700000" algn="tl" rotWithShape="0">
                    <a:schemeClr val="dk1">
                      <a:alpha val="40000"/>
                    </a:schemeClr>
                  </a:outerShdw>
                </a:effectLst>
              </a:rPr>
              <a:t>agreed to by all the stakeholders</a:t>
            </a:r>
          </a:p>
          <a:p>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62200565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Types of requirements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pPr>
              <a:lnSpc>
                <a:spcPct val="90000"/>
              </a:lnSpc>
            </a:pPr>
            <a:r>
              <a:rPr lang="en-GB" altLang="en-US" dirty="0">
                <a:ln w="0"/>
                <a:solidFill>
                  <a:schemeClr val="tx1"/>
                </a:solidFill>
                <a:effectLst>
                  <a:outerShdw blurRad="38100" dist="19050" dir="2700000" algn="tl" rotWithShape="0">
                    <a:schemeClr val="dk1">
                      <a:alpha val="40000"/>
                    </a:schemeClr>
                  </a:outerShdw>
                </a:effectLst>
                <a:highlight>
                  <a:srgbClr val="FFFF00"/>
                </a:highlight>
              </a:rPr>
              <a:t>Functional requirements</a:t>
            </a:r>
            <a:r>
              <a:rPr lang="en-US" altLang="en-US" dirty="0">
                <a:ln w="0"/>
                <a:solidFill>
                  <a:schemeClr val="tx1"/>
                </a:solidFill>
                <a:effectLst>
                  <a:outerShdw blurRad="38100" dist="19050" dir="2700000" algn="tl" rotWithShape="0">
                    <a:schemeClr val="dk1">
                      <a:alpha val="40000"/>
                    </a:schemeClr>
                  </a:outerShdw>
                </a:effectLst>
                <a:highlight>
                  <a:srgbClr val="FFFF00"/>
                </a:highlight>
              </a:rPr>
              <a:t> </a:t>
            </a:r>
          </a:p>
          <a:p>
            <a:pPr lvl="1">
              <a:lnSpc>
                <a:spcPct val="90000"/>
              </a:lnSpc>
            </a:pPr>
            <a:r>
              <a:rPr lang="en-GB" altLang="en-US" dirty="0">
                <a:ln w="0"/>
                <a:solidFill>
                  <a:schemeClr val="tx1"/>
                </a:solidFill>
                <a:effectLst>
                  <a:outerShdw blurRad="38100" dist="19050" dir="2700000" algn="tl" rotWithShape="0">
                    <a:schemeClr val="dk1">
                      <a:alpha val="40000"/>
                    </a:schemeClr>
                  </a:outerShdw>
                </a:effectLst>
              </a:rPr>
              <a:t>Describe </a:t>
            </a:r>
            <a:r>
              <a:rPr lang="en-GB" altLang="en-US" i="1" dirty="0">
                <a:ln w="0"/>
                <a:solidFill>
                  <a:schemeClr val="tx1"/>
                </a:solidFill>
                <a:effectLst>
                  <a:outerShdw blurRad="38100" dist="19050" dir="2700000" algn="tl" rotWithShape="0">
                    <a:schemeClr val="dk1">
                      <a:alpha val="40000"/>
                    </a:schemeClr>
                  </a:outerShdw>
                </a:effectLst>
              </a:rPr>
              <a:t>what</a:t>
            </a:r>
            <a:r>
              <a:rPr lang="en-GB" altLang="en-US" dirty="0">
                <a:ln w="0"/>
                <a:solidFill>
                  <a:schemeClr val="tx1"/>
                </a:solidFill>
                <a:effectLst>
                  <a:outerShdw blurRad="38100" dist="19050" dir="2700000" algn="tl" rotWithShape="0">
                    <a:schemeClr val="dk1">
                      <a:alpha val="40000"/>
                    </a:schemeClr>
                  </a:outerShdw>
                </a:effectLst>
              </a:rPr>
              <a:t> the system should do</a:t>
            </a:r>
            <a:r>
              <a:rPr lang="en-US" altLang="en-US" dirty="0">
                <a:ln w="0"/>
                <a:solidFill>
                  <a:schemeClr val="tx1"/>
                </a:solidFill>
                <a:effectLst>
                  <a:outerShdw blurRad="38100" dist="19050" dir="2700000" algn="tl" rotWithShape="0">
                    <a:schemeClr val="dk1">
                      <a:alpha val="40000"/>
                    </a:schemeClr>
                  </a:outerShdw>
                </a:effectLst>
              </a:rPr>
              <a:t>. Examples</a:t>
            </a:r>
          </a:p>
          <a:p>
            <a:pPr lvl="3">
              <a:lnSpc>
                <a:spcPct val="90000"/>
              </a:lnSpc>
            </a:pPr>
            <a:r>
              <a:rPr lang="en-MY" altLang="en-US" dirty="0">
                <a:ln w="0"/>
                <a:solidFill>
                  <a:schemeClr val="tx1"/>
                </a:solidFill>
                <a:effectLst>
                  <a:outerShdw blurRad="38100" dist="19050" dir="2700000" algn="tl" rotWithShape="0">
                    <a:schemeClr val="dk1">
                      <a:alpha val="40000"/>
                    </a:schemeClr>
                  </a:outerShdw>
                </a:effectLst>
              </a:rPr>
              <a:t>What input/outputs the system should accept/produce</a:t>
            </a:r>
          </a:p>
          <a:p>
            <a:pPr lvl="3">
              <a:lnSpc>
                <a:spcPct val="90000"/>
              </a:lnSpc>
            </a:pPr>
            <a:r>
              <a:rPr lang="en-MY" altLang="en-US" dirty="0">
                <a:ln w="0"/>
                <a:solidFill>
                  <a:schemeClr val="tx1"/>
                </a:solidFill>
                <a:effectLst>
                  <a:outerShdw blurRad="38100" dist="19050" dir="2700000" algn="tl" rotWithShape="0">
                    <a:schemeClr val="dk1">
                      <a:alpha val="40000"/>
                    </a:schemeClr>
                  </a:outerShdw>
                </a:effectLst>
              </a:rPr>
              <a:t>What data the system should store  that other systems might use</a:t>
            </a:r>
          </a:p>
          <a:p>
            <a:pPr lvl="3">
              <a:lnSpc>
                <a:spcPct val="90000"/>
              </a:lnSpc>
            </a:pPr>
            <a:r>
              <a:rPr lang="en-MY" altLang="en-US" dirty="0">
                <a:ln w="0"/>
                <a:solidFill>
                  <a:schemeClr val="tx1"/>
                </a:solidFill>
                <a:effectLst>
                  <a:outerShdw blurRad="38100" dist="19050" dir="2700000" algn="tl" rotWithShape="0">
                    <a:schemeClr val="dk1">
                      <a:alpha val="40000"/>
                    </a:schemeClr>
                  </a:outerShdw>
                </a:effectLst>
              </a:rPr>
              <a:t>What computations the system should perform</a:t>
            </a:r>
          </a:p>
          <a:p>
            <a:pPr lvl="3">
              <a:lnSpc>
                <a:spcPct val="90000"/>
              </a:lnSpc>
            </a:pPr>
            <a:r>
              <a:rPr lang="en-MY" altLang="en-US" dirty="0">
                <a:ln w="0"/>
                <a:solidFill>
                  <a:schemeClr val="tx1"/>
                </a:solidFill>
                <a:effectLst>
                  <a:outerShdw blurRad="38100" dist="19050" dir="2700000" algn="tl" rotWithShape="0">
                    <a:schemeClr val="dk1">
                      <a:alpha val="40000"/>
                    </a:schemeClr>
                  </a:outerShdw>
                </a:effectLst>
              </a:rPr>
              <a:t>The timing and synchronization of the above </a:t>
            </a:r>
            <a:endParaRPr lang="en-GB" altLang="en-US" dirty="0">
              <a:ln w="0"/>
              <a:solidFill>
                <a:schemeClr val="tx1"/>
              </a:solidFill>
              <a:effectLst>
                <a:outerShdw blurRad="38100" dist="19050" dir="2700000" algn="tl" rotWithShape="0">
                  <a:schemeClr val="dk1">
                    <a:alpha val="40000"/>
                  </a:schemeClr>
                </a:outerShdw>
              </a:effectLst>
            </a:endParaRPr>
          </a:p>
          <a:p>
            <a:pPr>
              <a:lnSpc>
                <a:spcPct val="90000"/>
              </a:lnSpc>
            </a:pPr>
            <a:r>
              <a:rPr lang="en-GB" altLang="en-US" dirty="0">
                <a:ln w="0"/>
                <a:solidFill>
                  <a:schemeClr val="tx1"/>
                </a:solidFill>
                <a:effectLst>
                  <a:outerShdw blurRad="38100" dist="19050" dir="2700000" algn="tl" rotWithShape="0">
                    <a:schemeClr val="dk1">
                      <a:alpha val="40000"/>
                    </a:schemeClr>
                  </a:outerShdw>
                </a:effectLst>
                <a:highlight>
                  <a:srgbClr val="FFFF00"/>
                </a:highlight>
              </a:rPr>
              <a:t>Quality requirements </a:t>
            </a:r>
          </a:p>
          <a:p>
            <a:pPr lvl="1">
              <a:lnSpc>
                <a:spcPct val="90000"/>
              </a:lnSpc>
            </a:pPr>
            <a:r>
              <a:rPr lang="en-GB" altLang="en-US" dirty="0">
                <a:ln w="0"/>
                <a:solidFill>
                  <a:schemeClr val="tx1"/>
                </a:solidFill>
                <a:effectLst>
                  <a:outerShdw blurRad="38100" dist="19050" dir="2700000" algn="tl" rotWithShape="0">
                    <a:schemeClr val="dk1">
                      <a:alpha val="40000"/>
                    </a:schemeClr>
                  </a:outerShdw>
                </a:effectLst>
              </a:rPr>
              <a:t>C</a:t>
            </a:r>
            <a:r>
              <a:rPr lang="en-GB" altLang="en-US" i="1" dirty="0">
                <a:ln w="0"/>
                <a:solidFill>
                  <a:schemeClr val="tx1"/>
                </a:solidFill>
                <a:effectLst>
                  <a:outerShdw blurRad="38100" dist="19050" dir="2700000" algn="tl" rotWithShape="0">
                    <a:schemeClr val="dk1">
                      <a:alpha val="40000"/>
                    </a:schemeClr>
                  </a:outerShdw>
                </a:effectLst>
              </a:rPr>
              <a:t>onstraints</a:t>
            </a:r>
            <a:r>
              <a:rPr lang="en-GB" altLang="en-US" dirty="0">
                <a:ln w="0"/>
                <a:solidFill>
                  <a:schemeClr val="tx1"/>
                </a:solidFill>
                <a:effectLst>
                  <a:outerShdw blurRad="38100" dist="19050" dir="2700000" algn="tl" rotWithShape="0">
                    <a:schemeClr val="dk1">
                      <a:alpha val="40000"/>
                    </a:schemeClr>
                  </a:outerShdw>
                </a:effectLst>
              </a:rPr>
              <a:t> on the design to meet specified levels of quality. Examples </a:t>
            </a:r>
            <a:r>
              <a:rPr lang="en-GB" altLang="en-US" dirty="0" err="1">
                <a:ln w="0"/>
                <a:solidFill>
                  <a:schemeClr val="tx1"/>
                </a:solidFill>
                <a:effectLst>
                  <a:outerShdw blurRad="38100" dist="19050" dir="2700000" algn="tl" rotWithShape="0">
                    <a:schemeClr val="dk1">
                      <a:alpha val="40000"/>
                    </a:schemeClr>
                  </a:outerShdw>
                </a:effectLst>
              </a:rPr>
              <a:t>incl</a:t>
            </a:r>
            <a:r>
              <a:rPr lang="en-GB" altLang="en-US" dirty="0">
                <a:ln w="0"/>
                <a:solidFill>
                  <a:schemeClr val="tx1"/>
                </a:solidFill>
                <a:effectLst>
                  <a:outerShdw blurRad="38100" dist="19050" dir="2700000" algn="tl" rotWithShape="0">
                    <a:schemeClr val="dk1">
                      <a:alpha val="40000"/>
                    </a:schemeClr>
                  </a:outerShdw>
                </a:effectLst>
              </a:rPr>
              <a:t> constraints on response time, throughput, resource usage, availability, recoverability etc.</a:t>
            </a:r>
            <a:r>
              <a:rPr lang="en-US" altLang="en-US" dirty="0">
                <a:ln w="0"/>
                <a:solidFill>
                  <a:schemeClr val="tx1"/>
                </a:solidFill>
                <a:effectLst>
                  <a:outerShdw blurRad="38100" dist="19050" dir="2700000" algn="tl" rotWithShape="0">
                    <a:schemeClr val="dk1">
                      <a:alpha val="40000"/>
                    </a:schemeClr>
                  </a:outerShdw>
                </a:effectLst>
              </a:rPr>
              <a:t> </a:t>
            </a:r>
            <a:endParaRPr lang="en-GB" altLang="en-US" dirty="0">
              <a:ln w="0"/>
              <a:solidFill>
                <a:schemeClr val="tx1"/>
              </a:solidFill>
              <a:effectLst>
                <a:outerShdw blurRad="38100" dist="19050" dir="2700000" algn="tl" rotWithShape="0">
                  <a:schemeClr val="dk1">
                    <a:alpha val="40000"/>
                  </a:schemeClr>
                </a:outerShdw>
              </a:effectLst>
            </a:endParaRPr>
          </a:p>
          <a:p>
            <a:pPr>
              <a:lnSpc>
                <a:spcPct val="90000"/>
              </a:lnSpc>
            </a:pPr>
            <a:r>
              <a:rPr lang="en-GB" altLang="en-US" dirty="0">
                <a:ln w="0"/>
                <a:solidFill>
                  <a:schemeClr val="tx1"/>
                </a:solidFill>
                <a:effectLst>
                  <a:outerShdw blurRad="38100" dist="19050" dir="2700000" algn="tl" rotWithShape="0">
                    <a:schemeClr val="dk1">
                      <a:alpha val="40000"/>
                    </a:schemeClr>
                  </a:outerShdw>
                </a:effectLst>
                <a:highlight>
                  <a:srgbClr val="FFFF00"/>
                </a:highlight>
              </a:rPr>
              <a:t>Platform requirements </a:t>
            </a:r>
          </a:p>
          <a:p>
            <a:pPr lvl="1">
              <a:lnSpc>
                <a:spcPct val="90000"/>
              </a:lnSpc>
            </a:pPr>
            <a:r>
              <a:rPr lang="en-GB" altLang="en-US" dirty="0">
                <a:ln w="0"/>
                <a:solidFill>
                  <a:schemeClr val="tx1"/>
                </a:solidFill>
                <a:effectLst>
                  <a:outerShdw blurRad="38100" dist="19050" dir="2700000" algn="tl" rotWithShape="0">
                    <a:schemeClr val="dk1">
                      <a:alpha val="40000"/>
                    </a:schemeClr>
                  </a:outerShdw>
                </a:effectLst>
              </a:rPr>
              <a:t>C</a:t>
            </a:r>
            <a:r>
              <a:rPr lang="en-GB" altLang="en-US" i="1" dirty="0">
                <a:ln w="0"/>
                <a:solidFill>
                  <a:schemeClr val="tx1"/>
                </a:solidFill>
                <a:effectLst>
                  <a:outerShdw blurRad="38100" dist="19050" dir="2700000" algn="tl" rotWithShape="0">
                    <a:schemeClr val="dk1">
                      <a:alpha val="40000"/>
                    </a:schemeClr>
                  </a:outerShdw>
                </a:effectLst>
              </a:rPr>
              <a:t>onstraints</a:t>
            </a:r>
            <a:r>
              <a:rPr lang="en-GB" altLang="en-US" dirty="0">
                <a:ln w="0"/>
                <a:solidFill>
                  <a:schemeClr val="tx1"/>
                </a:solidFill>
                <a:effectLst>
                  <a:outerShdw blurRad="38100" dist="19050" dir="2700000" algn="tl" rotWithShape="0">
                    <a:schemeClr val="dk1">
                      <a:alpha val="40000"/>
                    </a:schemeClr>
                  </a:outerShdw>
                </a:effectLst>
              </a:rPr>
              <a:t> on the environment and technology of the system</a:t>
            </a:r>
            <a:r>
              <a:rPr lang="en-US" altLang="en-US" dirty="0">
                <a:ln w="0"/>
                <a:solidFill>
                  <a:schemeClr val="tx1"/>
                </a:solidFill>
                <a:effectLst>
                  <a:outerShdw blurRad="38100" dist="19050" dir="2700000" algn="tl" rotWithShape="0">
                    <a:schemeClr val="dk1">
                      <a:alpha val="40000"/>
                    </a:schemeClr>
                  </a:outerShdw>
                </a:effectLst>
              </a:rPr>
              <a:t> </a:t>
            </a:r>
          </a:p>
          <a:p>
            <a:pPr>
              <a:lnSpc>
                <a:spcPct val="90000"/>
              </a:lnSpc>
            </a:pPr>
            <a:r>
              <a:rPr lang="en-GB" altLang="en-US" dirty="0">
                <a:ln w="0"/>
                <a:solidFill>
                  <a:schemeClr val="tx1"/>
                </a:solidFill>
                <a:effectLst>
                  <a:outerShdw blurRad="38100" dist="19050" dir="2700000" algn="tl" rotWithShape="0">
                    <a:schemeClr val="dk1">
                      <a:alpha val="40000"/>
                    </a:schemeClr>
                  </a:outerShdw>
                </a:effectLst>
                <a:highlight>
                  <a:srgbClr val="FFFF00"/>
                </a:highlight>
              </a:rPr>
              <a:t>Process requirements </a:t>
            </a:r>
          </a:p>
          <a:p>
            <a:pPr lvl="1">
              <a:lnSpc>
                <a:spcPct val="90000"/>
              </a:lnSpc>
            </a:pPr>
            <a:r>
              <a:rPr lang="en-GB" altLang="en-US" dirty="0">
                <a:ln w="0"/>
                <a:solidFill>
                  <a:schemeClr val="tx1"/>
                </a:solidFill>
                <a:effectLst>
                  <a:outerShdw blurRad="38100" dist="19050" dir="2700000" algn="tl" rotWithShape="0">
                    <a:schemeClr val="dk1">
                      <a:alpha val="40000"/>
                    </a:schemeClr>
                  </a:outerShdw>
                </a:effectLst>
              </a:rPr>
              <a:t>C</a:t>
            </a:r>
            <a:r>
              <a:rPr lang="en-GB" altLang="en-US" i="1" dirty="0">
                <a:ln w="0"/>
                <a:solidFill>
                  <a:schemeClr val="tx1"/>
                </a:solidFill>
                <a:effectLst>
                  <a:outerShdw blurRad="38100" dist="19050" dir="2700000" algn="tl" rotWithShape="0">
                    <a:schemeClr val="dk1">
                      <a:alpha val="40000"/>
                    </a:schemeClr>
                  </a:outerShdw>
                </a:effectLst>
              </a:rPr>
              <a:t>onstraints</a:t>
            </a:r>
            <a:r>
              <a:rPr lang="en-GB" altLang="en-US" dirty="0">
                <a:ln w="0"/>
                <a:solidFill>
                  <a:schemeClr val="tx1"/>
                </a:solidFill>
                <a:effectLst>
                  <a:outerShdw blurRad="38100" dist="19050" dir="2700000" algn="tl" rotWithShape="0">
                    <a:schemeClr val="dk1">
                      <a:alpha val="40000"/>
                    </a:schemeClr>
                  </a:outerShdw>
                </a:effectLst>
              </a:rPr>
              <a:t> on the project plan and development methods</a:t>
            </a:r>
            <a:endParaRPr lang="en-US" altLang="en-US" dirty="0">
              <a:ln w="0"/>
              <a:solidFill>
                <a:schemeClr val="tx1"/>
              </a:solidFill>
              <a:effectLst>
                <a:outerShdw blurRad="38100" dist="19050" dir="2700000" algn="tl" rotWithShape="0">
                  <a:schemeClr val="dk1">
                    <a:alpha val="40000"/>
                  </a:schemeClr>
                </a:outerShdw>
              </a:effectLst>
            </a:endParaRPr>
          </a:p>
          <a:p>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8940224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Gathering requirements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pPr marL="0" indent="0">
              <a:buNone/>
            </a:pPr>
            <a:r>
              <a:rPr lang="en-US" dirty="0">
                <a:ln w="0"/>
                <a:solidFill>
                  <a:schemeClr val="tx1"/>
                </a:solidFill>
                <a:effectLst>
                  <a:outerShdw blurRad="38100" dist="19050" dir="2700000" algn="tl" rotWithShape="0">
                    <a:schemeClr val="dk1">
                      <a:alpha val="40000"/>
                    </a:schemeClr>
                  </a:outerShdw>
                </a:effectLst>
                <a:highlight>
                  <a:srgbClr val="FFFF00"/>
                </a:highlight>
              </a:rPr>
              <a:t>Various methods can be used to gather requirements</a:t>
            </a:r>
            <a:endParaRPr lang="en-MY" dirty="0">
              <a:ln w="0"/>
              <a:solidFill>
                <a:schemeClr val="tx1"/>
              </a:solidFill>
              <a:effectLst>
                <a:outerShdw blurRad="38100" dist="19050" dir="2700000" algn="tl" rotWithShape="0">
                  <a:schemeClr val="dk1">
                    <a:alpha val="40000"/>
                  </a:schemeClr>
                </a:outerShdw>
              </a:effectLst>
              <a:highlight>
                <a:srgbClr val="FFFF00"/>
              </a:highlight>
            </a:endParaRPr>
          </a:p>
          <a:p>
            <a:r>
              <a:rPr lang="en-MY" dirty="0">
                <a:ln w="0"/>
                <a:solidFill>
                  <a:srgbClr val="FF0000"/>
                </a:solidFill>
                <a:effectLst>
                  <a:outerShdw blurRad="38100" dist="19050" dir="2700000" algn="tl" rotWithShape="0">
                    <a:schemeClr val="dk1">
                      <a:alpha val="40000"/>
                    </a:schemeClr>
                  </a:outerShdw>
                </a:effectLst>
              </a:rPr>
              <a:t>Observation </a:t>
            </a:r>
          </a:p>
          <a:p>
            <a:pPr lvl="1"/>
            <a:r>
              <a:rPr lang="en-MY" dirty="0">
                <a:ln w="0"/>
                <a:solidFill>
                  <a:schemeClr val="tx1"/>
                </a:solidFill>
                <a:effectLst>
                  <a:outerShdw blurRad="38100" dist="19050" dir="2700000" algn="tl" rotWithShape="0">
                    <a:schemeClr val="dk1">
                      <a:alpha val="40000"/>
                    </a:schemeClr>
                  </a:outerShdw>
                </a:effectLst>
              </a:rPr>
              <a:t>Read documents and discuss requirements with users</a:t>
            </a:r>
          </a:p>
          <a:p>
            <a:pPr lvl="1"/>
            <a:r>
              <a:rPr lang="en-MY" dirty="0">
                <a:ln w="0"/>
                <a:solidFill>
                  <a:schemeClr val="tx1"/>
                </a:solidFill>
                <a:effectLst>
                  <a:outerShdw blurRad="38100" dist="19050" dir="2700000" algn="tl" rotWithShape="0">
                    <a:schemeClr val="dk1">
                      <a:alpha val="40000"/>
                    </a:schemeClr>
                  </a:outerShdw>
                </a:effectLst>
              </a:rPr>
              <a:t>Shadowing important potential users as they do their work - ask the user to explain everything he or she is doing</a:t>
            </a:r>
          </a:p>
          <a:p>
            <a:pPr lvl="1"/>
            <a:r>
              <a:rPr lang="en-MY" dirty="0">
                <a:ln w="0"/>
                <a:solidFill>
                  <a:schemeClr val="tx1"/>
                </a:solidFill>
                <a:effectLst>
                  <a:outerShdw blurRad="38100" dist="19050" dir="2700000" algn="tl" rotWithShape="0">
                    <a:schemeClr val="dk1">
                      <a:alpha val="40000"/>
                    </a:schemeClr>
                  </a:outerShdw>
                </a:effectLst>
              </a:rPr>
              <a:t>Session videotaping </a:t>
            </a:r>
          </a:p>
          <a:p>
            <a:r>
              <a:rPr lang="en-MY" dirty="0">
                <a:ln w="0"/>
                <a:solidFill>
                  <a:srgbClr val="FF0000"/>
                </a:solidFill>
                <a:effectLst>
                  <a:outerShdw blurRad="38100" dist="19050" dir="2700000" algn="tl" rotWithShape="0">
                    <a:schemeClr val="dk1">
                      <a:alpha val="40000"/>
                    </a:schemeClr>
                  </a:outerShdw>
                </a:effectLst>
              </a:rPr>
              <a:t>Interviewing </a:t>
            </a:r>
          </a:p>
          <a:p>
            <a:pPr lvl="1"/>
            <a:r>
              <a:rPr lang="en-MY" dirty="0">
                <a:ln w="0"/>
                <a:solidFill>
                  <a:schemeClr val="tx1"/>
                </a:solidFill>
                <a:effectLst>
                  <a:outerShdw blurRad="38100" dist="19050" dir="2700000" algn="tl" rotWithShape="0">
                    <a:schemeClr val="dk1">
                      <a:alpha val="40000"/>
                    </a:schemeClr>
                  </a:outerShdw>
                </a:effectLst>
              </a:rPr>
              <a:t>Conduct a series of interviews to</a:t>
            </a:r>
          </a:p>
          <a:p>
            <a:pPr lvl="3"/>
            <a:r>
              <a:rPr lang="en-MY" dirty="0">
                <a:ln w="0"/>
                <a:solidFill>
                  <a:schemeClr val="tx1"/>
                </a:solidFill>
                <a:effectLst>
                  <a:outerShdw blurRad="38100" dist="19050" dir="2700000" algn="tl" rotWithShape="0">
                    <a:schemeClr val="dk1">
                      <a:alpha val="40000"/>
                    </a:schemeClr>
                  </a:outerShdw>
                </a:effectLst>
              </a:rPr>
              <a:t>Ask about specific details </a:t>
            </a:r>
          </a:p>
          <a:p>
            <a:pPr lvl="3"/>
            <a:r>
              <a:rPr lang="en-MY" dirty="0">
                <a:ln w="0"/>
                <a:solidFill>
                  <a:schemeClr val="tx1"/>
                </a:solidFill>
                <a:effectLst>
                  <a:outerShdw blurRad="38100" dist="19050" dir="2700000" algn="tl" rotWithShape="0">
                    <a:schemeClr val="dk1">
                      <a:alpha val="40000"/>
                    </a:schemeClr>
                  </a:outerShdw>
                </a:effectLst>
              </a:rPr>
              <a:t>Ask about the stakeholder’s vision for the future </a:t>
            </a:r>
          </a:p>
          <a:p>
            <a:pPr lvl="3"/>
            <a:r>
              <a:rPr lang="en-MY" dirty="0">
                <a:ln w="0"/>
                <a:solidFill>
                  <a:schemeClr val="tx1"/>
                </a:solidFill>
                <a:effectLst>
                  <a:outerShdw blurRad="38100" dist="19050" dir="2700000" algn="tl" rotWithShape="0">
                    <a:schemeClr val="dk1">
                      <a:alpha val="40000"/>
                    </a:schemeClr>
                  </a:outerShdw>
                </a:effectLst>
              </a:rPr>
              <a:t>Ask if they have alternative ideas</a:t>
            </a:r>
          </a:p>
          <a:p>
            <a:pPr lvl="3"/>
            <a:r>
              <a:rPr lang="en-MY" dirty="0">
                <a:ln w="0"/>
                <a:solidFill>
                  <a:schemeClr val="tx1"/>
                </a:solidFill>
                <a:effectLst>
                  <a:outerShdw blurRad="38100" dist="19050" dir="2700000" algn="tl" rotWithShape="0">
                    <a:schemeClr val="dk1">
                      <a:alpha val="40000"/>
                    </a:schemeClr>
                  </a:outerShdw>
                </a:effectLst>
              </a:rPr>
              <a:t>Ask for other sources of information </a:t>
            </a:r>
          </a:p>
          <a:p>
            <a:pPr lvl="3"/>
            <a:r>
              <a:rPr lang="en-MY" dirty="0">
                <a:ln w="0"/>
                <a:solidFill>
                  <a:schemeClr val="tx1"/>
                </a:solidFill>
                <a:effectLst>
                  <a:outerShdw blurRad="38100" dist="19050" dir="2700000" algn="tl" rotWithShape="0">
                    <a:schemeClr val="dk1">
                      <a:alpha val="40000"/>
                    </a:schemeClr>
                  </a:outerShdw>
                </a:effectLst>
              </a:rPr>
              <a:t>Ask them to draw diagrams </a:t>
            </a:r>
          </a:p>
          <a:p>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9089442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93200"/>
            <a:ext cx="8763000" cy="6094913"/>
          </a:xfrm>
        </p:spPr>
        <p:txBody>
          <a:bodyPr/>
          <a:lstStyle/>
          <a:p>
            <a:r>
              <a:rPr lang="en-MY" dirty="0">
                <a:ln w="0"/>
                <a:solidFill>
                  <a:srgbClr val="FF0000"/>
                </a:solidFill>
                <a:effectLst>
                  <a:outerShdw blurRad="38100" dist="19050" dir="2700000" algn="tl" rotWithShape="0">
                    <a:schemeClr val="dk1">
                      <a:alpha val="40000"/>
                    </a:schemeClr>
                  </a:outerShdw>
                </a:effectLst>
              </a:rPr>
              <a:t>Brainstorming </a:t>
            </a:r>
          </a:p>
          <a:p>
            <a:pPr lvl="2"/>
            <a:r>
              <a:rPr lang="en-MY" dirty="0">
                <a:ln w="0"/>
                <a:solidFill>
                  <a:schemeClr val="tx1"/>
                </a:solidFill>
                <a:effectLst>
                  <a:outerShdw blurRad="38100" dist="19050" dir="2700000" algn="tl" rotWithShape="0">
                    <a:schemeClr val="dk1">
                      <a:alpha val="40000"/>
                    </a:schemeClr>
                  </a:outerShdw>
                </a:effectLst>
              </a:rPr>
              <a:t>Appoint an experienced moderator </a:t>
            </a:r>
          </a:p>
          <a:p>
            <a:pPr lvl="2"/>
            <a:r>
              <a:rPr lang="en-MY" dirty="0">
                <a:ln w="0"/>
                <a:solidFill>
                  <a:schemeClr val="tx1"/>
                </a:solidFill>
                <a:effectLst>
                  <a:outerShdw blurRad="38100" dist="19050" dir="2700000" algn="tl" rotWithShape="0">
                    <a:schemeClr val="dk1">
                      <a:alpha val="40000"/>
                    </a:schemeClr>
                  </a:outerShdw>
                </a:effectLst>
              </a:rPr>
              <a:t>Arrange the attendees around a table </a:t>
            </a:r>
          </a:p>
          <a:p>
            <a:pPr lvl="2"/>
            <a:r>
              <a:rPr lang="en-MY" dirty="0">
                <a:ln w="0"/>
                <a:solidFill>
                  <a:schemeClr val="tx1"/>
                </a:solidFill>
                <a:effectLst>
                  <a:outerShdw blurRad="38100" dist="19050" dir="2700000" algn="tl" rotWithShape="0">
                    <a:schemeClr val="dk1">
                      <a:alpha val="40000"/>
                    </a:schemeClr>
                  </a:outerShdw>
                </a:effectLst>
              </a:rPr>
              <a:t>Decide on a ‘trigger question’ </a:t>
            </a:r>
          </a:p>
          <a:p>
            <a:pPr lvl="2"/>
            <a:r>
              <a:rPr lang="en-MY" dirty="0">
                <a:ln w="0"/>
                <a:solidFill>
                  <a:schemeClr val="tx1"/>
                </a:solidFill>
                <a:effectLst>
                  <a:outerShdw blurRad="38100" dist="19050" dir="2700000" algn="tl" rotWithShape="0">
                    <a:schemeClr val="dk1">
                      <a:alpha val="40000"/>
                    </a:schemeClr>
                  </a:outerShdw>
                </a:effectLst>
              </a:rPr>
              <a:t>Ask each participant to write an answer and pass the paper to its neighbour to evaluate</a:t>
            </a:r>
          </a:p>
          <a:p>
            <a:pPr lvl="2"/>
            <a:r>
              <a:rPr lang="en-GB" altLang="en-US" i="1" dirty="0">
                <a:ln w="0"/>
                <a:solidFill>
                  <a:schemeClr val="tx1"/>
                </a:solidFill>
                <a:effectLst>
                  <a:outerShdw blurRad="38100" dist="19050" dir="2700000" algn="tl" rotWithShape="0">
                    <a:schemeClr val="dk1">
                      <a:alpha val="40000"/>
                    </a:schemeClr>
                  </a:outerShdw>
                </a:effectLst>
              </a:rPr>
              <a:t>Joint Application Development </a:t>
            </a:r>
            <a:r>
              <a:rPr lang="en-GB" altLang="en-US" dirty="0">
                <a:ln w="0"/>
                <a:solidFill>
                  <a:schemeClr val="tx1"/>
                </a:solidFill>
                <a:effectLst>
                  <a:outerShdw blurRad="38100" dist="19050" dir="2700000" algn="tl" rotWithShape="0">
                    <a:schemeClr val="dk1">
                      <a:alpha val="40000"/>
                    </a:schemeClr>
                  </a:outerShdw>
                </a:effectLst>
              </a:rPr>
              <a:t>(JAD) is a technique based on intensive brainstorming sessions </a:t>
            </a:r>
            <a:endParaRPr lang="en-US" altLang="en-US" dirty="0">
              <a:ln w="0"/>
              <a:solidFill>
                <a:schemeClr val="tx1"/>
              </a:solidFill>
              <a:effectLst>
                <a:outerShdw blurRad="38100" dist="19050" dir="2700000" algn="tl" rotWithShape="0">
                  <a:schemeClr val="dk1">
                    <a:alpha val="40000"/>
                  </a:schemeClr>
                </a:outerShdw>
              </a:effectLst>
            </a:endParaRPr>
          </a:p>
          <a:p>
            <a:pPr lvl="2"/>
            <a:endParaRPr lang="en-MY" dirty="0">
              <a:ln w="0"/>
              <a:solidFill>
                <a:schemeClr val="tx1"/>
              </a:solidFill>
              <a:effectLst>
                <a:outerShdw blurRad="38100" dist="19050" dir="2700000" algn="tl" rotWithShape="0">
                  <a:schemeClr val="dk1">
                    <a:alpha val="40000"/>
                  </a:schemeClr>
                </a:outerShdw>
              </a:effectLst>
            </a:endParaRPr>
          </a:p>
          <a:p>
            <a:endParaRPr lang="en-MY" dirty="0">
              <a:ln w="0"/>
              <a:solidFill>
                <a:schemeClr val="tx1"/>
              </a:solidFill>
              <a:effectLst>
                <a:outerShdw blurRad="38100" dist="19050" dir="2700000" algn="tl" rotWithShape="0">
                  <a:schemeClr val="dk1">
                    <a:alpha val="40000"/>
                  </a:schemeClr>
                </a:outerShdw>
              </a:effectLst>
            </a:endParaRP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8205" y="3808475"/>
            <a:ext cx="2732220" cy="2326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54421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17305"/>
            <a:ext cx="8763000" cy="6170808"/>
          </a:xfrm>
        </p:spPr>
        <p:txBody>
          <a:bodyPr/>
          <a:lstStyle/>
          <a:p>
            <a:r>
              <a:rPr lang="en-MY" dirty="0">
                <a:ln w="0"/>
                <a:solidFill>
                  <a:schemeClr val="tx1"/>
                </a:solidFill>
                <a:effectLst>
                  <a:outerShdw blurRad="38100" dist="19050" dir="2700000" algn="tl" rotWithShape="0">
                    <a:schemeClr val="dk1">
                      <a:alpha val="40000"/>
                    </a:schemeClr>
                  </a:outerShdw>
                </a:effectLst>
                <a:highlight>
                  <a:srgbClr val="FFFF00"/>
                </a:highlight>
              </a:rPr>
              <a:t>Prototyping </a:t>
            </a:r>
          </a:p>
          <a:p>
            <a:pPr lvl="2"/>
            <a:r>
              <a:rPr lang="en-MY" dirty="0">
                <a:ln w="0"/>
                <a:solidFill>
                  <a:schemeClr val="tx1"/>
                </a:solidFill>
                <a:effectLst>
                  <a:outerShdw blurRad="38100" dist="19050" dir="2700000" algn="tl" rotWithShape="0">
                    <a:schemeClr val="dk1">
                      <a:alpha val="40000"/>
                    </a:schemeClr>
                  </a:outerShdw>
                </a:effectLst>
              </a:rPr>
              <a:t>The simplest kind: paper prototype - a set of pictures of the system that are shown to users in sequence to explain what would happen</a:t>
            </a:r>
          </a:p>
          <a:p>
            <a:pPr lvl="2"/>
            <a:r>
              <a:rPr lang="en-MY" dirty="0">
                <a:ln w="0"/>
                <a:solidFill>
                  <a:schemeClr val="tx1"/>
                </a:solidFill>
                <a:effectLst>
                  <a:outerShdw blurRad="38100" dist="19050" dir="2700000" algn="tl" rotWithShape="0">
                    <a:schemeClr val="dk1">
                      <a:alpha val="40000"/>
                    </a:schemeClr>
                  </a:outerShdw>
                </a:effectLst>
              </a:rPr>
              <a:t>The most common: a mock-up of the system’s UI written in a rapid prototyping language</a:t>
            </a:r>
          </a:p>
          <a:p>
            <a:pPr lvl="2"/>
            <a:r>
              <a:rPr lang="en-MY" dirty="0">
                <a:ln w="0"/>
                <a:solidFill>
                  <a:schemeClr val="tx1"/>
                </a:solidFill>
                <a:effectLst>
                  <a:outerShdw blurRad="38100" dist="19050" dir="2700000" algn="tl" rotWithShape="0">
                    <a:schemeClr val="dk1">
                      <a:alpha val="40000"/>
                    </a:schemeClr>
                  </a:outerShdw>
                </a:effectLst>
              </a:rPr>
              <a:t>Does not normally perform any computations, access any databases or interact with any other systems</a:t>
            </a:r>
          </a:p>
          <a:p>
            <a:pPr lvl="2"/>
            <a:r>
              <a:rPr lang="en-MY" dirty="0">
                <a:ln w="0"/>
                <a:solidFill>
                  <a:schemeClr val="tx1"/>
                </a:solidFill>
                <a:effectLst>
                  <a:outerShdw blurRad="38100" dist="19050" dir="2700000" algn="tl" rotWithShape="0">
                    <a:schemeClr val="dk1">
                      <a:alpha val="40000"/>
                    </a:schemeClr>
                  </a:outerShdw>
                </a:effectLst>
              </a:rPr>
              <a:t>May prototype a particular aspect of the system</a:t>
            </a:r>
          </a:p>
        </p:txBody>
      </p:sp>
      <p:pic>
        <p:nvPicPr>
          <p:cNvPr id="1026" name="Picture 2" descr="http://balloonquest.at/wp-content/uploads/2012/06/post_prototypes_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608222">
            <a:off x="5056073" y="3782280"/>
            <a:ext cx="4518581" cy="299217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d262ilb51hltx0.cloudfront.net/max/800/0*gps5cd7iRj-EWU2p.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775" y="3656685"/>
            <a:ext cx="4174225" cy="3130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483914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Types of requirements document</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pPr marL="342900" lvl="2" indent="-342900"/>
            <a:r>
              <a:rPr lang="en-US" dirty="0">
                <a:ln w="0"/>
                <a:solidFill>
                  <a:schemeClr val="tx1"/>
                </a:solidFill>
                <a:effectLst>
                  <a:outerShdw blurRad="38100" dist="19050" dir="2700000" algn="tl" rotWithShape="0">
                    <a:schemeClr val="dk1">
                      <a:alpha val="40000"/>
                    </a:schemeClr>
                  </a:outerShdw>
                </a:effectLst>
                <a:highlight>
                  <a:srgbClr val="FFFF00"/>
                </a:highlight>
              </a:rPr>
              <a:t>Requirements definition</a:t>
            </a:r>
            <a:br>
              <a:rPr lang="en-US" dirty="0">
                <a:ln w="0"/>
                <a:solidFill>
                  <a:schemeClr val="tx1"/>
                </a:solidFill>
                <a:effectLst>
                  <a:outerShdw blurRad="38100" dist="19050" dir="2700000" algn="tl" rotWithShape="0">
                    <a:schemeClr val="dk1">
                      <a:alpha val="40000"/>
                    </a:schemeClr>
                  </a:outerShdw>
                </a:effectLst>
              </a:rPr>
            </a:br>
            <a:r>
              <a:rPr lang="en-GB" altLang="en-US" dirty="0">
                <a:ln w="0"/>
                <a:solidFill>
                  <a:schemeClr val="tx1"/>
                </a:solidFill>
                <a:effectLst>
                  <a:outerShdw blurRad="38100" dist="19050" dir="2700000" algn="tl" rotWithShape="0">
                    <a:schemeClr val="dk1">
                      <a:alpha val="40000"/>
                    </a:schemeClr>
                  </a:outerShdw>
                </a:effectLst>
                <a:cs typeface="Times" pitchFamily="1" charset="0"/>
              </a:rPr>
              <a:t>An informal outline of the requirements </a:t>
            </a:r>
            <a:br>
              <a:rPr lang="en-GB" altLang="en-US" dirty="0">
                <a:ln w="0"/>
                <a:solidFill>
                  <a:schemeClr val="tx1"/>
                </a:solidFill>
                <a:effectLst>
                  <a:outerShdw blurRad="38100" dist="19050" dir="2700000" algn="tl" rotWithShape="0">
                    <a:schemeClr val="dk1">
                      <a:alpha val="40000"/>
                    </a:schemeClr>
                  </a:outerShdw>
                </a:effectLst>
                <a:cs typeface="Times" pitchFamily="1" charset="0"/>
              </a:rPr>
            </a:br>
            <a:r>
              <a:rPr lang="en-GB" altLang="en-US" dirty="0">
                <a:ln w="0"/>
                <a:solidFill>
                  <a:schemeClr val="tx1"/>
                </a:solidFill>
                <a:effectLst>
                  <a:outerShdw blurRad="38100" dist="19050" dir="2700000" algn="tl" rotWithShape="0">
                    <a:schemeClr val="dk1">
                      <a:alpha val="40000"/>
                    </a:schemeClr>
                  </a:outerShdw>
                </a:effectLst>
                <a:cs typeface="Times" pitchFamily="1" charset="0"/>
              </a:rPr>
              <a:t>using a few paragraphs or simple </a:t>
            </a:r>
            <a:br>
              <a:rPr lang="en-GB" altLang="en-US" dirty="0">
                <a:ln w="0"/>
                <a:solidFill>
                  <a:schemeClr val="tx1"/>
                </a:solidFill>
                <a:effectLst>
                  <a:outerShdw blurRad="38100" dist="19050" dir="2700000" algn="tl" rotWithShape="0">
                    <a:schemeClr val="dk1">
                      <a:alpha val="40000"/>
                    </a:schemeClr>
                  </a:outerShdw>
                </a:effectLst>
                <a:cs typeface="Times" pitchFamily="1" charset="0"/>
              </a:rPr>
            </a:br>
            <a:r>
              <a:rPr lang="en-GB" altLang="en-US" dirty="0">
                <a:ln w="0"/>
                <a:solidFill>
                  <a:schemeClr val="tx1"/>
                </a:solidFill>
                <a:effectLst>
                  <a:outerShdw blurRad="38100" dist="19050" dir="2700000" algn="tl" rotWithShape="0">
                    <a:schemeClr val="dk1">
                      <a:alpha val="40000"/>
                    </a:schemeClr>
                  </a:outerShdw>
                </a:effectLst>
                <a:cs typeface="Times" pitchFamily="1" charset="0"/>
              </a:rPr>
              <a:t>diagrams</a:t>
            </a:r>
            <a:endParaRPr lang="en-US" altLang="en-US" dirty="0">
              <a:ln w="0"/>
              <a:solidFill>
                <a:schemeClr val="tx1"/>
              </a:solidFill>
              <a:effectLst>
                <a:outerShdw blurRad="38100" dist="19050" dir="2700000" algn="tl" rotWithShape="0">
                  <a:schemeClr val="dk1">
                    <a:alpha val="40000"/>
                  </a:schemeClr>
                </a:outerShdw>
              </a:effectLst>
            </a:endParaRPr>
          </a:p>
          <a:p>
            <a:pPr marL="342900" lvl="2" indent="-342900"/>
            <a:r>
              <a:rPr lang="en-US" dirty="0">
                <a:ln w="0"/>
                <a:solidFill>
                  <a:schemeClr val="tx1"/>
                </a:solidFill>
                <a:effectLst>
                  <a:outerShdw blurRad="38100" dist="19050" dir="2700000" algn="tl" rotWithShape="0">
                    <a:schemeClr val="dk1">
                      <a:alpha val="40000"/>
                    </a:schemeClr>
                  </a:outerShdw>
                </a:effectLst>
                <a:highlight>
                  <a:srgbClr val="FFFF00"/>
                </a:highlight>
              </a:rPr>
              <a:t>Requirements specification</a:t>
            </a:r>
            <a:br>
              <a:rPr lang="en-US" dirty="0">
                <a:ln w="0"/>
                <a:solidFill>
                  <a:schemeClr val="tx1"/>
                </a:solidFill>
                <a:effectLst>
                  <a:outerShdw blurRad="38100" dist="19050" dir="2700000" algn="tl" rotWithShape="0">
                    <a:schemeClr val="dk1">
                      <a:alpha val="40000"/>
                    </a:schemeClr>
                  </a:outerShdw>
                </a:effectLst>
              </a:rPr>
            </a:br>
            <a:r>
              <a:rPr lang="en-GB" altLang="en-US" dirty="0">
                <a:ln w="0"/>
                <a:solidFill>
                  <a:schemeClr val="tx1"/>
                </a:solidFill>
                <a:effectLst>
                  <a:outerShdw blurRad="38100" dist="19050" dir="2700000" algn="tl" rotWithShape="0">
                    <a:schemeClr val="dk1">
                      <a:alpha val="40000"/>
                    </a:schemeClr>
                  </a:outerShdw>
                </a:effectLst>
                <a:cs typeface="Times" pitchFamily="1" charset="0"/>
              </a:rPr>
              <a:t>A long list of specifications that </a:t>
            </a:r>
            <a:br>
              <a:rPr lang="en-GB" altLang="en-US" dirty="0">
                <a:ln w="0"/>
                <a:solidFill>
                  <a:schemeClr val="tx1"/>
                </a:solidFill>
                <a:effectLst>
                  <a:outerShdw blurRad="38100" dist="19050" dir="2700000" algn="tl" rotWithShape="0">
                    <a:schemeClr val="dk1">
                      <a:alpha val="40000"/>
                    </a:schemeClr>
                  </a:outerShdw>
                </a:effectLst>
                <a:cs typeface="Times" pitchFamily="1" charset="0"/>
              </a:rPr>
            </a:br>
            <a:r>
              <a:rPr lang="en-GB" altLang="en-US" dirty="0">
                <a:ln w="0"/>
                <a:solidFill>
                  <a:schemeClr val="tx1"/>
                </a:solidFill>
                <a:effectLst>
                  <a:outerShdw blurRad="38100" dist="19050" dir="2700000" algn="tl" rotWithShape="0">
                    <a:schemeClr val="dk1">
                      <a:alpha val="40000"/>
                    </a:schemeClr>
                  </a:outerShdw>
                </a:effectLst>
                <a:cs typeface="Times" pitchFamily="1" charset="0"/>
              </a:rPr>
              <a:t>contain thousands of pages </a:t>
            </a:r>
            <a:br>
              <a:rPr lang="en-GB" altLang="en-US" dirty="0">
                <a:ln w="0"/>
                <a:solidFill>
                  <a:schemeClr val="tx1"/>
                </a:solidFill>
                <a:effectLst>
                  <a:outerShdw blurRad="38100" dist="19050" dir="2700000" algn="tl" rotWithShape="0">
                    <a:schemeClr val="dk1">
                      <a:alpha val="40000"/>
                    </a:schemeClr>
                  </a:outerShdw>
                </a:effectLst>
                <a:cs typeface="Times" pitchFamily="1" charset="0"/>
              </a:rPr>
            </a:br>
            <a:r>
              <a:rPr lang="en-GB" altLang="en-US" dirty="0">
                <a:ln w="0"/>
                <a:solidFill>
                  <a:schemeClr val="tx1"/>
                </a:solidFill>
                <a:effectLst>
                  <a:outerShdw blurRad="38100" dist="19050" dir="2700000" algn="tl" rotWithShape="0">
                    <a:schemeClr val="dk1">
                      <a:alpha val="40000"/>
                    </a:schemeClr>
                  </a:outerShdw>
                </a:effectLst>
                <a:cs typeface="Times" pitchFamily="1" charset="0"/>
              </a:rPr>
              <a:t>of intricate detail</a:t>
            </a:r>
            <a:endParaRPr lang="en-US" altLang="en-US" dirty="0">
              <a:ln w="0"/>
              <a:solidFill>
                <a:schemeClr val="tx1"/>
              </a:solidFill>
              <a:effectLst>
                <a:outerShdw blurRad="38100" dist="19050" dir="2700000" algn="tl" rotWithShape="0">
                  <a:schemeClr val="dk1">
                    <a:alpha val="40000"/>
                  </a:schemeClr>
                </a:outerShdw>
              </a:effectLst>
            </a:endParaRPr>
          </a:p>
          <a:p>
            <a:pPr marL="342900" lvl="1" indent="-342900"/>
            <a:r>
              <a:rPr lang="en-GB" altLang="en-US" dirty="0">
                <a:ln w="0"/>
                <a:solidFill>
                  <a:schemeClr val="tx1"/>
                </a:solidFill>
                <a:effectLst>
                  <a:outerShdw blurRad="38100" dist="19050" dir="2700000" algn="tl" rotWithShape="0">
                    <a:schemeClr val="dk1">
                      <a:alpha val="40000"/>
                    </a:schemeClr>
                  </a:outerShdw>
                </a:effectLst>
                <a:highlight>
                  <a:srgbClr val="FFFF00"/>
                </a:highlight>
              </a:rPr>
              <a:t>Requirements documents </a:t>
            </a:r>
            <a:r>
              <a:rPr lang="en-GB" altLang="en-US" dirty="0">
                <a:ln w="0"/>
                <a:solidFill>
                  <a:schemeClr val="tx1"/>
                </a:solidFill>
                <a:effectLst>
                  <a:outerShdw blurRad="38100" dist="19050" dir="2700000" algn="tl" rotWithShape="0">
                    <a:schemeClr val="dk1">
                      <a:alpha val="40000"/>
                    </a:schemeClr>
                  </a:outerShdw>
                </a:effectLst>
              </a:rPr>
              <a:t>for </a:t>
            </a:r>
            <a:br>
              <a:rPr lang="en-GB" altLang="en-US" dirty="0">
                <a:ln w="0"/>
                <a:solidFill>
                  <a:schemeClr val="tx1"/>
                </a:solidFill>
                <a:effectLst>
                  <a:outerShdw blurRad="38100" dist="19050" dir="2700000" algn="tl" rotWithShape="0">
                    <a:schemeClr val="dk1">
                      <a:alpha val="40000"/>
                    </a:schemeClr>
                  </a:outerShdw>
                </a:effectLst>
              </a:rPr>
            </a:br>
            <a:r>
              <a:rPr lang="en-GB" altLang="en-US" dirty="0">
                <a:ln w="0"/>
                <a:solidFill>
                  <a:schemeClr val="tx1"/>
                </a:solidFill>
                <a:effectLst>
                  <a:outerShdw blurRad="38100" dist="19050" dir="2700000" algn="tl" rotWithShape="0">
                    <a:schemeClr val="dk1">
                      <a:alpha val="40000"/>
                    </a:schemeClr>
                  </a:outerShdw>
                </a:effectLst>
              </a:rPr>
              <a:t>large systems are normally </a:t>
            </a:r>
            <a:br>
              <a:rPr lang="en-GB" altLang="en-US" dirty="0">
                <a:ln w="0"/>
                <a:solidFill>
                  <a:schemeClr val="tx1"/>
                </a:solidFill>
                <a:effectLst>
                  <a:outerShdw blurRad="38100" dist="19050" dir="2700000" algn="tl" rotWithShape="0">
                    <a:schemeClr val="dk1">
                      <a:alpha val="40000"/>
                    </a:schemeClr>
                  </a:outerShdw>
                </a:effectLst>
              </a:rPr>
            </a:br>
            <a:r>
              <a:rPr lang="en-GB" altLang="en-US" dirty="0">
                <a:ln w="0"/>
                <a:solidFill>
                  <a:schemeClr val="tx1"/>
                </a:solidFill>
                <a:effectLst>
                  <a:outerShdw blurRad="38100" dist="19050" dir="2700000" algn="tl" rotWithShape="0">
                    <a:schemeClr val="dk1">
                      <a:alpha val="40000"/>
                    </a:schemeClr>
                  </a:outerShdw>
                </a:effectLst>
              </a:rPr>
              <a:t>arranged in a hierarchy</a:t>
            </a:r>
            <a:endParaRPr lang="en-US" altLang="en-US" dirty="0">
              <a:ln w="0"/>
              <a:solidFill>
                <a:schemeClr val="tx1"/>
              </a:solidFill>
              <a:effectLst>
                <a:outerShdw blurRad="38100" dist="19050" dir="2700000" algn="tl" rotWithShape="0">
                  <a:schemeClr val="dk1">
                    <a:alpha val="40000"/>
                  </a:schemeClr>
                </a:outerShdw>
              </a:effectLst>
            </a:endParaRPr>
          </a:p>
          <a:p>
            <a:pPr marL="342900" lvl="1" indent="-342900"/>
            <a:endParaRPr lang="en-US" altLang="en-US" dirty="0">
              <a:ln w="0"/>
              <a:solidFill>
                <a:schemeClr val="tx1"/>
              </a:solidFill>
              <a:effectLst>
                <a:outerShdw blurRad="38100" dist="19050" dir="2700000" algn="tl" rotWithShape="0">
                  <a:schemeClr val="dk1">
                    <a:alpha val="40000"/>
                  </a:schemeClr>
                </a:outerShdw>
              </a:effectLst>
            </a:endParaRPr>
          </a:p>
          <a:p>
            <a:pPr marL="0" indent="0">
              <a:buNone/>
            </a:pPr>
            <a:endParaRPr lang="en-MY" dirty="0">
              <a:ln w="0"/>
              <a:solidFill>
                <a:schemeClr val="tx1"/>
              </a:solidFill>
              <a:effectLst>
                <a:outerShdw blurRad="38100" dist="19050" dir="2700000" algn="tl" rotWithShape="0">
                  <a:schemeClr val="dk1">
                    <a:alpha val="40000"/>
                  </a:schemeClr>
                </a:outerShdw>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4315" y="772675"/>
            <a:ext cx="4673316" cy="576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362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Depicting/Presenting requirements</a:t>
            </a: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highlight>
                  <a:srgbClr val="FFFF00"/>
                </a:highlight>
              </a:rPr>
              <a:t>Depicting a requirement means showing, presenting, or expressing the requirement clearly</a:t>
            </a:r>
          </a:p>
          <a:p>
            <a:r>
              <a:rPr lang="en-US" dirty="0">
                <a:ln w="0"/>
                <a:solidFill>
                  <a:schemeClr val="tx1"/>
                </a:solidFill>
                <a:effectLst>
                  <a:outerShdw blurRad="38100" dist="19050" dir="2700000" algn="tl" rotWithShape="0">
                    <a:schemeClr val="dk1">
                      <a:alpha val="40000"/>
                    </a:schemeClr>
                  </a:outerShdw>
                </a:effectLst>
              </a:rPr>
              <a:t>Requirements determined in a project can be represented in the requirement documents in various ways</a:t>
            </a:r>
          </a:p>
          <a:p>
            <a:pPr lvl="1"/>
            <a:r>
              <a:rPr lang="en-US" dirty="0">
                <a:ln w="0"/>
                <a:solidFill>
                  <a:schemeClr val="tx1"/>
                </a:solidFill>
                <a:effectLst>
                  <a:outerShdw blurRad="38100" dist="19050" dir="2700000" algn="tl" rotWithShape="0">
                    <a:schemeClr val="dk1">
                      <a:alpha val="40000"/>
                    </a:schemeClr>
                  </a:outerShdw>
                </a:effectLst>
              </a:rPr>
              <a:t>Written form</a:t>
            </a:r>
          </a:p>
          <a:p>
            <a:pPr lvl="1"/>
            <a:r>
              <a:rPr lang="en-US" dirty="0">
                <a:ln w="0"/>
                <a:solidFill>
                  <a:schemeClr val="tx1"/>
                </a:solidFill>
                <a:effectLst>
                  <a:outerShdw blurRad="38100" dist="19050" dir="2700000" algn="tl" rotWithShape="0">
                    <a:schemeClr val="dk1">
                      <a:alpha val="40000"/>
                    </a:schemeClr>
                  </a:outerShdw>
                </a:effectLst>
              </a:rPr>
              <a:t>Mathematical form (esp. for algorithms)</a:t>
            </a:r>
          </a:p>
          <a:p>
            <a:pPr lvl="1"/>
            <a:r>
              <a:rPr lang="en-US" dirty="0">
                <a:ln w="0"/>
                <a:solidFill>
                  <a:schemeClr val="tx1"/>
                </a:solidFill>
                <a:effectLst>
                  <a:outerShdw blurRad="38100" dist="19050" dir="2700000" algn="tl" rotWithShape="0">
                    <a:schemeClr val="dk1">
                      <a:alpha val="40000"/>
                    </a:schemeClr>
                  </a:outerShdw>
                </a:effectLst>
              </a:rPr>
              <a:t>Graphical form – UML</a:t>
            </a:r>
          </a:p>
          <a:p>
            <a:pPr lvl="1"/>
            <a:r>
              <a:rPr lang="en-US" dirty="0">
                <a:ln w="0"/>
                <a:solidFill>
                  <a:schemeClr val="tx1"/>
                </a:solidFill>
                <a:effectLst>
                  <a:outerShdw blurRad="38100" dist="19050" dir="2700000" algn="tl" rotWithShape="0">
                    <a:schemeClr val="dk1">
                      <a:alpha val="40000"/>
                    </a:schemeClr>
                  </a:outerShdw>
                </a:effectLst>
              </a:rPr>
              <a:t>Models/prototypes</a:t>
            </a:r>
          </a:p>
          <a:p>
            <a:pPr marL="457200" lvl="1" indent="0">
              <a:buNone/>
            </a:pPr>
            <a:endParaRPr lang="en-US" dirty="0">
              <a:ln w="0"/>
              <a:solidFill>
                <a:schemeClr val="tx1"/>
              </a:solidFill>
              <a:effectLst>
                <a:outerShdw blurRad="38100" dist="19050" dir="2700000" algn="tl" rotWithShape="0">
                  <a:schemeClr val="dk1">
                    <a:alpha val="40000"/>
                  </a:schemeClr>
                </a:outerShdw>
              </a:effectLst>
            </a:endParaRPr>
          </a:p>
          <a:p>
            <a:r>
              <a:rPr lang="en-US" dirty="0">
                <a:ln w="0"/>
                <a:solidFill>
                  <a:schemeClr val="tx1"/>
                </a:solidFill>
                <a:effectLst>
                  <a:outerShdw blurRad="38100" dist="19050" dir="2700000" algn="tl" rotWithShape="0">
                    <a:schemeClr val="dk1">
                      <a:alpha val="40000"/>
                    </a:schemeClr>
                  </a:outerShdw>
                </a:effectLst>
              </a:rPr>
              <a:t>UML diagrams for representing requirements will be covered in detail in a later lecture.</a:t>
            </a:r>
          </a:p>
          <a:p>
            <a:pPr marL="0" indent="0">
              <a:buNone/>
            </a:pPr>
            <a:endParaRPr lang="en-US"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33804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Requirements to Analysis models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Requirements analysis takes the results of domain analysis (requirement documents) to create models to better represent the domain in a programmatic manner</a:t>
            </a:r>
            <a:endParaRPr lang="en-MY" dirty="0">
              <a:ln w="0"/>
              <a:solidFill>
                <a:schemeClr val="tx1"/>
              </a:solidFill>
              <a:effectLst>
                <a:outerShdw blurRad="38100" dist="19050" dir="2700000" algn="tl" rotWithShape="0">
                  <a:schemeClr val="dk1">
                    <a:alpha val="40000"/>
                  </a:schemeClr>
                </a:outerShdw>
              </a:effectLst>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4410" y="1986039"/>
            <a:ext cx="6588170" cy="4554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732607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Analysis models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dirty="0">
                <a:ln w="0"/>
                <a:solidFill>
                  <a:schemeClr val="tx1"/>
                </a:solidFill>
                <a:effectLst>
                  <a:outerShdw blurRad="38100" dist="19050" dir="2700000" algn="tl" rotWithShape="0">
                    <a:schemeClr val="dk1">
                      <a:alpha val="40000"/>
                    </a:schemeClr>
                  </a:outerShdw>
                </a:effectLst>
                <a:highlight>
                  <a:srgbClr val="FFFF00"/>
                </a:highlight>
              </a:rPr>
              <a:t>Analysis Object Model (AOM)</a:t>
            </a:r>
          </a:p>
          <a:p>
            <a:pPr lvl="1"/>
            <a:r>
              <a:rPr lang="en-MY" dirty="0">
                <a:ln w="0"/>
                <a:solidFill>
                  <a:schemeClr val="tx1"/>
                </a:solidFill>
                <a:effectLst>
                  <a:outerShdw blurRad="38100" dist="19050" dir="2700000" algn="tl" rotWithShape="0">
                    <a:schemeClr val="dk1">
                      <a:alpha val="40000"/>
                    </a:schemeClr>
                  </a:outerShdw>
                </a:effectLst>
              </a:rPr>
              <a:t>System from the user’s perspective</a:t>
            </a:r>
          </a:p>
          <a:p>
            <a:pPr lvl="1"/>
            <a:r>
              <a:rPr lang="en-MY" dirty="0">
                <a:ln w="0"/>
                <a:solidFill>
                  <a:schemeClr val="tx1"/>
                </a:solidFill>
                <a:effectLst>
                  <a:outerShdw blurRad="38100" dist="19050" dir="2700000" algn="tl" rotWithShape="0">
                    <a:schemeClr val="dk1">
                      <a:alpha val="40000"/>
                    </a:schemeClr>
                  </a:outerShdw>
                </a:effectLst>
              </a:rPr>
              <a:t>Classes and Objects (User-Level Concepts, no software classes!)</a:t>
            </a:r>
          </a:p>
          <a:p>
            <a:pPr lvl="1"/>
            <a:r>
              <a:rPr lang="en-MY" dirty="0">
                <a:ln w="0"/>
                <a:solidFill>
                  <a:schemeClr val="tx1"/>
                </a:solidFill>
                <a:effectLst>
                  <a:outerShdw blurRad="38100" dist="19050" dir="2700000" algn="tl" rotWithShape="0">
                    <a:schemeClr val="dk1">
                      <a:alpha val="40000"/>
                    </a:schemeClr>
                  </a:outerShdw>
                </a:effectLst>
              </a:rPr>
              <a:t>Attributes</a:t>
            </a:r>
          </a:p>
          <a:p>
            <a:pPr lvl="1"/>
            <a:r>
              <a:rPr lang="en-MY" dirty="0">
                <a:ln w="0"/>
                <a:solidFill>
                  <a:schemeClr val="tx1"/>
                </a:solidFill>
                <a:effectLst>
                  <a:outerShdw blurRad="38100" dist="19050" dir="2700000" algn="tl" rotWithShape="0">
                    <a:schemeClr val="dk1">
                      <a:alpha val="40000"/>
                    </a:schemeClr>
                  </a:outerShdw>
                </a:effectLst>
              </a:rPr>
              <a:t>Operations</a:t>
            </a:r>
          </a:p>
          <a:p>
            <a:pPr lvl="1"/>
            <a:r>
              <a:rPr lang="en-MY" dirty="0">
                <a:ln w="0"/>
                <a:solidFill>
                  <a:schemeClr val="tx1"/>
                </a:solidFill>
                <a:effectLst>
                  <a:outerShdw blurRad="38100" dist="19050" dir="2700000" algn="tl" rotWithShape="0">
                    <a:schemeClr val="dk1">
                      <a:alpha val="40000"/>
                    </a:schemeClr>
                  </a:outerShdw>
                </a:effectLst>
              </a:rPr>
              <a:t>Associations</a:t>
            </a:r>
          </a:p>
          <a:p>
            <a:pPr lvl="1"/>
            <a:r>
              <a:rPr lang="en-MY" dirty="0">
                <a:ln w="0"/>
                <a:solidFill>
                  <a:schemeClr val="tx1"/>
                </a:solidFill>
                <a:effectLst>
                  <a:outerShdw blurRad="38100" dist="19050" dir="2700000" algn="tl" rotWithShape="0">
                    <a:schemeClr val="dk1">
                      <a:alpha val="40000"/>
                    </a:schemeClr>
                  </a:outerShdw>
                </a:effectLst>
              </a:rPr>
              <a:t>can serve as visual dictionary of application domain </a:t>
            </a:r>
          </a:p>
          <a:p>
            <a:r>
              <a:rPr lang="en-MY" dirty="0">
                <a:ln w="0"/>
                <a:solidFill>
                  <a:schemeClr val="tx1"/>
                </a:solidFill>
                <a:effectLst>
                  <a:outerShdw blurRad="38100" dist="19050" dir="2700000" algn="tl" rotWithShape="0">
                    <a:schemeClr val="dk1">
                      <a:alpha val="40000"/>
                    </a:schemeClr>
                  </a:outerShdw>
                </a:effectLst>
                <a:highlight>
                  <a:srgbClr val="FFFF00"/>
                </a:highlight>
              </a:rPr>
              <a:t>Dynamic Model</a:t>
            </a:r>
          </a:p>
          <a:p>
            <a:pPr lvl="1"/>
            <a:r>
              <a:rPr lang="en-MY" dirty="0">
                <a:ln w="0"/>
                <a:solidFill>
                  <a:schemeClr val="tx1"/>
                </a:solidFill>
                <a:effectLst>
                  <a:outerShdw blurRad="38100" dist="19050" dir="2700000" algn="tl" rotWithShape="0">
                    <a:schemeClr val="dk1">
                      <a:alpha val="40000"/>
                    </a:schemeClr>
                  </a:outerShdw>
                </a:effectLst>
              </a:rPr>
              <a:t>Models the </a:t>
            </a:r>
            <a:r>
              <a:rPr lang="en-MY" dirty="0" err="1">
                <a:ln w="0"/>
                <a:solidFill>
                  <a:schemeClr val="tx1"/>
                </a:solidFill>
                <a:effectLst>
                  <a:outerShdw blurRad="38100" dist="19050" dir="2700000" algn="tl" rotWithShape="0">
                    <a:schemeClr val="dk1">
                      <a:alpha val="40000"/>
                    </a:schemeClr>
                  </a:outerShdw>
                </a:effectLst>
              </a:rPr>
              <a:t>behavior</a:t>
            </a:r>
            <a:r>
              <a:rPr lang="en-MY" dirty="0">
                <a:ln w="0"/>
                <a:solidFill>
                  <a:schemeClr val="tx1"/>
                </a:solidFill>
                <a:effectLst>
                  <a:outerShdw blurRad="38100" dist="19050" dir="2700000" algn="tl" rotWithShape="0">
                    <a:schemeClr val="dk1">
                      <a:alpha val="40000"/>
                    </a:schemeClr>
                  </a:outerShdw>
                </a:effectLst>
              </a:rPr>
              <a:t> of the system</a:t>
            </a:r>
          </a:p>
          <a:p>
            <a:pPr lvl="1"/>
            <a:r>
              <a:rPr lang="en-MY" dirty="0">
                <a:ln w="0"/>
                <a:solidFill>
                  <a:schemeClr val="tx1"/>
                </a:solidFill>
                <a:effectLst>
                  <a:outerShdw blurRad="38100" dist="19050" dir="2700000" algn="tl" rotWithShape="0">
                    <a:schemeClr val="dk1">
                      <a:alpha val="40000"/>
                    </a:schemeClr>
                  </a:outerShdw>
                </a:effectLst>
              </a:rPr>
              <a:t>Responsibilities of classes, Flow of Control</a:t>
            </a:r>
          </a:p>
          <a:p>
            <a:pPr lvl="1"/>
            <a:r>
              <a:rPr lang="en-MY" dirty="0">
                <a:ln w="0"/>
                <a:solidFill>
                  <a:schemeClr val="tx1"/>
                </a:solidFill>
                <a:effectLst>
                  <a:outerShdw blurRad="38100" dist="19050" dir="2700000" algn="tl" rotWithShape="0">
                    <a:schemeClr val="dk1">
                      <a:alpha val="40000"/>
                    </a:schemeClr>
                  </a:outerShdw>
                </a:effectLst>
              </a:rPr>
              <a:t>In general using </a:t>
            </a:r>
          </a:p>
          <a:p>
            <a:pPr lvl="1"/>
            <a:r>
              <a:rPr lang="en-MY" dirty="0" err="1">
                <a:ln w="0"/>
                <a:solidFill>
                  <a:schemeClr val="tx1"/>
                </a:solidFill>
                <a:effectLst>
                  <a:outerShdw blurRad="38100" dist="19050" dir="2700000" algn="tl" rotWithShape="0">
                    <a:schemeClr val="dk1">
                      <a:alpha val="40000"/>
                    </a:schemeClr>
                  </a:outerShdw>
                </a:effectLst>
              </a:rPr>
              <a:t>Statechart</a:t>
            </a:r>
            <a:r>
              <a:rPr lang="en-MY" dirty="0">
                <a:ln w="0"/>
                <a:solidFill>
                  <a:schemeClr val="tx1"/>
                </a:solidFill>
                <a:effectLst>
                  <a:outerShdw blurRad="38100" dist="19050" dir="2700000" algn="tl" rotWithShape="0">
                    <a:schemeClr val="dk1">
                      <a:alpha val="40000"/>
                    </a:schemeClr>
                  </a:outerShdw>
                </a:effectLst>
              </a:rPr>
              <a:t> Diagram</a:t>
            </a:r>
          </a:p>
          <a:p>
            <a:pPr lvl="1"/>
            <a:r>
              <a:rPr lang="en-MY" dirty="0">
                <a:ln w="0"/>
                <a:solidFill>
                  <a:schemeClr val="tx1"/>
                </a:solidFill>
                <a:effectLst>
                  <a:outerShdw blurRad="38100" dist="19050" dir="2700000" algn="tl" rotWithShape="0">
                    <a:schemeClr val="dk1">
                      <a:alpha val="40000"/>
                    </a:schemeClr>
                  </a:outerShdw>
                </a:effectLst>
              </a:rPr>
              <a:t>Sequence diagram</a:t>
            </a:r>
          </a:p>
        </p:txBody>
      </p:sp>
    </p:spTree>
    <p:extLst>
      <p:ext uri="{BB962C8B-B14F-4D97-AF65-F5344CB8AC3E}">
        <p14:creationId xmlns:p14="http://schemas.microsoft.com/office/powerpoint/2010/main" val="384196118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Creating the Analysis object model</a:t>
            </a:r>
            <a:endParaRPr lang="en-MY" dirty="0">
              <a:ln w="0"/>
              <a:solidFill>
                <a:schemeClr val="tx1"/>
              </a:solidFill>
              <a:effectLst>
                <a:outerShdw blurRad="38100" dist="19050" dir="2700000" algn="tl" rotWithShape="0">
                  <a:schemeClr val="dk1">
                    <a:alpha val="40000"/>
                  </a:schemeClr>
                </a:outerShdw>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395" y="1076255"/>
            <a:ext cx="8414725" cy="4857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235053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Steps to analysis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b="1" dirty="0">
                <a:ln w="0"/>
                <a:solidFill>
                  <a:srgbClr val="FF0000"/>
                </a:solidFill>
                <a:effectLst>
                  <a:outerShdw blurRad="38100" dist="19050" dir="2700000" algn="tl" rotWithShape="0">
                    <a:schemeClr val="dk1">
                      <a:alpha val="40000"/>
                    </a:schemeClr>
                  </a:outerShdw>
                </a:effectLst>
              </a:rPr>
              <a:t>Formulate</a:t>
            </a:r>
            <a:r>
              <a:rPr lang="en-MY" dirty="0">
                <a:ln w="0"/>
                <a:solidFill>
                  <a:schemeClr val="tx1"/>
                </a:solidFill>
                <a:effectLst>
                  <a:outerShdw blurRad="38100" dist="19050" dir="2700000" algn="tl" rotWithShape="0">
                    <a:schemeClr val="dk1">
                      <a:alpha val="40000"/>
                    </a:schemeClr>
                  </a:outerShdw>
                </a:effectLst>
              </a:rPr>
              <a:t> a few scenarios with help from the end user and/or application domain expert</a:t>
            </a:r>
          </a:p>
          <a:p>
            <a:r>
              <a:rPr lang="en-MY" b="1" dirty="0">
                <a:ln w="0"/>
                <a:solidFill>
                  <a:srgbClr val="FF0000"/>
                </a:solidFill>
                <a:effectLst>
                  <a:outerShdw blurRad="38100" dist="19050" dir="2700000" algn="tl" rotWithShape="0">
                    <a:schemeClr val="dk1">
                      <a:alpha val="40000"/>
                    </a:schemeClr>
                  </a:outerShdw>
                </a:effectLst>
              </a:rPr>
              <a:t>Extract </a:t>
            </a:r>
            <a:r>
              <a:rPr lang="en-MY" dirty="0">
                <a:ln w="0"/>
                <a:solidFill>
                  <a:schemeClr val="tx1"/>
                </a:solidFill>
                <a:effectLst>
                  <a:outerShdw blurRad="38100" dist="19050" dir="2700000" algn="tl" rotWithShape="0">
                    <a:schemeClr val="dk1">
                      <a:alpha val="40000"/>
                    </a:schemeClr>
                  </a:outerShdw>
                </a:effectLst>
              </a:rPr>
              <a:t>the use cases from the scenarios, with the help of application domain expert</a:t>
            </a:r>
          </a:p>
          <a:p>
            <a:r>
              <a:rPr lang="en-MY" b="1" dirty="0" err="1">
                <a:ln w="0"/>
                <a:solidFill>
                  <a:srgbClr val="FF0000"/>
                </a:solidFill>
                <a:effectLst>
                  <a:outerShdw blurRad="38100" dist="19050" dir="2700000" algn="tl" rotWithShape="0">
                    <a:schemeClr val="dk1">
                      <a:alpha val="40000"/>
                    </a:schemeClr>
                  </a:outerShdw>
                </a:effectLst>
              </a:rPr>
              <a:t>Analyze</a:t>
            </a:r>
            <a:r>
              <a:rPr lang="en-MY" dirty="0">
                <a:ln w="0"/>
                <a:solidFill>
                  <a:schemeClr val="tx1"/>
                </a:solidFill>
                <a:effectLst>
                  <a:outerShdw blurRad="38100" dist="19050" dir="2700000" algn="tl" rotWithShape="0">
                    <a:schemeClr val="dk1">
                      <a:alpha val="40000"/>
                    </a:schemeClr>
                  </a:outerShdw>
                </a:effectLst>
              </a:rPr>
              <a:t> the flow of events</a:t>
            </a:r>
          </a:p>
          <a:p>
            <a:r>
              <a:rPr lang="en-MY" b="1" dirty="0">
                <a:ln w="0"/>
                <a:solidFill>
                  <a:srgbClr val="FF0000"/>
                </a:solidFill>
                <a:effectLst>
                  <a:outerShdw blurRad="38100" dist="19050" dir="2700000" algn="tl" rotWithShape="0">
                    <a:schemeClr val="dk1">
                      <a:alpha val="40000"/>
                    </a:schemeClr>
                  </a:outerShdw>
                </a:effectLst>
              </a:rPr>
              <a:t>Generate</a:t>
            </a:r>
            <a:r>
              <a:rPr lang="en-MY" dirty="0">
                <a:ln w="0"/>
                <a:solidFill>
                  <a:schemeClr val="tx1"/>
                </a:solidFill>
                <a:effectLst>
                  <a:outerShdw blurRad="38100" dist="19050" dir="2700000" algn="tl" rotWithShape="0">
                    <a:schemeClr val="dk1">
                      <a:alpha val="40000"/>
                    </a:schemeClr>
                  </a:outerShdw>
                </a:effectLst>
              </a:rPr>
              <a:t> the class diagrams, which includes the following steps:</a:t>
            </a:r>
          </a:p>
          <a:p>
            <a:pPr lvl="1">
              <a:buFont typeface="Wingdings" panose="05000000000000000000" pitchFamily="2" charset="2"/>
              <a:buChar char="Ø"/>
            </a:pPr>
            <a:r>
              <a:rPr lang="en-MY" dirty="0">
                <a:ln w="0"/>
                <a:solidFill>
                  <a:schemeClr val="tx1"/>
                </a:solidFill>
                <a:effectLst>
                  <a:outerShdw blurRad="38100" dist="19050" dir="2700000" algn="tl" rotWithShape="0">
                    <a:schemeClr val="dk1">
                      <a:alpha val="40000"/>
                    </a:schemeClr>
                  </a:outerShdw>
                </a:effectLst>
              </a:rPr>
              <a:t>Class identification (textual analysis, domain experts) across all Use Cases (sharing of classes and objects)</a:t>
            </a:r>
          </a:p>
          <a:p>
            <a:pPr lvl="1">
              <a:buFont typeface="Wingdings" panose="05000000000000000000" pitchFamily="2" charset="2"/>
              <a:buChar char="Ø"/>
            </a:pPr>
            <a:r>
              <a:rPr lang="en-MY" dirty="0">
                <a:ln w="0"/>
                <a:solidFill>
                  <a:schemeClr val="tx1"/>
                </a:solidFill>
                <a:effectLst>
                  <a:outerShdw blurRad="38100" dist="19050" dir="2700000" algn="tl" rotWithShape="0">
                    <a:schemeClr val="dk1">
                      <a:alpha val="40000"/>
                    </a:schemeClr>
                  </a:outerShdw>
                </a:effectLst>
              </a:rPr>
              <a:t>Identification of attributes and operations (sometimes before the classes are found!)</a:t>
            </a:r>
          </a:p>
          <a:p>
            <a:pPr lvl="1">
              <a:buFont typeface="Wingdings" panose="05000000000000000000" pitchFamily="2" charset="2"/>
              <a:buChar char="Ø"/>
            </a:pPr>
            <a:r>
              <a:rPr lang="en-MY" dirty="0">
                <a:ln w="0"/>
                <a:solidFill>
                  <a:schemeClr val="tx1"/>
                </a:solidFill>
                <a:effectLst>
                  <a:outerShdw blurRad="38100" dist="19050" dir="2700000" algn="tl" rotWithShape="0">
                    <a:schemeClr val="dk1">
                      <a:alpha val="40000"/>
                    </a:schemeClr>
                  </a:outerShdw>
                </a:effectLst>
              </a:rPr>
              <a:t>Identification of associations between classes</a:t>
            </a:r>
          </a:p>
          <a:p>
            <a:pPr lvl="1">
              <a:buFont typeface="Wingdings" panose="05000000000000000000" pitchFamily="2" charset="2"/>
              <a:buChar char="Ø"/>
            </a:pPr>
            <a:r>
              <a:rPr lang="en-MY" dirty="0">
                <a:ln w="0"/>
                <a:solidFill>
                  <a:schemeClr val="tx1"/>
                </a:solidFill>
                <a:effectLst>
                  <a:outerShdw blurRad="38100" dist="19050" dir="2700000" algn="tl" rotWithShape="0">
                    <a:schemeClr val="dk1">
                      <a:alpha val="40000"/>
                    </a:schemeClr>
                  </a:outerShdw>
                </a:effectLst>
              </a:rPr>
              <a:t>Identification of multiplicities</a:t>
            </a:r>
          </a:p>
          <a:p>
            <a:pPr lvl="1">
              <a:buFont typeface="Wingdings" panose="05000000000000000000" pitchFamily="2" charset="2"/>
              <a:buChar char="Ø"/>
            </a:pPr>
            <a:r>
              <a:rPr lang="en-MY" dirty="0">
                <a:ln w="0"/>
                <a:solidFill>
                  <a:schemeClr val="tx1"/>
                </a:solidFill>
                <a:effectLst>
                  <a:outerShdw blurRad="38100" dist="19050" dir="2700000" algn="tl" rotWithShape="0">
                    <a:schemeClr val="dk1">
                      <a:alpha val="40000"/>
                    </a:schemeClr>
                  </a:outerShdw>
                </a:effectLst>
              </a:rPr>
              <a:t>Identification of roles</a:t>
            </a:r>
          </a:p>
          <a:p>
            <a:pPr lvl="1">
              <a:buFont typeface="Wingdings" panose="05000000000000000000" pitchFamily="2" charset="2"/>
              <a:buChar char="Ø"/>
            </a:pPr>
            <a:r>
              <a:rPr lang="en-MY" dirty="0">
                <a:ln w="0"/>
                <a:solidFill>
                  <a:schemeClr val="tx1"/>
                </a:solidFill>
                <a:effectLst>
                  <a:outerShdw blurRad="38100" dist="19050" dir="2700000" algn="tl" rotWithShape="0">
                    <a:schemeClr val="dk1">
                      <a:alpha val="40000"/>
                    </a:schemeClr>
                  </a:outerShdw>
                </a:effectLst>
              </a:rPr>
              <a:t>Identification of constraints</a:t>
            </a:r>
          </a:p>
        </p:txBody>
      </p:sp>
    </p:spTree>
    <p:extLst>
      <p:ext uri="{BB962C8B-B14F-4D97-AF65-F5344CB8AC3E}">
        <p14:creationId xmlns:p14="http://schemas.microsoft.com/office/powerpoint/2010/main" val="394147453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Class Identification</a:t>
            </a:r>
            <a:endParaRPr lang="en-MY" dirty="0">
              <a:ln w="0"/>
              <a:solidFill>
                <a:schemeClr val="tx1"/>
              </a:solidFill>
              <a:effectLst>
                <a:outerShdw blurRad="38100" dist="19050" dir="2700000" algn="tl" rotWithShape="0">
                  <a:schemeClr val="dk1">
                    <a:alpha val="40000"/>
                  </a:schemeClr>
                </a:outerShdw>
              </a:effectLst>
            </a:endParaRPr>
          </a:p>
        </p:txBody>
      </p:sp>
      <p:sp>
        <p:nvSpPr>
          <p:cNvPr id="4" name="Content Placeholder 3"/>
          <p:cNvSpPr>
            <a:spLocks noGrp="1"/>
          </p:cNvSpPr>
          <p:nvPr>
            <p:ph idx="1"/>
          </p:nvPr>
        </p:nvSpPr>
        <p:spPr/>
        <p:txBody>
          <a:bodyPr/>
          <a:lstStyle/>
          <a:p>
            <a:r>
              <a:rPr lang="en-MY" dirty="0">
                <a:ln w="0"/>
                <a:solidFill>
                  <a:schemeClr val="tx1"/>
                </a:solidFill>
                <a:effectLst>
                  <a:outerShdw blurRad="38100" dist="19050" dir="2700000" algn="tl" rotWithShape="0">
                    <a:schemeClr val="dk1">
                      <a:alpha val="40000"/>
                    </a:schemeClr>
                  </a:outerShdw>
                </a:effectLst>
              </a:rPr>
              <a:t>Identify and describe all important entities in the system </a:t>
            </a:r>
          </a:p>
          <a:p>
            <a:r>
              <a:rPr lang="en-MY" dirty="0">
                <a:ln w="0"/>
                <a:solidFill>
                  <a:schemeClr val="tx1"/>
                </a:solidFill>
                <a:effectLst>
                  <a:outerShdw blurRad="38100" dist="19050" dir="2700000" algn="tl" rotWithShape="0">
                    <a:schemeClr val="dk1">
                      <a:alpha val="40000"/>
                    </a:schemeClr>
                  </a:outerShdw>
                </a:effectLst>
              </a:rPr>
              <a:t>Steps during object </a:t>
            </a:r>
            <a:r>
              <a:rPr lang="en-MY" dirty="0" err="1">
                <a:ln w="0"/>
                <a:solidFill>
                  <a:schemeClr val="tx1"/>
                </a:solidFill>
                <a:effectLst>
                  <a:outerShdw blurRad="38100" dist="19050" dir="2700000" algn="tl" rotWithShape="0">
                    <a:schemeClr val="dk1">
                      <a:alpha val="40000"/>
                    </a:schemeClr>
                  </a:outerShdw>
                </a:effectLst>
              </a:rPr>
              <a:t>modeling</a:t>
            </a:r>
            <a:endParaRPr lang="en-MY" dirty="0">
              <a:ln w="0"/>
              <a:solidFill>
                <a:schemeClr val="tx1"/>
              </a:solidFill>
              <a:effectLst>
                <a:outerShdw blurRad="38100" dist="19050" dir="2700000" algn="tl" rotWithShape="0">
                  <a:schemeClr val="dk1">
                    <a:alpha val="40000"/>
                  </a:schemeClr>
                </a:outerShdw>
              </a:effectLst>
            </a:endParaRPr>
          </a:p>
          <a:p>
            <a:pPr lvl="1"/>
            <a:r>
              <a:rPr lang="en-MY" dirty="0">
                <a:ln w="0"/>
                <a:solidFill>
                  <a:schemeClr val="tx1"/>
                </a:solidFill>
                <a:effectLst>
                  <a:outerShdw blurRad="38100" dist="19050" dir="2700000" algn="tl" rotWithShape="0">
                    <a:schemeClr val="dk1">
                      <a:alpha val="40000"/>
                    </a:schemeClr>
                  </a:outerShdw>
                </a:effectLst>
              </a:rPr>
              <a:t>Class identification – identifying objects important to the sys</a:t>
            </a:r>
          </a:p>
          <a:p>
            <a:pPr lvl="1"/>
            <a:r>
              <a:rPr lang="en-MY" dirty="0">
                <a:ln w="0"/>
                <a:solidFill>
                  <a:schemeClr val="tx1"/>
                </a:solidFill>
                <a:effectLst>
                  <a:outerShdw blurRad="38100" dist="19050" dir="2700000" algn="tl" rotWithShape="0">
                    <a:schemeClr val="dk1">
                      <a:alpha val="40000"/>
                    </a:schemeClr>
                  </a:outerShdw>
                </a:effectLst>
              </a:rPr>
              <a:t>Find the attributes and methods</a:t>
            </a:r>
          </a:p>
          <a:p>
            <a:pPr lvl="1"/>
            <a:r>
              <a:rPr lang="en-MY" dirty="0">
                <a:ln w="0"/>
                <a:solidFill>
                  <a:schemeClr val="tx1"/>
                </a:solidFill>
                <a:effectLst>
                  <a:outerShdw blurRad="38100" dist="19050" dir="2700000" algn="tl" rotWithShape="0">
                    <a:schemeClr val="dk1">
                      <a:alpha val="40000"/>
                    </a:schemeClr>
                  </a:outerShdw>
                </a:effectLst>
              </a:rPr>
              <a:t>Find the associations between classes</a:t>
            </a:r>
          </a:p>
          <a:p>
            <a:r>
              <a:rPr lang="en-MY" dirty="0">
                <a:ln w="0"/>
                <a:solidFill>
                  <a:schemeClr val="tx1"/>
                </a:solidFill>
                <a:effectLst>
                  <a:outerShdw blurRad="38100" dist="19050" dir="2700000" algn="tl" rotWithShape="0">
                    <a:schemeClr val="dk1">
                      <a:alpha val="40000"/>
                    </a:schemeClr>
                  </a:outerShdw>
                </a:effectLst>
              </a:rPr>
              <a:t>Iterate and correct the model (after reanalysis/checking)</a:t>
            </a:r>
          </a:p>
          <a:p>
            <a:r>
              <a:rPr lang="en-MY" dirty="0">
                <a:ln w="0"/>
                <a:solidFill>
                  <a:schemeClr val="tx1"/>
                </a:solidFill>
                <a:effectLst>
                  <a:outerShdw blurRad="38100" dist="19050" dir="2700000" algn="tl" rotWithShape="0">
                    <a:schemeClr val="dk1">
                      <a:alpha val="40000"/>
                    </a:schemeClr>
                  </a:outerShdw>
                </a:effectLst>
              </a:rPr>
              <a:t>Objects are not just found by taking a picture of a scene or domain - the application domain has to be </a:t>
            </a:r>
            <a:r>
              <a:rPr lang="en-MY" dirty="0" err="1">
                <a:ln w="0"/>
                <a:solidFill>
                  <a:schemeClr val="tx1"/>
                </a:solidFill>
                <a:effectLst>
                  <a:outerShdw blurRad="38100" dist="19050" dir="2700000" algn="tl" rotWithShape="0">
                    <a:schemeClr val="dk1">
                      <a:alpha val="40000"/>
                    </a:schemeClr>
                  </a:outerShdw>
                </a:effectLst>
              </a:rPr>
              <a:t>analyzed</a:t>
            </a:r>
            <a:r>
              <a:rPr lang="en-MY" dirty="0">
                <a:ln w="0"/>
                <a:solidFill>
                  <a:schemeClr val="tx1"/>
                </a:solidFill>
                <a:effectLst>
                  <a:outerShdw blurRad="38100" dist="19050" dir="2700000" algn="tl" rotWithShape="0">
                    <a:schemeClr val="dk1">
                      <a:alpha val="40000"/>
                    </a:schemeClr>
                  </a:outerShdw>
                </a:effectLst>
              </a:rPr>
              <a:t> </a:t>
            </a:r>
          </a:p>
          <a:p>
            <a:r>
              <a:rPr lang="en-MY" dirty="0">
                <a:ln w="0"/>
                <a:solidFill>
                  <a:schemeClr val="tx1"/>
                </a:solidFill>
                <a:effectLst>
                  <a:outerShdw blurRad="38100" dist="19050" dir="2700000" algn="tl" rotWithShape="0">
                    <a:schemeClr val="dk1">
                      <a:alpha val="40000"/>
                    </a:schemeClr>
                  </a:outerShdw>
                </a:effectLst>
              </a:rPr>
              <a:t>Depending on the purpose of the system different objects might be found</a:t>
            </a:r>
          </a:p>
          <a:p>
            <a:r>
              <a:rPr lang="en-MY" dirty="0">
                <a:ln w="0"/>
                <a:solidFill>
                  <a:schemeClr val="tx1"/>
                </a:solidFill>
                <a:effectLst>
                  <a:outerShdw blurRad="38100" dist="19050" dir="2700000" algn="tl" rotWithShape="0">
                    <a:schemeClr val="dk1">
                      <a:alpha val="40000"/>
                    </a:schemeClr>
                  </a:outerShdw>
                </a:effectLst>
              </a:rPr>
              <a:t>How can we identify the purpose of a system? Take the Scenarios and use cases as foundation!</a:t>
            </a:r>
          </a:p>
          <a:p>
            <a:r>
              <a:rPr lang="en-US" dirty="0">
                <a:ln w="0"/>
                <a:solidFill>
                  <a:schemeClr val="tx1"/>
                </a:solidFill>
                <a:effectLst>
                  <a:outerShdw blurRad="38100" dist="19050" dir="2700000" algn="tl" rotWithShape="0">
                    <a:schemeClr val="dk1">
                      <a:alpha val="40000"/>
                    </a:schemeClr>
                  </a:outerShdw>
                </a:effectLst>
              </a:rPr>
              <a:t>Another important issue – define system boundary </a:t>
            </a:r>
            <a:r>
              <a:rPr lang="en-US" dirty="0">
                <a:ln w="0"/>
                <a:solidFill>
                  <a:schemeClr val="tx1"/>
                </a:solidFill>
                <a:effectLst>
                  <a:outerShdw blurRad="38100" dist="19050" dir="2700000" algn="tl" rotWithShape="0">
                    <a:schemeClr val="dk1">
                      <a:alpha val="40000"/>
                    </a:schemeClr>
                  </a:outerShdw>
                </a:effectLst>
                <a:sym typeface="Wingdings" panose="05000000000000000000" pitchFamily="2" charset="2"/>
              </a:rPr>
              <a:t> what objects are inside and what objects are outside the system?</a:t>
            </a:r>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8876647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Object models are represented with the object diagram – a graphical notation for modeling objects, classes and their relationships</a:t>
            </a:r>
          </a:p>
          <a:p>
            <a:r>
              <a:rPr lang="en-US" dirty="0">
                <a:ln w="0"/>
                <a:solidFill>
                  <a:schemeClr val="tx1"/>
                </a:solidFill>
                <a:effectLst>
                  <a:outerShdw blurRad="38100" dist="19050" dir="2700000" algn="tl" rotWithShape="0">
                    <a:schemeClr val="dk1">
                      <a:alpha val="40000"/>
                    </a:schemeClr>
                  </a:outerShdw>
                </a:effectLst>
              </a:rPr>
              <a:t>Two types</a:t>
            </a:r>
          </a:p>
          <a:p>
            <a:pPr lvl="1"/>
            <a:r>
              <a:rPr lang="en-MY" dirty="0">
                <a:ln w="0"/>
                <a:solidFill>
                  <a:srgbClr val="FF0000"/>
                </a:solidFill>
                <a:effectLst>
                  <a:outerShdw blurRad="38100" dist="19050" dir="2700000" algn="tl" rotWithShape="0">
                    <a:schemeClr val="dk1">
                      <a:alpha val="40000"/>
                    </a:schemeClr>
                  </a:outerShdw>
                </a:effectLst>
                <a:highlight>
                  <a:srgbClr val="FFFF00"/>
                </a:highlight>
              </a:rPr>
              <a:t>Class diagram</a:t>
            </a:r>
          </a:p>
          <a:p>
            <a:pPr lvl="2"/>
            <a:r>
              <a:rPr lang="en-MY" dirty="0">
                <a:ln w="0"/>
                <a:solidFill>
                  <a:schemeClr val="tx1"/>
                </a:solidFill>
                <a:effectLst>
                  <a:outerShdw blurRad="38100" dist="19050" dir="2700000" algn="tl" rotWithShape="0">
                    <a:schemeClr val="dk1">
                      <a:alpha val="40000"/>
                    </a:schemeClr>
                  </a:outerShdw>
                </a:effectLst>
              </a:rPr>
              <a:t>Template for describing many instances of data</a:t>
            </a:r>
          </a:p>
          <a:p>
            <a:pPr lvl="2"/>
            <a:r>
              <a:rPr lang="en-MY" dirty="0">
                <a:ln w="0"/>
                <a:solidFill>
                  <a:schemeClr val="tx1"/>
                </a:solidFill>
                <a:effectLst>
                  <a:outerShdw blurRad="38100" dist="19050" dir="2700000" algn="tl" rotWithShape="0">
                    <a:schemeClr val="dk1">
                      <a:alpha val="40000"/>
                    </a:schemeClr>
                  </a:outerShdw>
                </a:effectLst>
              </a:rPr>
              <a:t>Useful for taxonomies, patterns, schema...</a:t>
            </a:r>
          </a:p>
          <a:p>
            <a:pPr lvl="1"/>
            <a:r>
              <a:rPr lang="en-MY" dirty="0">
                <a:ln w="0"/>
                <a:solidFill>
                  <a:schemeClr val="tx1"/>
                </a:solidFill>
                <a:effectLst>
                  <a:outerShdw blurRad="38100" dist="19050" dir="2700000" algn="tl" rotWithShape="0">
                    <a:schemeClr val="dk1">
                      <a:alpha val="40000"/>
                    </a:schemeClr>
                  </a:outerShdw>
                </a:effectLst>
                <a:highlight>
                  <a:srgbClr val="FFFF00"/>
                </a:highlight>
              </a:rPr>
              <a:t>Instance diagram</a:t>
            </a:r>
          </a:p>
          <a:p>
            <a:pPr lvl="2"/>
            <a:r>
              <a:rPr lang="en-MY" dirty="0">
                <a:ln w="0"/>
                <a:solidFill>
                  <a:schemeClr val="tx1"/>
                </a:solidFill>
                <a:effectLst>
                  <a:outerShdw blurRad="38100" dist="19050" dir="2700000" algn="tl" rotWithShape="0">
                    <a:schemeClr val="dk1">
                      <a:alpha val="40000"/>
                    </a:schemeClr>
                  </a:outerShdw>
                </a:effectLst>
              </a:rPr>
              <a:t>A particular set of objects relating to each other.</a:t>
            </a:r>
          </a:p>
          <a:p>
            <a:pPr lvl="2"/>
            <a:r>
              <a:rPr lang="en-MY" dirty="0">
                <a:ln w="0"/>
                <a:solidFill>
                  <a:schemeClr val="tx1"/>
                </a:solidFill>
                <a:effectLst>
                  <a:outerShdw blurRad="38100" dist="19050" dir="2700000" algn="tl" rotWithShape="0">
                    <a:schemeClr val="dk1">
                      <a:alpha val="40000"/>
                    </a:schemeClr>
                  </a:outerShdw>
                </a:effectLst>
              </a:rPr>
              <a:t>Useful for discussing scenarios, test cases and examples – also for evaluation running states in test systems</a:t>
            </a:r>
          </a:p>
          <a:p>
            <a:pPr lvl="2"/>
            <a:endParaRPr lang="en-US" dirty="0">
              <a:ln w="0"/>
              <a:solidFill>
                <a:schemeClr val="tx1"/>
              </a:solidFill>
              <a:effectLst>
                <a:outerShdw blurRad="38100" dist="19050" dir="2700000" algn="tl" rotWithShape="0">
                  <a:schemeClr val="dk1">
                    <a:alpha val="40000"/>
                  </a:schemeClr>
                </a:outerShdw>
              </a:effectLst>
            </a:endParaRPr>
          </a:p>
          <a:p>
            <a:r>
              <a:rPr lang="en-US" dirty="0">
                <a:ln w="0"/>
                <a:solidFill>
                  <a:schemeClr val="tx1"/>
                </a:solidFill>
                <a:effectLst>
                  <a:outerShdw blurRad="38100" dist="19050" dir="2700000" algn="tl" rotWithShape="0">
                    <a:schemeClr val="dk1">
                      <a:alpha val="40000"/>
                    </a:schemeClr>
                  </a:outerShdw>
                </a:effectLst>
              </a:rPr>
              <a:t>OO Class diagrams are covered in detail later.</a:t>
            </a:r>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1307734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Identifying participating objects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b="1" dirty="0">
                <a:ln w="0"/>
                <a:solidFill>
                  <a:srgbClr val="FF0000"/>
                </a:solidFill>
                <a:effectLst>
                  <a:outerShdw blurRad="38100" dist="19050" dir="2700000" algn="tl" rotWithShape="0">
                    <a:schemeClr val="dk1">
                      <a:alpha val="40000"/>
                    </a:schemeClr>
                  </a:outerShdw>
                </a:effectLst>
              </a:rPr>
              <a:t>Pick a use </a:t>
            </a:r>
            <a:r>
              <a:rPr lang="en-MY" dirty="0">
                <a:ln w="0"/>
                <a:solidFill>
                  <a:schemeClr val="tx1"/>
                </a:solidFill>
                <a:effectLst>
                  <a:outerShdw blurRad="38100" dist="19050" dir="2700000" algn="tl" rotWithShape="0">
                    <a:schemeClr val="dk1">
                      <a:alpha val="40000"/>
                    </a:schemeClr>
                  </a:outerShdw>
                </a:effectLst>
              </a:rPr>
              <a:t>case and look at its flow of events </a:t>
            </a:r>
          </a:p>
          <a:p>
            <a:r>
              <a:rPr lang="en-MY" b="1" dirty="0">
                <a:ln w="0"/>
                <a:solidFill>
                  <a:srgbClr val="FF0000"/>
                </a:solidFill>
                <a:effectLst>
                  <a:outerShdw blurRad="38100" dist="19050" dir="2700000" algn="tl" rotWithShape="0">
                    <a:schemeClr val="dk1">
                      <a:alpha val="40000"/>
                    </a:schemeClr>
                  </a:outerShdw>
                </a:effectLst>
              </a:rPr>
              <a:t>Find terms </a:t>
            </a:r>
            <a:r>
              <a:rPr lang="en-MY" dirty="0">
                <a:ln w="0"/>
                <a:solidFill>
                  <a:schemeClr val="tx1"/>
                </a:solidFill>
                <a:effectLst>
                  <a:outerShdw blurRad="38100" dist="19050" dir="2700000" algn="tl" rotWithShape="0">
                    <a:schemeClr val="dk1">
                      <a:alpha val="40000"/>
                    </a:schemeClr>
                  </a:outerShdw>
                </a:effectLst>
              </a:rPr>
              <a:t>that developers or users need to clarify in order to understand the flow of events</a:t>
            </a:r>
          </a:p>
          <a:p>
            <a:r>
              <a:rPr lang="en-MY" dirty="0">
                <a:ln w="0"/>
                <a:solidFill>
                  <a:schemeClr val="tx1"/>
                </a:solidFill>
                <a:effectLst>
                  <a:outerShdw blurRad="38100" dist="19050" dir="2700000" algn="tl" rotWithShape="0">
                    <a:schemeClr val="dk1">
                      <a:alpha val="40000"/>
                    </a:schemeClr>
                  </a:outerShdw>
                </a:effectLst>
              </a:rPr>
              <a:t>Look for recurring nouns (e.g., </a:t>
            </a:r>
            <a:r>
              <a:rPr lang="en-MY" i="1" dirty="0">
                <a:ln w="0"/>
                <a:solidFill>
                  <a:schemeClr val="tx1"/>
                </a:solidFill>
                <a:effectLst>
                  <a:outerShdw blurRad="38100" dist="19050" dir="2700000" algn="tl" rotWithShape="0">
                    <a:schemeClr val="dk1">
                      <a:alpha val="40000"/>
                    </a:schemeClr>
                  </a:outerShdw>
                </a:effectLst>
              </a:rPr>
              <a:t>Incident</a:t>
            </a:r>
            <a:r>
              <a:rPr lang="en-MY" dirty="0">
                <a:ln w="0"/>
                <a:solidFill>
                  <a:schemeClr val="tx1"/>
                </a:solidFill>
                <a:effectLst>
                  <a:outerShdw blurRad="38100" dist="19050" dir="2700000" algn="tl" rotWithShape="0">
                    <a:schemeClr val="dk1">
                      <a:alpha val="40000"/>
                    </a:schemeClr>
                  </a:outerShdw>
                </a:effectLst>
              </a:rPr>
              <a:t>, </a:t>
            </a:r>
            <a:r>
              <a:rPr lang="en-MY" i="1" dirty="0">
                <a:ln w="0"/>
                <a:solidFill>
                  <a:schemeClr val="tx1"/>
                </a:solidFill>
                <a:effectLst>
                  <a:outerShdw blurRad="38100" dist="19050" dir="2700000" algn="tl" rotWithShape="0">
                    <a:schemeClr val="dk1">
                      <a:alpha val="40000"/>
                    </a:schemeClr>
                  </a:outerShdw>
                </a:effectLst>
              </a:rPr>
              <a:t>Account</a:t>
            </a:r>
            <a:r>
              <a:rPr lang="en-MY" dirty="0">
                <a:ln w="0"/>
                <a:solidFill>
                  <a:schemeClr val="tx1"/>
                </a:solidFill>
                <a:effectLst>
                  <a:outerShdw blurRad="38100" dist="19050" dir="2700000" algn="tl" rotWithShape="0">
                    <a:schemeClr val="dk1">
                      <a:alpha val="40000"/>
                    </a:schemeClr>
                  </a:outerShdw>
                </a:effectLst>
              </a:rPr>
              <a:t>),</a:t>
            </a:r>
          </a:p>
          <a:p>
            <a:r>
              <a:rPr lang="en-MY" b="1" dirty="0">
                <a:ln w="0"/>
                <a:solidFill>
                  <a:srgbClr val="FF0000"/>
                </a:solidFill>
                <a:effectLst>
                  <a:outerShdw blurRad="38100" dist="19050" dir="2700000" algn="tl" rotWithShape="0">
                    <a:schemeClr val="dk1">
                      <a:alpha val="40000"/>
                    </a:schemeClr>
                  </a:outerShdw>
                </a:effectLst>
              </a:rPr>
              <a:t>Identify real world entities </a:t>
            </a:r>
            <a:r>
              <a:rPr lang="en-MY" dirty="0">
                <a:ln w="0"/>
                <a:solidFill>
                  <a:schemeClr val="tx1"/>
                </a:solidFill>
                <a:effectLst>
                  <a:outerShdw blurRad="38100" dist="19050" dir="2700000" algn="tl" rotWithShape="0">
                    <a:schemeClr val="dk1">
                      <a:alpha val="40000"/>
                    </a:schemeClr>
                  </a:outerShdw>
                </a:effectLst>
              </a:rPr>
              <a:t>that the system needs to keep track of (e.g., </a:t>
            </a:r>
            <a:r>
              <a:rPr lang="en-MY" i="1" dirty="0" err="1">
                <a:ln w="0"/>
                <a:solidFill>
                  <a:schemeClr val="tx1"/>
                </a:solidFill>
                <a:effectLst>
                  <a:outerShdw blurRad="38100" dist="19050" dir="2700000" algn="tl" rotWithShape="0">
                    <a:schemeClr val="dk1">
                      <a:alpha val="40000"/>
                    </a:schemeClr>
                  </a:outerShdw>
                </a:effectLst>
              </a:rPr>
              <a:t>FieldOfficer</a:t>
            </a:r>
            <a:r>
              <a:rPr lang="en-MY" dirty="0">
                <a:ln w="0"/>
                <a:solidFill>
                  <a:schemeClr val="tx1"/>
                </a:solidFill>
                <a:effectLst>
                  <a:outerShdw blurRad="38100" dist="19050" dir="2700000" algn="tl" rotWithShape="0">
                    <a:schemeClr val="dk1">
                      <a:alpha val="40000"/>
                    </a:schemeClr>
                  </a:outerShdw>
                </a:effectLst>
              </a:rPr>
              <a:t>, </a:t>
            </a:r>
            <a:r>
              <a:rPr lang="en-MY" i="1" dirty="0">
                <a:ln w="0"/>
                <a:solidFill>
                  <a:schemeClr val="tx1"/>
                </a:solidFill>
                <a:effectLst>
                  <a:outerShdw blurRad="38100" dist="19050" dir="2700000" algn="tl" rotWithShape="0">
                    <a:schemeClr val="dk1">
                      <a:alpha val="40000"/>
                    </a:schemeClr>
                  </a:outerShdw>
                </a:effectLst>
              </a:rPr>
              <a:t>Dispatcher</a:t>
            </a:r>
            <a:r>
              <a:rPr lang="en-MY" dirty="0">
                <a:ln w="0"/>
                <a:solidFill>
                  <a:schemeClr val="tx1"/>
                </a:solidFill>
                <a:effectLst>
                  <a:outerShdw blurRad="38100" dist="19050" dir="2700000" algn="tl" rotWithShape="0">
                    <a:schemeClr val="dk1">
                      <a:alpha val="40000"/>
                    </a:schemeClr>
                  </a:outerShdw>
                </a:effectLst>
              </a:rPr>
              <a:t>, </a:t>
            </a:r>
            <a:r>
              <a:rPr lang="en-MY" i="1" dirty="0">
                <a:ln w="0"/>
                <a:solidFill>
                  <a:schemeClr val="tx1"/>
                </a:solidFill>
                <a:effectLst>
                  <a:outerShdw blurRad="38100" dist="19050" dir="2700000" algn="tl" rotWithShape="0">
                    <a:schemeClr val="dk1">
                      <a:alpha val="40000"/>
                    </a:schemeClr>
                  </a:outerShdw>
                </a:effectLst>
              </a:rPr>
              <a:t>Resource</a:t>
            </a:r>
            <a:r>
              <a:rPr lang="en-MY" dirty="0">
                <a:ln w="0"/>
                <a:solidFill>
                  <a:schemeClr val="tx1"/>
                </a:solidFill>
                <a:effectLst>
                  <a:outerShdw blurRad="38100" dist="19050" dir="2700000" algn="tl" rotWithShape="0">
                    <a:schemeClr val="dk1">
                      <a:alpha val="40000"/>
                    </a:schemeClr>
                  </a:outerShdw>
                </a:effectLst>
              </a:rPr>
              <a:t>),</a:t>
            </a:r>
          </a:p>
          <a:p>
            <a:r>
              <a:rPr lang="en-MY" b="1" dirty="0">
                <a:ln w="0"/>
                <a:solidFill>
                  <a:srgbClr val="FF0000"/>
                </a:solidFill>
                <a:effectLst>
                  <a:outerShdw blurRad="38100" dist="19050" dir="2700000" algn="tl" rotWithShape="0">
                    <a:schemeClr val="dk1">
                      <a:alpha val="40000"/>
                    </a:schemeClr>
                  </a:outerShdw>
                </a:effectLst>
              </a:rPr>
              <a:t>Identify real world procedures </a:t>
            </a:r>
            <a:r>
              <a:rPr lang="en-MY" dirty="0">
                <a:ln w="0"/>
                <a:solidFill>
                  <a:schemeClr val="tx1"/>
                </a:solidFill>
                <a:effectLst>
                  <a:outerShdw blurRad="38100" dist="19050" dir="2700000" algn="tl" rotWithShape="0">
                    <a:schemeClr val="dk1">
                      <a:alpha val="40000"/>
                    </a:schemeClr>
                  </a:outerShdw>
                </a:effectLst>
              </a:rPr>
              <a:t>that the system needs to keep track of (e.g., </a:t>
            </a:r>
            <a:r>
              <a:rPr lang="en-MY" i="1" dirty="0" err="1">
                <a:ln w="0"/>
                <a:solidFill>
                  <a:schemeClr val="tx1"/>
                </a:solidFill>
                <a:effectLst>
                  <a:outerShdw blurRad="38100" dist="19050" dir="2700000" algn="tl" rotWithShape="0">
                    <a:schemeClr val="dk1">
                      <a:alpha val="40000"/>
                    </a:schemeClr>
                  </a:outerShdw>
                </a:effectLst>
              </a:rPr>
              <a:t>EmergencyOperationsPlan</a:t>
            </a:r>
            <a:r>
              <a:rPr lang="en-MY" dirty="0">
                <a:ln w="0"/>
                <a:solidFill>
                  <a:schemeClr val="tx1"/>
                </a:solidFill>
                <a:effectLst>
                  <a:outerShdw blurRad="38100" dist="19050" dir="2700000" algn="tl" rotWithShape="0">
                    <a:schemeClr val="dk1">
                      <a:alpha val="40000"/>
                    </a:schemeClr>
                  </a:outerShdw>
                </a:effectLst>
              </a:rPr>
              <a:t>),</a:t>
            </a:r>
          </a:p>
          <a:p>
            <a:r>
              <a:rPr lang="en-MY" dirty="0">
                <a:ln w="0"/>
                <a:solidFill>
                  <a:schemeClr val="tx1"/>
                </a:solidFill>
                <a:effectLst>
                  <a:outerShdw blurRad="38100" dist="19050" dir="2700000" algn="tl" rotWithShape="0">
                    <a:schemeClr val="dk1">
                      <a:alpha val="40000"/>
                    </a:schemeClr>
                  </a:outerShdw>
                </a:effectLst>
              </a:rPr>
              <a:t>Identify data sources or sinks (e.g., </a:t>
            </a:r>
            <a:r>
              <a:rPr lang="en-MY" i="1" dirty="0">
                <a:ln w="0"/>
                <a:solidFill>
                  <a:schemeClr val="tx1"/>
                </a:solidFill>
                <a:effectLst>
                  <a:outerShdw blurRad="38100" dist="19050" dir="2700000" algn="tl" rotWithShape="0">
                    <a:schemeClr val="dk1">
                      <a:alpha val="40000"/>
                    </a:schemeClr>
                  </a:outerShdw>
                </a:effectLst>
              </a:rPr>
              <a:t>Printer</a:t>
            </a:r>
            <a:r>
              <a:rPr lang="en-MY" dirty="0">
                <a:ln w="0"/>
                <a:solidFill>
                  <a:schemeClr val="tx1"/>
                </a:solidFill>
                <a:effectLst>
                  <a:outerShdw blurRad="38100" dist="19050" dir="2700000" algn="tl" rotWithShape="0">
                    <a:schemeClr val="dk1">
                      <a:alpha val="40000"/>
                    </a:schemeClr>
                  </a:outerShdw>
                </a:effectLst>
              </a:rPr>
              <a:t>)</a:t>
            </a:r>
          </a:p>
          <a:p>
            <a:r>
              <a:rPr lang="en-MY" dirty="0">
                <a:ln w="0"/>
                <a:solidFill>
                  <a:schemeClr val="tx1"/>
                </a:solidFill>
                <a:effectLst>
                  <a:outerShdw blurRad="38100" dist="19050" dir="2700000" algn="tl" rotWithShape="0">
                    <a:schemeClr val="dk1">
                      <a:alpha val="40000"/>
                    </a:schemeClr>
                  </a:outerShdw>
                </a:effectLst>
              </a:rPr>
              <a:t>Be prepared that some objects are still missing and need to be found: </a:t>
            </a:r>
          </a:p>
          <a:p>
            <a:r>
              <a:rPr lang="en-MY" b="1" dirty="0">
                <a:ln w="0"/>
                <a:solidFill>
                  <a:srgbClr val="FF0000"/>
                </a:solidFill>
                <a:effectLst>
                  <a:outerShdw blurRad="38100" dist="19050" dir="2700000" algn="tl" rotWithShape="0">
                    <a:schemeClr val="dk1">
                      <a:alpha val="40000"/>
                    </a:schemeClr>
                  </a:outerShdw>
                </a:effectLst>
              </a:rPr>
              <a:t>Model the flow of events </a:t>
            </a:r>
            <a:r>
              <a:rPr lang="en-MY" dirty="0">
                <a:ln w="0"/>
                <a:solidFill>
                  <a:schemeClr val="tx1"/>
                </a:solidFill>
                <a:effectLst>
                  <a:outerShdw blurRad="38100" dist="19050" dir="2700000" algn="tl" rotWithShape="0">
                    <a:schemeClr val="dk1">
                      <a:alpha val="40000"/>
                    </a:schemeClr>
                  </a:outerShdw>
                </a:effectLst>
              </a:rPr>
              <a:t>with a sequence diagram (later..)</a:t>
            </a:r>
          </a:p>
          <a:p>
            <a:r>
              <a:rPr lang="en-MY" dirty="0">
                <a:ln w="0"/>
                <a:solidFill>
                  <a:schemeClr val="tx1"/>
                </a:solidFill>
                <a:effectLst>
                  <a:outerShdw blurRad="38100" dist="19050" dir="2700000" algn="tl" rotWithShape="0">
                    <a:schemeClr val="dk1">
                      <a:alpha val="40000"/>
                    </a:schemeClr>
                  </a:outerShdw>
                </a:effectLst>
              </a:rPr>
              <a:t>Always use the user’s terms (i.e. based on domain)</a:t>
            </a:r>
          </a:p>
        </p:txBody>
      </p:sp>
    </p:spTree>
    <p:extLst>
      <p:ext uri="{BB962C8B-B14F-4D97-AF65-F5344CB8AC3E}">
        <p14:creationId xmlns:p14="http://schemas.microsoft.com/office/powerpoint/2010/main" val="34974961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Example</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dirty="0">
                <a:ln w="0"/>
                <a:solidFill>
                  <a:schemeClr val="tx1"/>
                </a:solidFill>
                <a:effectLst>
                  <a:outerShdw blurRad="38100" dist="19050" dir="2700000" algn="tl" rotWithShape="0">
                    <a:schemeClr val="dk1">
                      <a:alpha val="40000"/>
                    </a:schemeClr>
                  </a:outerShdw>
                </a:effectLst>
              </a:rPr>
              <a:t>The customer enters the store to </a:t>
            </a:r>
            <a:r>
              <a:rPr lang="en-MY" dirty="0">
                <a:ln w="0"/>
                <a:solidFill>
                  <a:srgbClr val="FF0000"/>
                </a:solidFill>
                <a:effectLst>
                  <a:outerShdw blurRad="38100" dist="19050" dir="2700000" algn="tl" rotWithShape="0">
                    <a:schemeClr val="dk1">
                      <a:alpha val="40000"/>
                    </a:schemeClr>
                  </a:outerShdw>
                </a:effectLst>
              </a:rPr>
              <a:t>buy a toy</a:t>
            </a:r>
          </a:p>
          <a:p>
            <a:r>
              <a:rPr lang="en-MY" dirty="0">
                <a:ln w="0"/>
                <a:solidFill>
                  <a:schemeClr val="tx1"/>
                </a:solidFill>
                <a:effectLst>
                  <a:outerShdw blurRad="38100" dist="19050" dir="2700000" algn="tl" rotWithShape="0">
                    <a:schemeClr val="dk1">
                      <a:alpha val="40000"/>
                    </a:schemeClr>
                  </a:outerShdw>
                </a:effectLst>
              </a:rPr>
              <a:t>It has to be a toy that his </a:t>
            </a:r>
            <a:r>
              <a:rPr lang="en-MY" dirty="0">
                <a:ln w="0"/>
                <a:solidFill>
                  <a:srgbClr val="FF0000"/>
                </a:solidFill>
                <a:effectLst>
                  <a:outerShdw blurRad="38100" dist="19050" dir="2700000" algn="tl" rotWithShape="0">
                    <a:schemeClr val="dk1">
                      <a:alpha val="40000"/>
                    </a:schemeClr>
                  </a:outerShdw>
                </a:effectLst>
              </a:rPr>
              <a:t>daughter like</a:t>
            </a:r>
            <a:r>
              <a:rPr lang="en-MY" dirty="0">
                <a:ln w="0"/>
                <a:solidFill>
                  <a:schemeClr val="tx1"/>
                </a:solidFill>
                <a:effectLst>
                  <a:outerShdw blurRad="38100" dist="19050" dir="2700000" algn="tl" rotWithShape="0">
                    <a:schemeClr val="dk1">
                      <a:alpha val="40000"/>
                    </a:schemeClr>
                  </a:outerShdw>
                </a:effectLst>
              </a:rPr>
              <a:t>s and it must </a:t>
            </a:r>
            <a:r>
              <a:rPr lang="en-MY" dirty="0">
                <a:ln w="0"/>
                <a:solidFill>
                  <a:srgbClr val="FF0000"/>
                </a:solidFill>
                <a:effectLst>
                  <a:outerShdw blurRad="38100" dist="19050" dir="2700000" algn="tl" rotWithShape="0">
                    <a:schemeClr val="dk1">
                      <a:alpha val="40000"/>
                    </a:schemeClr>
                  </a:outerShdw>
                </a:effectLst>
              </a:rPr>
              <a:t>cost less than 50 Ringgit. </a:t>
            </a:r>
          </a:p>
          <a:p>
            <a:r>
              <a:rPr lang="en-MY" dirty="0">
                <a:ln w="0"/>
                <a:solidFill>
                  <a:schemeClr val="tx1"/>
                </a:solidFill>
                <a:effectLst>
                  <a:outerShdw blurRad="38100" dist="19050" dir="2700000" algn="tl" rotWithShape="0">
                    <a:schemeClr val="dk1">
                      <a:alpha val="40000"/>
                    </a:schemeClr>
                  </a:outerShdw>
                </a:effectLst>
              </a:rPr>
              <a:t>An assistant helps him and mentions that the suitability of a toy </a:t>
            </a:r>
            <a:r>
              <a:rPr lang="en-MY" dirty="0">
                <a:ln w="0"/>
                <a:solidFill>
                  <a:srgbClr val="FF0000"/>
                </a:solidFill>
                <a:effectLst>
                  <a:outerShdw blurRad="38100" dist="19050" dir="2700000" algn="tl" rotWithShape="0">
                    <a:schemeClr val="dk1">
                      <a:alpha val="40000"/>
                    </a:schemeClr>
                  </a:outerShdw>
                </a:effectLst>
              </a:rPr>
              <a:t>depends on the age </a:t>
            </a:r>
            <a:r>
              <a:rPr lang="en-MY" dirty="0">
                <a:ln w="0"/>
                <a:solidFill>
                  <a:schemeClr val="tx1"/>
                </a:solidFill>
                <a:effectLst>
                  <a:outerShdw blurRad="38100" dist="19050" dir="2700000" algn="tl" rotWithShape="0">
                    <a:schemeClr val="dk1">
                      <a:alpha val="40000"/>
                    </a:schemeClr>
                  </a:outerShdw>
                </a:effectLst>
              </a:rPr>
              <a:t>of the child. </a:t>
            </a:r>
          </a:p>
          <a:p>
            <a:r>
              <a:rPr lang="en-MY" dirty="0">
                <a:ln w="0"/>
                <a:solidFill>
                  <a:schemeClr val="tx1"/>
                </a:solidFill>
                <a:effectLst>
                  <a:outerShdw blurRad="38100" dist="19050" dir="2700000" algn="tl" rotWithShape="0">
                    <a:schemeClr val="dk1">
                      <a:alpha val="40000"/>
                    </a:schemeClr>
                  </a:outerShdw>
                </a:effectLst>
              </a:rPr>
              <a:t>The customer’s daughter is </a:t>
            </a:r>
            <a:r>
              <a:rPr lang="en-MY" dirty="0">
                <a:ln w="0"/>
                <a:solidFill>
                  <a:srgbClr val="FF0000"/>
                </a:solidFill>
                <a:effectLst>
                  <a:outerShdw blurRad="38100" dist="19050" dir="2700000" algn="tl" rotWithShape="0">
                    <a:schemeClr val="dk1">
                      <a:alpha val="40000"/>
                    </a:schemeClr>
                  </a:outerShdw>
                </a:effectLst>
                <a:highlight>
                  <a:srgbClr val="FFFF00"/>
                </a:highlight>
              </a:rPr>
              <a:t>10 years old</a:t>
            </a:r>
          </a:p>
          <a:p>
            <a:r>
              <a:rPr lang="en-MY" dirty="0">
                <a:ln w="0"/>
                <a:solidFill>
                  <a:schemeClr val="tx1"/>
                </a:solidFill>
                <a:effectLst>
                  <a:outerShdw blurRad="38100" dist="19050" dir="2700000" algn="tl" rotWithShape="0">
                    <a:schemeClr val="dk1">
                      <a:alpha val="40000"/>
                    </a:schemeClr>
                  </a:outerShdw>
                </a:effectLst>
              </a:rPr>
              <a:t>The assistant recommends one type of toy, namely a dress-up doll. For this game, the players </a:t>
            </a:r>
            <a:r>
              <a:rPr lang="en-MY" dirty="0">
                <a:ln w="0"/>
                <a:solidFill>
                  <a:srgbClr val="FF0000"/>
                </a:solidFill>
                <a:effectLst>
                  <a:outerShdw blurRad="38100" dist="19050" dir="2700000" algn="tl" rotWithShape="0">
                    <a:schemeClr val="dk1">
                      <a:alpha val="40000"/>
                    </a:schemeClr>
                  </a:outerShdw>
                </a:effectLst>
              </a:rPr>
              <a:t>must be older than 7.</a:t>
            </a:r>
          </a:p>
          <a:p>
            <a:r>
              <a:rPr lang="en-MY" dirty="0">
                <a:ln w="0"/>
                <a:solidFill>
                  <a:schemeClr val="tx1"/>
                </a:solidFill>
                <a:effectLst>
                  <a:outerShdw blurRad="38100" dist="19050" dir="2700000" algn="tl" rotWithShape="0">
                    <a:schemeClr val="dk1">
                      <a:alpha val="40000"/>
                    </a:schemeClr>
                  </a:outerShdw>
                </a:effectLst>
              </a:rPr>
              <a:t>The assistant also suggests a game collection which is also a toy that consists of many separate games like chess and card-games. </a:t>
            </a:r>
          </a:p>
          <a:p>
            <a:r>
              <a:rPr lang="en-MY" dirty="0">
                <a:ln w="0"/>
                <a:solidFill>
                  <a:schemeClr val="tx1"/>
                </a:solidFill>
                <a:effectLst>
                  <a:outerShdw blurRad="38100" dist="19050" dir="2700000" algn="tl" rotWithShape="0">
                    <a:schemeClr val="dk1">
                      <a:alpha val="40000"/>
                    </a:schemeClr>
                  </a:outerShdw>
                </a:effectLst>
              </a:rPr>
              <a:t>For this collection, the players must </a:t>
            </a:r>
            <a:r>
              <a:rPr lang="en-MY" dirty="0">
                <a:ln w="0"/>
                <a:solidFill>
                  <a:srgbClr val="FF0000"/>
                </a:solidFill>
                <a:effectLst>
                  <a:outerShdw blurRad="38100" dist="19050" dir="2700000" algn="tl" rotWithShape="0">
                    <a:schemeClr val="dk1">
                      <a:alpha val="40000"/>
                    </a:schemeClr>
                  </a:outerShdw>
                </a:effectLst>
              </a:rPr>
              <a:t>be older than 5</a:t>
            </a:r>
          </a:p>
        </p:txBody>
      </p:sp>
      <p:sp>
        <p:nvSpPr>
          <p:cNvPr id="4" name="Rectangle 3"/>
          <p:cNvSpPr/>
          <p:nvPr/>
        </p:nvSpPr>
        <p:spPr>
          <a:xfrm>
            <a:off x="2598730" y="6550132"/>
            <a:ext cx="6545270" cy="307777"/>
          </a:xfrm>
          <a:prstGeom prst="rect">
            <a:avLst/>
          </a:prstGeom>
        </p:spPr>
        <p:txBody>
          <a:bodyPr wrap="square">
            <a:spAutoFit/>
          </a:bodyPr>
          <a:lstStyle/>
          <a:p>
            <a:pPr algn="r"/>
            <a:r>
              <a:rPr lang="en-MY" sz="1400" i="1">
                <a:solidFill>
                  <a:schemeClr val="bg1"/>
                </a:solidFill>
              </a:rPr>
              <a:t>Based on source: Object-Oriented Software Engineering Using UML, Patterns, and Java</a:t>
            </a:r>
          </a:p>
        </p:txBody>
      </p:sp>
    </p:spTree>
    <p:extLst>
      <p:ext uri="{BB962C8B-B14F-4D97-AF65-F5344CB8AC3E}">
        <p14:creationId xmlns:p14="http://schemas.microsoft.com/office/powerpoint/2010/main" val="7493425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Overview of analysis</a:t>
            </a:r>
            <a:endParaRPr lang="en-MY" dirty="0">
              <a:ln w="0"/>
              <a:solidFill>
                <a:schemeClr val="tx1"/>
              </a:solidFill>
              <a:effectLst>
                <a:outerShdw blurRad="38100" dist="19050" dir="2700000" algn="tl" rotWithShape="0">
                  <a:schemeClr val="dk1">
                    <a:alpha val="40000"/>
                  </a:scheme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90333289"/>
              </p:ext>
            </p:extLst>
          </p:nvPr>
        </p:nvGraphicFramePr>
        <p:xfrm>
          <a:off x="170090" y="1433065"/>
          <a:ext cx="8763000" cy="2865120"/>
        </p:xfrm>
        <a:graphic>
          <a:graphicData uri="http://schemas.openxmlformats.org/drawingml/2006/table">
            <a:tbl>
              <a:tblPr firstRow="1" bandRow="1">
                <a:tableStyleId>{5C22544A-7EE6-4342-B048-85BDC9FD1C3A}</a:tableStyleId>
              </a:tblPr>
              <a:tblGrid>
                <a:gridCol w="4039210">
                  <a:extLst>
                    <a:ext uri="{9D8B030D-6E8A-4147-A177-3AD203B41FA5}">
                      <a16:colId xmlns:a16="http://schemas.microsoft.com/office/drawing/2014/main" val="20000"/>
                    </a:ext>
                  </a:extLst>
                </a:gridCol>
                <a:gridCol w="2352745">
                  <a:extLst>
                    <a:ext uri="{9D8B030D-6E8A-4147-A177-3AD203B41FA5}">
                      <a16:colId xmlns:a16="http://schemas.microsoft.com/office/drawing/2014/main" val="20001"/>
                    </a:ext>
                  </a:extLst>
                </a:gridCol>
                <a:gridCol w="2371045">
                  <a:extLst>
                    <a:ext uri="{9D8B030D-6E8A-4147-A177-3AD203B41FA5}">
                      <a16:colId xmlns:a16="http://schemas.microsoft.com/office/drawing/2014/main" val="20002"/>
                    </a:ext>
                  </a:extLst>
                </a:gridCol>
              </a:tblGrid>
              <a:tr h="370840">
                <a:tc>
                  <a:txBody>
                    <a:bodyPr/>
                    <a:lstStyle/>
                    <a:p>
                      <a:r>
                        <a:rPr lang="en-US"/>
                        <a:t>Identified item</a:t>
                      </a:r>
                      <a:endParaRPr lang="en-MY"/>
                    </a:p>
                  </a:txBody>
                  <a:tcPr/>
                </a:tc>
                <a:tc>
                  <a:txBody>
                    <a:bodyPr/>
                    <a:lstStyle/>
                    <a:p>
                      <a:r>
                        <a:rPr lang="en-US"/>
                        <a:t>Grammatical construct</a:t>
                      </a:r>
                      <a:endParaRPr lang="en-MY"/>
                    </a:p>
                  </a:txBody>
                  <a:tcPr/>
                </a:tc>
                <a:tc>
                  <a:txBody>
                    <a:bodyPr/>
                    <a:lstStyle/>
                    <a:p>
                      <a:r>
                        <a:rPr lang="en-US"/>
                        <a:t>UML Component</a:t>
                      </a:r>
                      <a:endParaRPr lang="en-MY"/>
                    </a:p>
                  </a:txBody>
                  <a:tcPr/>
                </a:tc>
                <a:extLst>
                  <a:ext uri="{0D108BD9-81ED-4DB2-BD59-A6C34878D82A}">
                    <a16:rowId xmlns:a16="http://schemas.microsoft.com/office/drawing/2014/main" val="10000"/>
                  </a:ext>
                </a:extLst>
              </a:tr>
              <a:tr h="370840">
                <a:tc>
                  <a:txBody>
                    <a:bodyPr/>
                    <a:lstStyle/>
                    <a:p>
                      <a:r>
                        <a:rPr lang="en-US"/>
                        <a:t>“Doll”</a:t>
                      </a:r>
                    </a:p>
                    <a:p>
                      <a:r>
                        <a:rPr lang="en-US"/>
                        <a:t>“Game collection”, “customer”</a:t>
                      </a:r>
                      <a:endParaRPr lang="en-MY"/>
                    </a:p>
                  </a:txBody>
                  <a:tcPr/>
                </a:tc>
                <a:tc>
                  <a:txBody>
                    <a:bodyPr/>
                    <a:lstStyle/>
                    <a:p>
                      <a:r>
                        <a:rPr lang="en-US"/>
                        <a:t>Proper noun</a:t>
                      </a:r>
                    </a:p>
                    <a:p>
                      <a:r>
                        <a:rPr lang="en-US"/>
                        <a:t>Common noun</a:t>
                      </a:r>
                      <a:endParaRPr lang="en-MY"/>
                    </a:p>
                  </a:txBody>
                  <a:tcPr/>
                </a:tc>
                <a:tc>
                  <a:txBody>
                    <a:bodyPr/>
                    <a:lstStyle/>
                    <a:p>
                      <a:r>
                        <a:rPr lang="en-US"/>
                        <a:t>Object instance</a:t>
                      </a:r>
                    </a:p>
                    <a:p>
                      <a:r>
                        <a:rPr lang="en-US"/>
                        <a:t>Class</a:t>
                      </a:r>
                      <a:endParaRPr lang="en-MY"/>
                    </a:p>
                  </a:txBody>
                  <a:tcPr/>
                </a:tc>
                <a:extLst>
                  <a:ext uri="{0D108BD9-81ED-4DB2-BD59-A6C34878D82A}">
                    <a16:rowId xmlns:a16="http://schemas.microsoft.com/office/drawing/2014/main" val="10001"/>
                  </a:ext>
                </a:extLst>
              </a:tr>
              <a:tr h="370840">
                <a:tc>
                  <a:txBody>
                    <a:bodyPr/>
                    <a:lstStyle/>
                    <a:p>
                      <a:r>
                        <a:rPr lang="en-US"/>
                        <a:t>“10 year old”,</a:t>
                      </a:r>
                      <a:r>
                        <a:rPr lang="en-US" baseline="0"/>
                        <a:t> “50 Ringgit”</a:t>
                      </a:r>
                      <a:endParaRPr lang="en-MY"/>
                    </a:p>
                  </a:txBody>
                  <a:tcPr/>
                </a:tc>
                <a:tc>
                  <a:txBody>
                    <a:bodyPr/>
                    <a:lstStyle/>
                    <a:p>
                      <a:r>
                        <a:rPr lang="en-US"/>
                        <a:t>Adjective</a:t>
                      </a:r>
                      <a:endParaRPr lang="en-MY"/>
                    </a:p>
                  </a:txBody>
                  <a:tcPr/>
                </a:tc>
                <a:tc>
                  <a:txBody>
                    <a:bodyPr/>
                    <a:lstStyle/>
                    <a:p>
                      <a:r>
                        <a:rPr lang="en-US"/>
                        <a:t>Attribute</a:t>
                      </a:r>
                      <a:endParaRPr lang="en-MY"/>
                    </a:p>
                  </a:txBody>
                  <a:tcPr/>
                </a:tc>
                <a:extLst>
                  <a:ext uri="{0D108BD9-81ED-4DB2-BD59-A6C34878D82A}">
                    <a16:rowId xmlns:a16="http://schemas.microsoft.com/office/drawing/2014/main" val="10002"/>
                  </a:ext>
                </a:extLst>
              </a:tr>
              <a:tr h="370840">
                <a:tc>
                  <a:txBody>
                    <a:bodyPr/>
                    <a:lstStyle/>
                    <a:p>
                      <a:r>
                        <a:rPr lang="en-US"/>
                        <a:t>“enter” “recommends” “suggests”</a:t>
                      </a:r>
                      <a:endParaRPr lang="en-MY"/>
                    </a:p>
                  </a:txBody>
                  <a:tcPr/>
                </a:tc>
                <a:tc>
                  <a:txBody>
                    <a:bodyPr/>
                    <a:lstStyle/>
                    <a:p>
                      <a:r>
                        <a:rPr lang="en-US"/>
                        <a:t>Verb</a:t>
                      </a:r>
                      <a:endParaRPr lang="en-MY"/>
                    </a:p>
                  </a:txBody>
                  <a:tcPr/>
                </a:tc>
                <a:tc>
                  <a:txBody>
                    <a:bodyPr/>
                    <a:lstStyle/>
                    <a:p>
                      <a:r>
                        <a:rPr lang="en-US"/>
                        <a:t>Method</a:t>
                      </a:r>
                      <a:endParaRPr lang="en-MY"/>
                    </a:p>
                  </a:txBody>
                  <a:tcPr/>
                </a:tc>
                <a:extLst>
                  <a:ext uri="{0D108BD9-81ED-4DB2-BD59-A6C34878D82A}">
                    <a16:rowId xmlns:a16="http://schemas.microsoft.com/office/drawing/2014/main" val="10003"/>
                  </a:ext>
                </a:extLst>
              </a:tr>
              <a:tr h="370840">
                <a:tc>
                  <a:txBody>
                    <a:bodyPr/>
                    <a:lstStyle/>
                    <a:p>
                      <a:r>
                        <a:rPr lang="en-US"/>
                        <a:t>“type of”</a:t>
                      </a:r>
                      <a:endParaRPr lang="en-MY"/>
                    </a:p>
                  </a:txBody>
                  <a:tcPr/>
                </a:tc>
                <a:tc>
                  <a:txBody>
                    <a:bodyPr/>
                    <a:lstStyle/>
                    <a:p>
                      <a:r>
                        <a:rPr lang="en-US"/>
                        <a:t>Classifier</a:t>
                      </a:r>
                      <a:endParaRPr lang="en-MY"/>
                    </a:p>
                  </a:txBody>
                  <a:tcPr/>
                </a:tc>
                <a:tc>
                  <a:txBody>
                    <a:bodyPr/>
                    <a:lstStyle/>
                    <a:p>
                      <a:r>
                        <a:rPr lang="en-US"/>
                        <a:t>Inheritance</a:t>
                      </a:r>
                      <a:endParaRPr lang="en-MY"/>
                    </a:p>
                  </a:txBody>
                  <a:tcPr/>
                </a:tc>
                <a:extLst>
                  <a:ext uri="{0D108BD9-81ED-4DB2-BD59-A6C34878D82A}">
                    <a16:rowId xmlns:a16="http://schemas.microsoft.com/office/drawing/2014/main" val="10004"/>
                  </a:ext>
                </a:extLst>
              </a:tr>
              <a:tr h="370840">
                <a:tc>
                  <a:txBody>
                    <a:bodyPr/>
                    <a:lstStyle/>
                    <a:p>
                      <a:r>
                        <a:rPr lang="en-US"/>
                        <a:t>“Consists</a:t>
                      </a:r>
                      <a:r>
                        <a:rPr lang="en-US" baseline="0"/>
                        <a:t> of”</a:t>
                      </a:r>
                      <a:endParaRPr lang="en-MY"/>
                    </a:p>
                  </a:txBody>
                  <a:tcPr/>
                </a:tc>
                <a:tc>
                  <a:txBody>
                    <a:bodyPr/>
                    <a:lstStyle/>
                    <a:p>
                      <a:r>
                        <a:rPr lang="en-US"/>
                        <a:t>Having verb</a:t>
                      </a:r>
                      <a:endParaRPr lang="en-MY"/>
                    </a:p>
                  </a:txBody>
                  <a:tcPr/>
                </a:tc>
                <a:tc>
                  <a:txBody>
                    <a:bodyPr/>
                    <a:lstStyle/>
                    <a:p>
                      <a:r>
                        <a:rPr lang="en-US"/>
                        <a:t>Aggregation</a:t>
                      </a:r>
                      <a:endParaRPr lang="en-MY"/>
                    </a:p>
                  </a:txBody>
                  <a:tcPr/>
                </a:tc>
                <a:extLst>
                  <a:ext uri="{0D108BD9-81ED-4DB2-BD59-A6C34878D82A}">
                    <a16:rowId xmlns:a16="http://schemas.microsoft.com/office/drawing/2014/main" val="10005"/>
                  </a:ext>
                </a:extLst>
              </a:tr>
              <a:tr h="370840">
                <a:tc>
                  <a:txBody>
                    <a:bodyPr/>
                    <a:lstStyle/>
                    <a:p>
                      <a:r>
                        <a:rPr lang="en-US"/>
                        <a:t>“less than” “must be”</a:t>
                      </a:r>
                      <a:endParaRPr lang="en-MY"/>
                    </a:p>
                  </a:txBody>
                  <a:tcPr/>
                </a:tc>
                <a:tc>
                  <a:txBody>
                    <a:bodyPr/>
                    <a:lstStyle/>
                    <a:p>
                      <a:r>
                        <a:rPr lang="en-US"/>
                        <a:t>Modal</a:t>
                      </a:r>
                      <a:r>
                        <a:rPr lang="en-US" baseline="0"/>
                        <a:t> verb</a:t>
                      </a:r>
                      <a:endParaRPr lang="en-MY"/>
                    </a:p>
                  </a:txBody>
                  <a:tcPr/>
                </a:tc>
                <a:tc>
                  <a:txBody>
                    <a:bodyPr/>
                    <a:lstStyle/>
                    <a:p>
                      <a:r>
                        <a:rPr lang="en-US"/>
                        <a:t>Constraints</a:t>
                      </a:r>
                      <a:endParaRPr lang="en-MY"/>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1004874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Analysis Object model</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Draft Class Diagram</a:t>
            </a:r>
            <a:endParaRPr lang="en-MY" dirty="0">
              <a:ln w="0"/>
              <a:solidFill>
                <a:schemeClr val="tx1"/>
              </a:solidFill>
              <a:effectLst>
                <a:outerShdw blurRad="38100" dist="19050" dir="2700000" algn="tl" rotWithShape="0">
                  <a:schemeClr val="dk1">
                    <a:alpha val="40000"/>
                  </a:schemeClr>
                </a:outerShdw>
              </a:effectLst>
            </a:endParaRPr>
          </a:p>
        </p:txBody>
      </p:sp>
      <p:graphicFrame>
        <p:nvGraphicFramePr>
          <p:cNvPr id="4" name="Table 3"/>
          <p:cNvGraphicFramePr>
            <a:graphicFrameLocks noGrp="1"/>
          </p:cNvGraphicFramePr>
          <p:nvPr>
            <p:extLst>
              <p:ext uri="{D42A27DB-BD31-4B8C-83A1-F6EECF244321}">
                <p14:modId xmlns:p14="http://schemas.microsoft.com/office/powerpoint/2010/main" val="2769003057"/>
              </p:ext>
            </p:extLst>
          </p:nvPr>
        </p:nvGraphicFramePr>
        <p:xfrm>
          <a:off x="1004935" y="1624685"/>
          <a:ext cx="2137260" cy="138176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Customer</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age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getAge();</a:t>
                      </a:r>
                    </a:p>
                    <a:p>
                      <a:r>
                        <a:rPr lang="en-US"/>
                        <a:t>getMaxBudget();</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581920381"/>
              </p:ext>
            </p:extLst>
          </p:nvPr>
        </p:nvGraphicFramePr>
        <p:xfrm>
          <a:off x="5179160" y="1607520"/>
          <a:ext cx="2137260" cy="138176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Toys</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minAge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checkAge();</a:t>
                      </a:r>
                    </a:p>
                    <a:p>
                      <a:r>
                        <a:rPr lang="en-US"/>
                        <a:t>buy();</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197394248"/>
              </p:ext>
            </p:extLst>
          </p:nvPr>
        </p:nvGraphicFramePr>
        <p:xfrm>
          <a:off x="1004935" y="4517435"/>
          <a:ext cx="2137260" cy="111252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Store</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branchname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enterStore();</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848858069"/>
              </p:ext>
            </p:extLst>
          </p:nvPr>
        </p:nvGraphicFramePr>
        <p:xfrm>
          <a:off x="4572000" y="4120690"/>
          <a:ext cx="758950" cy="370840"/>
        </p:xfrm>
        <a:graphic>
          <a:graphicData uri="http://schemas.openxmlformats.org/drawingml/2006/table">
            <a:tbl>
              <a:tblPr firstRow="1" bandRow="1">
                <a:tableStyleId>{5940675A-B579-460E-94D1-54222C63F5DA}</a:tableStyleId>
              </a:tblPr>
              <a:tblGrid>
                <a:gridCol w="758950">
                  <a:extLst>
                    <a:ext uri="{9D8B030D-6E8A-4147-A177-3AD203B41FA5}">
                      <a16:colId xmlns:a16="http://schemas.microsoft.com/office/drawing/2014/main" val="20000"/>
                    </a:ext>
                  </a:extLst>
                </a:gridCol>
              </a:tblGrid>
              <a:tr h="370840">
                <a:tc>
                  <a:txBody>
                    <a:bodyPr/>
                    <a:lstStyle/>
                    <a:p>
                      <a:pPr algn="ctr"/>
                      <a:r>
                        <a:rPr lang="en-US"/>
                        <a:t>Doll</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310765816"/>
              </p:ext>
            </p:extLst>
          </p:nvPr>
        </p:nvGraphicFramePr>
        <p:xfrm>
          <a:off x="6393480" y="4120690"/>
          <a:ext cx="2137260" cy="37084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Game</a:t>
                      </a:r>
                      <a:r>
                        <a:rPr lang="en-US" baseline="0"/>
                        <a:t> collection</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96236386"/>
              </p:ext>
            </p:extLst>
          </p:nvPr>
        </p:nvGraphicFramePr>
        <p:xfrm>
          <a:off x="5558635" y="5942170"/>
          <a:ext cx="1517900" cy="370840"/>
        </p:xfrm>
        <a:graphic>
          <a:graphicData uri="http://schemas.openxmlformats.org/drawingml/2006/table">
            <a:tbl>
              <a:tblPr firstRow="1" bandRow="1">
                <a:tableStyleId>{5940675A-B579-460E-94D1-54222C63F5DA}</a:tableStyleId>
              </a:tblPr>
              <a:tblGrid>
                <a:gridCol w="1517900">
                  <a:extLst>
                    <a:ext uri="{9D8B030D-6E8A-4147-A177-3AD203B41FA5}">
                      <a16:colId xmlns:a16="http://schemas.microsoft.com/office/drawing/2014/main" val="20000"/>
                    </a:ext>
                  </a:extLst>
                </a:gridCol>
              </a:tblGrid>
              <a:tr h="370840">
                <a:tc>
                  <a:txBody>
                    <a:bodyPr/>
                    <a:lstStyle/>
                    <a:p>
                      <a:pPr algn="ctr"/>
                      <a:r>
                        <a:rPr lang="en-US"/>
                        <a:t>Chess</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508126279"/>
              </p:ext>
            </p:extLst>
          </p:nvPr>
        </p:nvGraphicFramePr>
        <p:xfrm>
          <a:off x="7152430" y="5942170"/>
          <a:ext cx="1517900" cy="370840"/>
        </p:xfrm>
        <a:graphic>
          <a:graphicData uri="http://schemas.openxmlformats.org/drawingml/2006/table">
            <a:tbl>
              <a:tblPr firstRow="1" bandRow="1">
                <a:tableStyleId>{5940675A-B579-460E-94D1-54222C63F5DA}</a:tableStyleId>
              </a:tblPr>
              <a:tblGrid>
                <a:gridCol w="1517900">
                  <a:extLst>
                    <a:ext uri="{9D8B030D-6E8A-4147-A177-3AD203B41FA5}">
                      <a16:colId xmlns:a16="http://schemas.microsoft.com/office/drawing/2014/main" val="20000"/>
                    </a:ext>
                  </a:extLst>
                </a:gridCol>
              </a:tblGrid>
              <a:tr h="370840">
                <a:tc>
                  <a:txBody>
                    <a:bodyPr/>
                    <a:lstStyle/>
                    <a:p>
                      <a:pPr algn="ctr"/>
                      <a:r>
                        <a:rPr lang="en-US"/>
                        <a:t>Cards</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158595786"/>
              </p:ext>
            </p:extLst>
          </p:nvPr>
        </p:nvGraphicFramePr>
        <p:xfrm>
          <a:off x="4192525" y="5183220"/>
          <a:ext cx="1517900" cy="370840"/>
        </p:xfrm>
        <a:graphic>
          <a:graphicData uri="http://schemas.openxmlformats.org/drawingml/2006/table">
            <a:tbl>
              <a:tblPr firstRow="1" bandRow="1">
                <a:tableStyleId>{5940675A-B579-460E-94D1-54222C63F5DA}</a:tableStyleId>
              </a:tblPr>
              <a:tblGrid>
                <a:gridCol w="1517900">
                  <a:extLst>
                    <a:ext uri="{9D8B030D-6E8A-4147-A177-3AD203B41FA5}">
                      <a16:colId xmlns:a16="http://schemas.microsoft.com/office/drawing/2014/main" val="20000"/>
                    </a:ext>
                  </a:extLst>
                </a:gridCol>
              </a:tblGrid>
              <a:tr h="370840">
                <a:tc>
                  <a:txBody>
                    <a:bodyPr/>
                    <a:lstStyle/>
                    <a:p>
                      <a:pPr algn="ctr"/>
                      <a:r>
                        <a:rPr lang="en-US"/>
                        <a:t>Barbie</a:t>
                      </a:r>
                      <a:endParaRPr lang="en-MY"/>
                    </a:p>
                  </a:txBody>
                  <a:tcPr>
                    <a:solidFill>
                      <a:schemeClr val="bg1"/>
                    </a:solidFill>
                  </a:tcPr>
                </a:tc>
                <a:extLst>
                  <a:ext uri="{0D108BD9-81ED-4DB2-BD59-A6C34878D82A}">
                    <a16:rowId xmlns:a16="http://schemas.microsoft.com/office/drawing/2014/main" val="10000"/>
                  </a:ext>
                </a:extLst>
              </a:tr>
            </a:tbl>
          </a:graphicData>
        </a:graphic>
      </p:graphicFrame>
      <p:cxnSp>
        <p:nvCxnSpPr>
          <p:cNvPr id="13" name="Straight Connector 12"/>
          <p:cNvCxnSpPr>
            <a:stCxn id="4" idx="3"/>
            <a:endCxn id="5" idx="1"/>
          </p:cNvCxnSpPr>
          <p:nvPr/>
        </p:nvCxnSpPr>
        <p:spPr bwMode="auto">
          <a:xfrm flipV="1">
            <a:off x="3142195" y="2298400"/>
            <a:ext cx="2036965" cy="17165"/>
          </a:xfrm>
          <a:prstGeom prst="line">
            <a:avLst/>
          </a:prstGeom>
          <a:ln/>
        </p:spPr>
        <p:style>
          <a:lnRef idx="1">
            <a:schemeClr val="dk1"/>
          </a:lnRef>
          <a:fillRef idx="0">
            <a:schemeClr val="dk1"/>
          </a:fillRef>
          <a:effectRef idx="0">
            <a:schemeClr val="dk1"/>
          </a:effectRef>
          <a:fontRef idx="minor">
            <a:schemeClr val="tx1"/>
          </a:fontRef>
        </p:style>
      </p:cxnSp>
      <p:cxnSp>
        <p:nvCxnSpPr>
          <p:cNvPr id="16" name="Straight Connector 15"/>
          <p:cNvCxnSpPr>
            <a:stCxn id="4" idx="2"/>
            <a:endCxn id="6" idx="0"/>
          </p:cNvCxnSpPr>
          <p:nvPr/>
        </p:nvCxnSpPr>
        <p:spPr bwMode="auto">
          <a:xfrm>
            <a:off x="2073565" y="3006445"/>
            <a:ext cx="0" cy="1510990"/>
          </a:xfrm>
          <a:prstGeom prst="line">
            <a:avLst/>
          </a:prstGeom>
          <a:ln/>
        </p:spPr>
        <p:style>
          <a:lnRef idx="1">
            <a:schemeClr val="dk1"/>
          </a:lnRef>
          <a:fillRef idx="0">
            <a:schemeClr val="dk1"/>
          </a:fillRef>
          <a:effectRef idx="0">
            <a:schemeClr val="dk1"/>
          </a:effectRef>
          <a:fontRef idx="minor">
            <a:schemeClr val="tx1"/>
          </a:fontRef>
        </p:style>
      </p:cxnSp>
      <p:cxnSp>
        <p:nvCxnSpPr>
          <p:cNvPr id="19" name="Elbow Connector 18"/>
          <p:cNvCxnSpPr>
            <a:stCxn id="7" idx="0"/>
            <a:endCxn id="8" idx="0"/>
          </p:cNvCxnSpPr>
          <p:nvPr/>
        </p:nvCxnSpPr>
        <p:spPr bwMode="auto">
          <a:xfrm rot="5400000" flipH="1" flipV="1">
            <a:off x="6206792" y="2865373"/>
            <a:ext cx="12700" cy="2510635"/>
          </a:xfrm>
          <a:prstGeom prst="bentConnector3">
            <a:avLst>
              <a:gd name="adj1" fmla="val 1800000"/>
            </a:avLst>
          </a:prstGeom>
          <a:ln/>
        </p:spPr>
        <p:style>
          <a:lnRef idx="1">
            <a:schemeClr val="dk1"/>
          </a:lnRef>
          <a:fillRef idx="0">
            <a:schemeClr val="dk1"/>
          </a:fillRef>
          <a:effectRef idx="0">
            <a:schemeClr val="dk1"/>
          </a:effectRef>
          <a:fontRef idx="minor">
            <a:schemeClr val="tx1"/>
          </a:fontRef>
        </p:style>
      </p:cxnSp>
      <p:cxnSp>
        <p:nvCxnSpPr>
          <p:cNvPr id="22" name="Straight Connector 21"/>
          <p:cNvCxnSpPr>
            <a:endCxn id="5" idx="2"/>
          </p:cNvCxnSpPr>
          <p:nvPr/>
        </p:nvCxnSpPr>
        <p:spPr bwMode="auto">
          <a:xfrm flipV="1">
            <a:off x="6241690" y="2989280"/>
            <a:ext cx="6100" cy="895090"/>
          </a:xfrm>
          <a:prstGeom prst="line">
            <a:avLst/>
          </a:prstGeom>
          <a:ln/>
        </p:spPr>
        <p:style>
          <a:lnRef idx="1">
            <a:schemeClr val="dk1"/>
          </a:lnRef>
          <a:fillRef idx="0">
            <a:schemeClr val="dk1"/>
          </a:fillRef>
          <a:effectRef idx="0">
            <a:schemeClr val="dk1"/>
          </a:effectRef>
          <a:fontRef idx="minor">
            <a:schemeClr val="tx1"/>
          </a:fontRef>
        </p:style>
      </p:cxnSp>
      <p:cxnSp>
        <p:nvCxnSpPr>
          <p:cNvPr id="24" name="Elbow Connector 23"/>
          <p:cNvCxnSpPr>
            <a:stCxn id="9" idx="0"/>
            <a:endCxn id="10" idx="0"/>
          </p:cNvCxnSpPr>
          <p:nvPr/>
        </p:nvCxnSpPr>
        <p:spPr bwMode="auto">
          <a:xfrm rot="5400000" flipH="1" flipV="1">
            <a:off x="7114482" y="5145273"/>
            <a:ext cx="12700" cy="1593795"/>
          </a:xfrm>
          <a:prstGeom prst="bentConnector3">
            <a:avLst>
              <a:gd name="adj1" fmla="val 1800000"/>
            </a:avLst>
          </a:prstGeom>
          <a:ln/>
        </p:spPr>
        <p:style>
          <a:lnRef idx="1">
            <a:schemeClr val="dk1"/>
          </a:lnRef>
          <a:fillRef idx="0">
            <a:schemeClr val="dk1"/>
          </a:fillRef>
          <a:effectRef idx="0">
            <a:schemeClr val="dk1"/>
          </a:effectRef>
          <a:fontRef idx="minor">
            <a:schemeClr val="tx1"/>
          </a:fontRef>
        </p:style>
      </p:cxnSp>
      <p:cxnSp>
        <p:nvCxnSpPr>
          <p:cNvPr id="27" name="Straight Connector 26"/>
          <p:cNvCxnSpPr>
            <a:endCxn id="8" idx="2"/>
          </p:cNvCxnSpPr>
          <p:nvPr/>
        </p:nvCxnSpPr>
        <p:spPr bwMode="auto">
          <a:xfrm flipV="1">
            <a:off x="7462110" y="4491530"/>
            <a:ext cx="0" cy="1214320"/>
          </a:xfrm>
          <a:prstGeom prst="line">
            <a:avLst/>
          </a:prstGeom>
          <a:ln/>
        </p:spPr>
        <p:style>
          <a:lnRef idx="1">
            <a:schemeClr val="dk1"/>
          </a:lnRef>
          <a:fillRef idx="0">
            <a:schemeClr val="dk1"/>
          </a:fillRef>
          <a:effectRef idx="0">
            <a:schemeClr val="dk1"/>
          </a:effectRef>
          <a:fontRef idx="minor">
            <a:schemeClr val="tx1"/>
          </a:fontRef>
        </p:style>
      </p:cxnSp>
      <p:cxnSp>
        <p:nvCxnSpPr>
          <p:cNvPr id="31" name="Straight Connector 30"/>
          <p:cNvCxnSpPr>
            <a:stCxn id="7" idx="2"/>
            <a:endCxn id="11" idx="0"/>
          </p:cNvCxnSpPr>
          <p:nvPr/>
        </p:nvCxnSpPr>
        <p:spPr bwMode="auto">
          <a:xfrm>
            <a:off x="4951475" y="4491530"/>
            <a:ext cx="0" cy="691690"/>
          </a:xfrm>
          <a:prstGeom prst="line">
            <a:avLst/>
          </a:prstGeom>
          <a:ln/>
        </p:spPr>
        <p:style>
          <a:lnRef idx="1">
            <a:schemeClr val="dk1"/>
          </a:lnRef>
          <a:fillRef idx="0">
            <a:schemeClr val="dk1"/>
          </a:fillRef>
          <a:effectRef idx="0">
            <a:schemeClr val="dk1"/>
          </a:effectRef>
          <a:fontRef idx="minor">
            <a:schemeClr val="tx1"/>
          </a:fontRef>
        </p:style>
      </p:cxnSp>
      <p:sp>
        <p:nvSpPr>
          <p:cNvPr id="34" name="Isosceles Triangle 33"/>
          <p:cNvSpPr/>
          <p:nvPr/>
        </p:nvSpPr>
        <p:spPr bwMode="auto">
          <a:xfrm>
            <a:off x="6089900" y="2973630"/>
            <a:ext cx="352153" cy="303580"/>
          </a:xfrm>
          <a:prstGeom prst="triangle">
            <a:avLst/>
          </a:prstGeom>
          <a:ln w="57150"/>
          <a:effectLst/>
        </p:spPr>
        <p:style>
          <a:lnRef idx="3">
            <a:schemeClr val="lt1"/>
          </a:lnRef>
          <a:fillRef idx="1">
            <a:schemeClr val="accent4"/>
          </a:fillRef>
          <a:effectRef idx="1">
            <a:schemeClr val="accent4"/>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
        <p:nvSpPr>
          <p:cNvPr id="36" name="Diamond 35"/>
          <p:cNvSpPr/>
          <p:nvPr/>
        </p:nvSpPr>
        <p:spPr bwMode="auto">
          <a:xfrm>
            <a:off x="7304220" y="4491530"/>
            <a:ext cx="331178" cy="303580"/>
          </a:xfrm>
          <a:prstGeom prst="diamond">
            <a:avLst/>
          </a:prstGeom>
          <a:ln w="57150"/>
          <a:effectLst/>
        </p:spPr>
        <p:style>
          <a:lnRef idx="3">
            <a:schemeClr val="lt1"/>
          </a:lnRef>
          <a:fillRef idx="1">
            <a:schemeClr val="accent4"/>
          </a:fillRef>
          <a:effectRef idx="1">
            <a:schemeClr val="accent4"/>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Tree>
    <p:extLst>
      <p:ext uri="{BB962C8B-B14F-4D97-AF65-F5344CB8AC3E}">
        <p14:creationId xmlns:p14="http://schemas.microsoft.com/office/powerpoint/2010/main" val="323040614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Draft Object (instance) Diagram</a:t>
            </a:r>
            <a:endParaRPr lang="en-MY" dirty="0">
              <a:ln w="0"/>
              <a:solidFill>
                <a:schemeClr val="tx1"/>
              </a:solidFill>
              <a:effectLst>
                <a:outerShdw blurRad="38100" dist="19050" dir="2700000" algn="tl" rotWithShape="0">
                  <a:schemeClr val="dk1">
                    <a:alpha val="40000"/>
                  </a:schemeClr>
                </a:outerShdw>
              </a:effectLst>
            </a:endParaRPr>
          </a:p>
        </p:txBody>
      </p:sp>
      <p:graphicFrame>
        <p:nvGraphicFramePr>
          <p:cNvPr id="8" name="Table 7"/>
          <p:cNvGraphicFramePr>
            <a:graphicFrameLocks noGrp="1"/>
          </p:cNvGraphicFramePr>
          <p:nvPr>
            <p:extLst>
              <p:ext uri="{D42A27DB-BD31-4B8C-83A1-F6EECF244321}">
                <p14:modId xmlns:p14="http://schemas.microsoft.com/office/powerpoint/2010/main" val="1463904280"/>
              </p:ext>
            </p:extLst>
          </p:nvPr>
        </p:nvGraphicFramePr>
        <p:xfrm>
          <a:off x="1004935" y="1624685"/>
          <a:ext cx="2137260" cy="138176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Mike: Customer</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age = 10</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getAge();</a:t>
                      </a:r>
                    </a:p>
                    <a:p>
                      <a:r>
                        <a:rPr lang="en-US"/>
                        <a:t>getMaxBudget();</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794909629"/>
              </p:ext>
            </p:extLst>
          </p:nvPr>
        </p:nvGraphicFramePr>
        <p:xfrm>
          <a:off x="5179160" y="1607520"/>
          <a:ext cx="2137260" cy="138176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Barbie:Toys</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minAge</a:t>
                      </a:r>
                      <a:r>
                        <a:rPr lang="en-US" baseline="0"/>
                        <a:t> = 8</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checkAge();</a:t>
                      </a:r>
                    </a:p>
                    <a:p>
                      <a:r>
                        <a:rPr lang="en-US"/>
                        <a:t>buy();</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202032439"/>
              </p:ext>
            </p:extLst>
          </p:nvPr>
        </p:nvGraphicFramePr>
        <p:xfrm>
          <a:off x="1004935" y="4517435"/>
          <a:ext cx="2137260" cy="111252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Toy’sRUs:Store</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branchname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enterStore();</a:t>
                      </a:r>
                      <a:endParaRPr lang="en-MY"/>
                    </a:p>
                  </a:txBody>
                  <a:tcPr>
                    <a:solidFill>
                      <a:schemeClr val="bg1"/>
                    </a:solidFill>
                  </a:tcPr>
                </a:tc>
                <a:extLst>
                  <a:ext uri="{0D108BD9-81ED-4DB2-BD59-A6C34878D82A}">
                    <a16:rowId xmlns:a16="http://schemas.microsoft.com/office/drawing/2014/main" val="10002"/>
                  </a:ext>
                </a:extLst>
              </a:tr>
            </a:tbl>
          </a:graphicData>
        </a:graphic>
      </p:graphicFrame>
      <p:cxnSp>
        <p:nvCxnSpPr>
          <p:cNvPr id="11" name="Straight Connector 10"/>
          <p:cNvCxnSpPr>
            <a:stCxn id="8" idx="3"/>
            <a:endCxn id="9" idx="1"/>
          </p:cNvCxnSpPr>
          <p:nvPr/>
        </p:nvCxnSpPr>
        <p:spPr bwMode="auto">
          <a:xfrm flipV="1">
            <a:off x="3142195" y="2298400"/>
            <a:ext cx="2036965" cy="17165"/>
          </a:xfrm>
          <a:prstGeom prst="line">
            <a:avLst/>
          </a:prstGeom>
          <a:ln/>
        </p:spPr>
        <p:style>
          <a:lnRef idx="1">
            <a:schemeClr val="dk1"/>
          </a:lnRef>
          <a:fillRef idx="0">
            <a:schemeClr val="dk1"/>
          </a:fillRef>
          <a:effectRef idx="0">
            <a:schemeClr val="dk1"/>
          </a:effectRef>
          <a:fontRef idx="minor">
            <a:schemeClr val="tx1"/>
          </a:fontRef>
        </p:style>
      </p:cxnSp>
      <p:cxnSp>
        <p:nvCxnSpPr>
          <p:cNvPr id="12" name="Straight Connector 11"/>
          <p:cNvCxnSpPr>
            <a:stCxn id="8" idx="2"/>
            <a:endCxn id="10" idx="0"/>
          </p:cNvCxnSpPr>
          <p:nvPr/>
        </p:nvCxnSpPr>
        <p:spPr bwMode="auto">
          <a:xfrm>
            <a:off x="2073565" y="3006445"/>
            <a:ext cx="0" cy="1510990"/>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1423681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Object types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Identified objects in requirement analysis can be partitioned into three types</a:t>
            </a:r>
          </a:p>
          <a:p>
            <a:pPr lvl="1"/>
            <a:r>
              <a:rPr lang="en-MY" dirty="0">
                <a:ln w="0"/>
                <a:solidFill>
                  <a:schemeClr val="tx1"/>
                </a:solidFill>
                <a:effectLst>
                  <a:outerShdw blurRad="38100" dist="19050" dir="2700000" algn="tl" rotWithShape="0">
                    <a:schemeClr val="dk1">
                      <a:alpha val="40000"/>
                    </a:schemeClr>
                  </a:outerShdw>
                </a:effectLst>
                <a:highlight>
                  <a:srgbClr val="FFFF00"/>
                </a:highlight>
              </a:rPr>
              <a:t>Entity Objects</a:t>
            </a:r>
          </a:p>
          <a:p>
            <a:pPr lvl="1"/>
            <a:r>
              <a:rPr lang="en-MY" dirty="0">
                <a:ln w="0"/>
                <a:solidFill>
                  <a:schemeClr val="tx1"/>
                </a:solidFill>
                <a:effectLst>
                  <a:outerShdw blurRad="38100" dist="19050" dir="2700000" algn="tl" rotWithShape="0">
                    <a:schemeClr val="dk1">
                      <a:alpha val="40000"/>
                    </a:schemeClr>
                  </a:outerShdw>
                </a:effectLst>
                <a:highlight>
                  <a:srgbClr val="FFFF00"/>
                </a:highlight>
              </a:rPr>
              <a:t>Boundary Objects</a:t>
            </a:r>
          </a:p>
          <a:p>
            <a:pPr lvl="1"/>
            <a:r>
              <a:rPr lang="en-MY" dirty="0">
                <a:ln w="0"/>
                <a:solidFill>
                  <a:schemeClr val="tx1"/>
                </a:solidFill>
                <a:effectLst>
                  <a:outerShdw blurRad="38100" dist="19050" dir="2700000" algn="tl" rotWithShape="0">
                    <a:schemeClr val="dk1">
                      <a:alpha val="40000"/>
                    </a:schemeClr>
                  </a:outerShdw>
                </a:effectLst>
                <a:highlight>
                  <a:srgbClr val="FFFF00"/>
                </a:highlight>
              </a:rPr>
              <a:t>Control Objects</a:t>
            </a:r>
          </a:p>
          <a:p>
            <a:r>
              <a:rPr lang="en-MY" dirty="0">
                <a:ln w="0"/>
                <a:solidFill>
                  <a:schemeClr val="tx1"/>
                </a:solidFill>
                <a:effectLst>
                  <a:outerShdw blurRad="38100" dist="19050" dir="2700000" algn="tl" rotWithShape="0">
                    <a:schemeClr val="dk1">
                      <a:alpha val="40000"/>
                    </a:schemeClr>
                  </a:outerShdw>
                </a:effectLst>
              </a:rPr>
              <a:t>Having three types of objects leads to models that are more adaptable to change – </a:t>
            </a:r>
            <a:r>
              <a:rPr lang="en-MY" dirty="0" err="1">
                <a:ln w="0"/>
                <a:solidFill>
                  <a:schemeClr val="tx1"/>
                </a:solidFill>
                <a:effectLst>
                  <a:outerShdw blurRad="38100" dist="19050" dir="2700000" algn="tl" rotWithShape="0">
                    <a:schemeClr val="dk1">
                      <a:alpha val="40000"/>
                    </a:schemeClr>
                  </a:outerShdw>
                </a:effectLst>
              </a:rPr>
              <a:t>e,g</a:t>
            </a:r>
            <a:r>
              <a:rPr lang="en-MY" dirty="0">
                <a:ln w="0"/>
                <a:solidFill>
                  <a:schemeClr val="tx1"/>
                </a:solidFill>
                <a:effectLst>
                  <a:outerShdw blurRad="38100" dist="19050" dir="2700000" algn="tl" rotWithShape="0">
                    <a:schemeClr val="dk1">
                      <a:alpha val="40000"/>
                    </a:schemeClr>
                  </a:outerShdw>
                </a:effectLst>
              </a:rPr>
              <a:t>, The interface of a system changes more likely than the control so only the boundary objects are affected.</a:t>
            </a:r>
          </a:p>
          <a:p>
            <a:endParaRPr lang="en-MY" dirty="0">
              <a:ln w="0"/>
              <a:solidFill>
                <a:schemeClr val="tx1"/>
              </a:solidFill>
              <a:effectLst>
                <a:outerShdw blurRad="38100" dist="19050" dir="2700000" algn="tl" rotWithShape="0">
                  <a:schemeClr val="dk1">
                    <a:alpha val="40000"/>
                  </a:schemeClr>
                </a:outerShdw>
              </a:effectLst>
            </a:endParaRPr>
          </a:p>
          <a:p>
            <a:r>
              <a:rPr lang="en-MY" dirty="0">
                <a:ln w="0"/>
                <a:solidFill>
                  <a:schemeClr val="tx1"/>
                </a:solidFill>
                <a:effectLst>
                  <a:outerShdw blurRad="38100" dist="19050" dir="2700000" algn="tl" rotWithShape="0">
                    <a:schemeClr val="dk1">
                      <a:alpha val="40000"/>
                    </a:schemeClr>
                  </a:outerShdw>
                </a:effectLst>
              </a:rPr>
              <a:t>Standard UML does not distinguish among these types</a:t>
            </a:r>
          </a:p>
        </p:txBody>
      </p:sp>
    </p:spTree>
    <p:extLst>
      <p:ext uri="{BB962C8B-B14F-4D97-AF65-F5344CB8AC3E}">
        <p14:creationId xmlns:p14="http://schemas.microsoft.com/office/powerpoint/2010/main" val="203050143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Entity objects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pPr marL="0" indent="0">
              <a:buNone/>
            </a:pPr>
            <a:r>
              <a:rPr lang="en-US" dirty="0">
                <a:ln w="0"/>
                <a:solidFill>
                  <a:schemeClr val="tx1"/>
                </a:solidFill>
                <a:effectLst>
                  <a:outerShdw blurRad="38100" dist="19050" dir="2700000" algn="tl" rotWithShape="0">
                    <a:schemeClr val="dk1">
                      <a:alpha val="40000"/>
                    </a:schemeClr>
                  </a:outerShdw>
                </a:effectLst>
              </a:rPr>
              <a:t>Entity objects represent real-world things in the system that have data (attributes) and a unique identity.</a:t>
            </a:r>
            <a:br>
              <a:rPr lang="en-US" dirty="0">
                <a:ln w="0"/>
                <a:solidFill>
                  <a:schemeClr val="tx1"/>
                </a:solidFill>
                <a:effectLst>
                  <a:outerShdw blurRad="38100" dist="19050" dir="2700000" algn="tl" rotWithShape="0">
                    <a:schemeClr val="dk1">
                      <a:alpha val="40000"/>
                    </a:schemeClr>
                  </a:outerShdw>
                </a:effectLst>
              </a:rPr>
            </a:br>
            <a:endParaRPr lang="en-MY" dirty="0">
              <a:ln w="0"/>
              <a:solidFill>
                <a:schemeClr val="tx1"/>
              </a:solidFill>
              <a:effectLst>
                <a:outerShdw blurRad="38100" dist="19050" dir="2700000" algn="tl" rotWithShape="0">
                  <a:schemeClr val="dk1">
                    <a:alpha val="40000"/>
                  </a:schemeClr>
                </a:outerShdw>
              </a:effectLst>
            </a:endParaRPr>
          </a:p>
          <a:p>
            <a:r>
              <a:rPr lang="en-MY" dirty="0">
                <a:ln w="0"/>
                <a:solidFill>
                  <a:schemeClr val="tx1"/>
                </a:solidFill>
                <a:effectLst>
                  <a:outerShdw blurRad="38100" dist="19050" dir="2700000" algn="tl" rotWithShape="0">
                    <a:schemeClr val="dk1">
                      <a:alpha val="40000"/>
                    </a:schemeClr>
                  </a:outerShdw>
                </a:effectLst>
              </a:rPr>
              <a:t>Represents persistent or long-lived information tracked by the system</a:t>
            </a:r>
          </a:p>
          <a:p>
            <a:r>
              <a:rPr lang="en-MY" dirty="0">
                <a:ln w="0"/>
                <a:solidFill>
                  <a:schemeClr val="tx1"/>
                </a:solidFill>
                <a:effectLst>
                  <a:outerShdw blurRad="38100" dist="19050" dir="2700000" algn="tl" rotWithShape="0">
                    <a:schemeClr val="dk1">
                      <a:alpha val="40000"/>
                    </a:schemeClr>
                  </a:outerShdw>
                </a:effectLst>
              </a:rPr>
              <a:t>Real-World entities from application domain (</a:t>
            </a:r>
            <a:r>
              <a:rPr lang="en-MY" dirty="0" err="1">
                <a:ln w="0"/>
                <a:solidFill>
                  <a:schemeClr val="tx1"/>
                </a:solidFill>
                <a:effectLst>
                  <a:outerShdw blurRad="38100" dist="19050" dir="2700000" algn="tl" rotWithShape="0">
                    <a:schemeClr val="dk1">
                      <a:alpha val="40000"/>
                    </a:schemeClr>
                  </a:outerShdw>
                </a:effectLst>
              </a:rPr>
              <a:t>FieldOfficer</a:t>
            </a:r>
            <a:r>
              <a:rPr lang="en-MY" dirty="0">
                <a:ln w="0"/>
                <a:solidFill>
                  <a:schemeClr val="tx1"/>
                </a:solidFill>
                <a:effectLst>
                  <a:outerShdw blurRad="38100" dist="19050" dir="2700000" algn="tl" rotWithShape="0">
                    <a:schemeClr val="dk1">
                      <a:alpha val="40000"/>
                    </a:schemeClr>
                  </a:outerShdw>
                </a:effectLst>
              </a:rPr>
              <a:t>, Customer)</a:t>
            </a:r>
          </a:p>
          <a:p>
            <a:r>
              <a:rPr lang="en-MY" dirty="0">
                <a:ln w="0"/>
                <a:solidFill>
                  <a:schemeClr val="tx1"/>
                </a:solidFill>
                <a:effectLst>
                  <a:outerShdw blurRad="38100" dist="19050" dir="2700000" algn="tl" rotWithShape="0">
                    <a:schemeClr val="dk1">
                      <a:alpha val="40000"/>
                    </a:schemeClr>
                  </a:outerShdw>
                </a:effectLst>
              </a:rPr>
              <a:t>Real-World activities the system needs to track (Order, </a:t>
            </a:r>
            <a:r>
              <a:rPr lang="en-MY" dirty="0" err="1">
                <a:ln w="0"/>
                <a:solidFill>
                  <a:schemeClr val="tx1"/>
                </a:solidFill>
                <a:effectLst>
                  <a:outerShdw blurRad="38100" dist="19050" dir="2700000" algn="tl" rotWithShape="0">
                    <a:schemeClr val="dk1">
                      <a:alpha val="40000"/>
                    </a:schemeClr>
                  </a:outerShdw>
                </a:effectLst>
              </a:rPr>
              <a:t>EmergencyPlan</a:t>
            </a:r>
            <a:r>
              <a:rPr lang="en-MY" dirty="0">
                <a:ln w="0"/>
                <a:solidFill>
                  <a:schemeClr val="tx1"/>
                </a:solidFill>
                <a:effectLst>
                  <a:outerShdw blurRad="38100" dist="19050" dir="2700000" algn="tl" rotWithShape="0">
                    <a:schemeClr val="dk1">
                      <a:alpha val="40000"/>
                    </a:schemeClr>
                  </a:outerShdw>
                </a:effectLst>
              </a:rPr>
              <a:t>)</a:t>
            </a:r>
          </a:p>
          <a:p>
            <a:r>
              <a:rPr lang="en-MY" dirty="0">
                <a:ln w="0"/>
                <a:solidFill>
                  <a:schemeClr val="tx1"/>
                </a:solidFill>
                <a:effectLst>
                  <a:outerShdw blurRad="38100" dist="19050" dir="2700000" algn="tl" rotWithShape="0">
                    <a:schemeClr val="dk1">
                      <a:alpha val="40000"/>
                    </a:schemeClr>
                  </a:outerShdw>
                </a:effectLst>
              </a:rPr>
              <a:t>Recurring Nouns that are used in the UCs</a:t>
            </a:r>
          </a:p>
        </p:txBody>
      </p:sp>
      <p:graphicFrame>
        <p:nvGraphicFramePr>
          <p:cNvPr id="4" name="Table 3">
            <a:extLst>
              <a:ext uri="{FF2B5EF4-FFF2-40B4-BE49-F238E27FC236}">
                <a16:creationId xmlns:a16="http://schemas.microsoft.com/office/drawing/2014/main" id="{E004195B-3461-A6BB-56B2-9E9268827241}"/>
              </a:ext>
            </a:extLst>
          </p:cNvPr>
          <p:cNvGraphicFramePr>
            <a:graphicFrameLocks noGrp="1"/>
          </p:cNvGraphicFramePr>
          <p:nvPr>
            <p:extLst>
              <p:ext uri="{D42A27DB-BD31-4B8C-83A1-F6EECF244321}">
                <p14:modId xmlns:p14="http://schemas.microsoft.com/office/powerpoint/2010/main" val="2058220892"/>
              </p:ext>
            </p:extLst>
          </p:nvPr>
        </p:nvGraphicFramePr>
        <p:xfrm>
          <a:off x="815197" y="3890327"/>
          <a:ext cx="7513606" cy="2194560"/>
        </p:xfrm>
        <a:graphic>
          <a:graphicData uri="http://schemas.openxmlformats.org/drawingml/2006/table">
            <a:tbl>
              <a:tblPr>
                <a:tableStyleId>{3B4B98B0-60AC-42C2-AFA5-B58CD77FA1E5}</a:tableStyleId>
              </a:tblPr>
              <a:tblGrid>
                <a:gridCol w="2238903">
                  <a:extLst>
                    <a:ext uri="{9D8B030D-6E8A-4147-A177-3AD203B41FA5}">
                      <a16:colId xmlns:a16="http://schemas.microsoft.com/office/drawing/2014/main" val="1017608347"/>
                    </a:ext>
                  </a:extLst>
                </a:gridCol>
                <a:gridCol w="5274703">
                  <a:extLst>
                    <a:ext uri="{9D8B030D-6E8A-4147-A177-3AD203B41FA5}">
                      <a16:colId xmlns:a16="http://schemas.microsoft.com/office/drawing/2014/main" val="1962307348"/>
                    </a:ext>
                  </a:extLst>
                </a:gridCol>
              </a:tblGrid>
              <a:tr h="0">
                <a:tc>
                  <a:txBody>
                    <a:bodyPr/>
                    <a:lstStyle/>
                    <a:p>
                      <a:pPr>
                        <a:buNone/>
                      </a:pPr>
                      <a:r>
                        <a:rPr lang="en-MY">
                          <a:highlight>
                            <a:srgbClr val="FFFF00"/>
                          </a:highlight>
                        </a:rPr>
                        <a:t>Entity 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dirty="0">
                          <a:highlight>
                            <a:srgbClr val="FFFF00"/>
                          </a:highlight>
                        </a:rPr>
                        <a:t>Why it is an Entity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8125180"/>
                  </a:ext>
                </a:extLst>
              </a:tr>
              <a:tr h="0">
                <a:tc>
                  <a:txBody>
                    <a:bodyPr/>
                    <a:lstStyle/>
                    <a:p>
                      <a:pPr>
                        <a:buNone/>
                      </a:pPr>
                      <a:r>
                        <a:rPr lang="en-MY" b="1"/>
                        <a:t>Book</a:t>
                      </a:r>
                      <a:endParaRPr lang="en-MY"/>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Has data such as title, author, ISBN, 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8670397"/>
                  </a:ext>
                </a:extLst>
              </a:tr>
              <a:tr h="0">
                <a:tc>
                  <a:txBody>
                    <a:bodyPr/>
                    <a:lstStyle/>
                    <a:p>
                      <a:pPr>
                        <a:buNone/>
                      </a:pPr>
                      <a:r>
                        <a:rPr lang="en-MY" b="1"/>
                        <a:t>Member</a:t>
                      </a:r>
                      <a:endParaRPr lang="en-MY"/>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Has ID, name, email, contact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852975"/>
                  </a:ext>
                </a:extLst>
              </a:tr>
              <a:tr h="0">
                <a:tc>
                  <a:txBody>
                    <a:bodyPr/>
                    <a:lstStyle/>
                    <a:p>
                      <a:pPr>
                        <a:buNone/>
                      </a:pPr>
                      <a:r>
                        <a:rPr lang="en-MY" b="1"/>
                        <a:t>Loan</a:t>
                      </a:r>
                      <a:endParaRPr lang="en-MY"/>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Stores issue date, due date, return 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63567453"/>
                  </a:ext>
                </a:extLst>
              </a:tr>
              <a:tr h="0">
                <a:tc>
                  <a:txBody>
                    <a:bodyPr/>
                    <a:lstStyle/>
                    <a:p>
                      <a:pPr>
                        <a:buNone/>
                      </a:pPr>
                      <a:r>
                        <a:rPr lang="en-MY" b="1"/>
                        <a:t>Librarian</a:t>
                      </a:r>
                      <a:endParaRPr lang="en-MY"/>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Represents staff with ID and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933072"/>
                  </a:ext>
                </a:extLst>
              </a:tr>
              <a:tr h="0">
                <a:tc>
                  <a:txBody>
                    <a:bodyPr/>
                    <a:lstStyle/>
                    <a:p>
                      <a:pPr>
                        <a:buNone/>
                      </a:pPr>
                      <a:r>
                        <a:rPr lang="en-MY" b="1"/>
                        <a:t>Fine</a:t>
                      </a:r>
                      <a:endParaRPr lang="en-MY"/>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dirty="0"/>
                        <a:t>Stores amount, reason, payment 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1943829"/>
                  </a:ext>
                </a:extLst>
              </a:tr>
            </a:tbl>
          </a:graphicData>
        </a:graphic>
      </p:graphicFrame>
    </p:spTree>
    <p:extLst>
      <p:ext uri="{BB962C8B-B14F-4D97-AF65-F5344CB8AC3E}">
        <p14:creationId xmlns:p14="http://schemas.microsoft.com/office/powerpoint/2010/main" val="102333241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Boundary objects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dirty="0">
                <a:ln w="0"/>
                <a:solidFill>
                  <a:schemeClr val="tx1"/>
                </a:solidFill>
                <a:effectLst>
                  <a:outerShdw blurRad="38100" dist="19050" dir="2700000" algn="tl" rotWithShape="0">
                    <a:schemeClr val="dk1">
                      <a:alpha val="40000"/>
                    </a:schemeClr>
                  </a:outerShdw>
                </a:effectLst>
              </a:rPr>
              <a:t>Represent the interaction between the user and the system</a:t>
            </a:r>
          </a:p>
          <a:p>
            <a:r>
              <a:rPr lang="en-MY" dirty="0">
                <a:ln w="0"/>
                <a:solidFill>
                  <a:schemeClr val="tx1"/>
                </a:solidFill>
                <a:effectLst>
                  <a:outerShdw blurRad="38100" dist="19050" dir="2700000" algn="tl" rotWithShape="0">
                    <a:schemeClr val="dk1">
                      <a:alpha val="40000"/>
                    </a:schemeClr>
                  </a:outerShdw>
                </a:effectLst>
              </a:rPr>
              <a:t>Closely related to objects at the system boundary</a:t>
            </a:r>
          </a:p>
          <a:p>
            <a:r>
              <a:rPr lang="en-MY" dirty="0">
                <a:ln w="0"/>
                <a:solidFill>
                  <a:schemeClr val="tx1"/>
                </a:solidFill>
                <a:effectLst>
                  <a:outerShdw blurRad="38100" dist="19050" dir="2700000" algn="tl" rotWithShape="0">
                    <a:schemeClr val="dk1">
                      <a:alpha val="40000"/>
                    </a:schemeClr>
                  </a:outerShdw>
                </a:effectLst>
              </a:rPr>
              <a:t>Represent the system interface for the actors</a:t>
            </a:r>
          </a:p>
          <a:p>
            <a:r>
              <a:rPr lang="en-MY" dirty="0">
                <a:ln w="0"/>
                <a:solidFill>
                  <a:schemeClr val="tx1"/>
                </a:solidFill>
                <a:effectLst>
                  <a:outerShdw blurRad="38100" dist="19050" dir="2700000" algn="tl" rotWithShape="0">
                    <a:schemeClr val="dk1">
                      <a:alpha val="40000"/>
                    </a:schemeClr>
                  </a:outerShdw>
                </a:effectLst>
              </a:rPr>
              <a:t>Forms, Messages, Terminals for different users</a:t>
            </a:r>
          </a:p>
          <a:p>
            <a:r>
              <a:rPr lang="en-MY" dirty="0">
                <a:ln w="0"/>
                <a:solidFill>
                  <a:schemeClr val="tx1"/>
                </a:solidFill>
                <a:effectLst>
                  <a:outerShdw blurRad="38100" dist="19050" dir="2700000" algn="tl" rotWithShape="0">
                    <a:schemeClr val="dk1">
                      <a:alpha val="40000"/>
                    </a:schemeClr>
                  </a:outerShdw>
                </a:effectLst>
              </a:rPr>
              <a:t>Identify Forms the user needs to enter data into the system</a:t>
            </a:r>
          </a:p>
          <a:p>
            <a:r>
              <a:rPr lang="en-MY" dirty="0">
                <a:ln w="0"/>
                <a:solidFill>
                  <a:schemeClr val="tx1"/>
                </a:solidFill>
                <a:effectLst>
                  <a:outerShdw blurRad="38100" dist="19050" dir="2700000" algn="tl" rotWithShape="0">
                    <a:schemeClr val="dk1">
                      <a:alpha val="40000"/>
                    </a:schemeClr>
                  </a:outerShdw>
                </a:effectLst>
              </a:rPr>
              <a:t>Identify messages the system uses to respond to </a:t>
            </a:r>
            <a:r>
              <a:rPr lang="en-MY" dirty="0" err="1">
                <a:ln w="0"/>
                <a:solidFill>
                  <a:schemeClr val="tx1"/>
                </a:solidFill>
                <a:effectLst>
                  <a:outerShdw blurRad="38100" dist="19050" dir="2700000" algn="tl" rotWithShape="0">
                    <a:schemeClr val="dk1">
                      <a:alpha val="40000"/>
                    </a:schemeClr>
                  </a:outerShdw>
                </a:effectLst>
              </a:rPr>
              <a:t>theuser</a:t>
            </a:r>
            <a:endParaRPr lang="en-MY" dirty="0">
              <a:ln w="0"/>
              <a:solidFill>
                <a:schemeClr val="tx1"/>
              </a:solidFill>
              <a:effectLst>
                <a:outerShdw blurRad="38100" dist="19050" dir="2700000" algn="tl" rotWithShape="0">
                  <a:schemeClr val="dk1">
                    <a:alpha val="40000"/>
                  </a:schemeClr>
                </a:outerShdw>
              </a:effectLst>
            </a:endParaRPr>
          </a:p>
          <a:p>
            <a:r>
              <a:rPr lang="en-MY" dirty="0">
                <a:ln w="0"/>
                <a:solidFill>
                  <a:schemeClr val="tx1"/>
                </a:solidFill>
                <a:effectLst>
                  <a:outerShdw blurRad="38100" dist="19050" dir="2700000" algn="tl" rotWithShape="0">
                    <a:schemeClr val="dk1">
                      <a:alpha val="40000"/>
                    </a:schemeClr>
                  </a:outerShdw>
                </a:effectLst>
              </a:rPr>
              <a:t>Also represent interface for external systems (</a:t>
            </a:r>
            <a:r>
              <a:rPr lang="en-MY" dirty="0" err="1">
                <a:ln w="0"/>
                <a:solidFill>
                  <a:schemeClr val="tx1"/>
                </a:solidFill>
                <a:effectLst>
                  <a:outerShdw blurRad="38100" dist="19050" dir="2700000" algn="tl" rotWithShape="0">
                    <a:schemeClr val="dk1">
                      <a:alpha val="40000"/>
                    </a:schemeClr>
                  </a:outerShdw>
                </a:effectLst>
              </a:rPr>
              <a:t>e.g.online</a:t>
            </a:r>
            <a:r>
              <a:rPr lang="en-MY" dirty="0">
                <a:ln w="0"/>
                <a:solidFill>
                  <a:schemeClr val="tx1"/>
                </a:solidFill>
                <a:effectLst>
                  <a:outerShdw blurRad="38100" dist="19050" dir="2700000" algn="tl" rotWithShape="0">
                    <a:schemeClr val="dk1">
                      <a:alpha val="40000"/>
                    </a:schemeClr>
                  </a:outerShdw>
                </a:effectLst>
              </a:rPr>
              <a:t> payment)</a:t>
            </a:r>
          </a:p>
          <a:p>
            <a:r>
              <a:rPr lang="en-MY" dirty="0">
                <a:ln w="0"/>
                <a:solidFill>
                  <a:schemeClr val="tx1"/>
                </a:solidFill>
                <a:effectLst>
                  <a:outerShdw blurRad="38100" dist="19050" dir="2700000" algn="tl" rotWithShape="0">
                    <a:schemeClr val="dk1">
                      <a:alpha val="40000"/>
                    </a:schemeClr>
                  </a:outerShdw>
                </a:effectLst>
              </a:rPr>
              <a:t>Described in End User Terms</a:t>
            </a:r>
          </a:p>
          <a:p>
            <a:pPr lvl="1"/>
            <a:r>
              <a:rPr lang="en-MY" dirty="0">
                <a:ln w="0"/>
                <a:solidFill>
                  <a:schemeClr val="tx1"/>
                </a:solidFill>
                <a:effectLst>
                  <a:outerShdw blurRad="38100" dist="19050" dir="2700000" algn="tl" rotWithShape="0">
                    <a:schemeClr val="dk1">
                      <a:alpha val="40000"/>
                    </a:schemeClr>
                  </a:outerShdw>
                </a:effectLst>
              </a:rPr>
              <a:t>Good: </a:t>
            </a:r>
            <a:r>
              <a:rPr lang="en-MY" dirty="0" err="1">
                <a:ln w="0"/>
                <a:solidFill>
                  <a:schemeClr val="tx1"/>
                </a:solidFill>
                <a:effectLst>
                  <a:outerShdw blurRad="38100" dist="19050" dir="2700000" algn="tl" rotWithShape="0">
                    <a:schemeClr val="dk1">
                      <a:alpha val="40000"/>
                    </a:schemeClr>
                  </a:outerShdw>
                </a:effectLst>
              </a:rPr>
              <a:t>EmergencyReportForm</a:t>
            </a:r>
            <a:r>
              <a:rPr lang="en-MY" dirty="0">
                <a:ln w="0"/>
                <a:solidFill>
                  <a:schemeClr val="tx1"/>
                </a:solidFill>
                <a:effectLst>
                  <a:outerShdw blurRad="38100" dist="19050" dir="2700000" algn="tl" rotWithShape="0">
                    <a:schemeClr val="dk1">
                      <a:alpha val="40000"/>
                    </a:schemeClr>
                  </a:outerShdw>
                </a:effectLst>
              </a:rPr>
              <a:t>, </a:t>
            </a:r>
            <a:r>
              <a:rPr lang="en-MY" dirty="0" err="1">
                <a:ln w="0"/>
                <a:solidFill>
                  <a:schemeClr val="tx1"/>
                </a:solidFill>
                <a:effectLst>
                  <a:outerShdw blurRad="38100" dist="19050" dir="2700000" algn="tl" rotWithShape="0">
                    <a:schemeClr val="dk1">
                      <a:alpha val="40000"/>
                    </a:schemeClr>
                  </a:outerShdw>
                </a:effectLst>
              </a:rPr>
              <a:t>ReportButton</a:t>
            </a:r>
            <a:endParaRPr lang="en-MY" dirty="0">
              <a:ln w="0"/>
              <a:solidFill>
                <a:schemeClr val="tx1"/>
              </a:solidFill>
              <a:effectLst>
                <a:outerShdw blurRad="38100" dist="19050" dir="2700000" algn="tl" rotWithShape="0">
                  <a:schemeClr val="dk1">
                    <a:alpha val="40000"/>
                  </a:schemeClr>
                </a:outerShdw>
              </a:effectLst>
            </a:endParaRPr>
          </a:p>
          <a:p>
            <a:pPr lvl="1"/>
            <a:r>
              <a:rPr lang="en-MY" dirty="0">
                <a:ln w="0"/>
                <a:solidFill>
                  <a:schemeClr val="tx1"/>
                </a:solidFill>
                <a:effectLst>
                  <a:outerShdw blurRad="38100" dist="19050" dir="2700000" algn="tl" rotWithShape="0">
                    <a:schemeClr val="dk1">
                      <a:alpha val="40000"/>
                    </a:schemeClr>
                  </a:outerShdw>
                </a:effectLst>
              </a:rPr>
              <a:t>Bad: </a:t>
            </a:r>
            <a:r>
              <a:rPr lang="en-MY" dirty="0" err="1">
                <a:ln w="0"/>
                <a:solidFill>
                  <a:schemeClr val="tx1"/>
                </a:solidFill>
                <a:effectLst>
                  <a:outerShdw blurRad="38100" dist="19050" dir="2700000" algn="tl" rotWithShape="0">
                    <a:schemeClr val="dk1">
                      <a:alpha val="40000"/>
                    </a:schemeClr>
                  </a:outerShdw>
                </a:effectLst>
              </a:rPr>
              <a:t>MenuItem</a:t>
            </a:r>
            <a:r>
              <a:rPr lang="en-MY" dirty="0">
                <a:ln w="0"/>
                <a:solidFill>
                  <a:schemeClr val="tx1"/>
                </a:solidFill>
                <a:effectLst>
                  <a:outerShdw blurRad="38100" dist="19050" dir="2700000" algn="tl" rotWithShape="0">
                    <a:schemeClr val="dk1">
                      <a:alpha val="40000"/>
                    </a:schemeClr>
                  </a:outerShdw>
                </a:effectLst>
              </a:rPr>
              <a:t>, </a:t>
            </a:r>
            <a:r>
              <a:rPr lang="en-MY" dirty="0" err="1">
                <a:ln w="0"/>
                <a:solidFill>
                  <a:schemeClr val="tx1"/>
                </a:solidFill>
                <a:effectLst>
                  <a:outerShdw blurRad="38100" dist="19050" dir="2700000" algn="tl" rotWithShape="0">
                    <a:schemeClr val="dk1">
                      <a:alpha val="40000"/>
                    </a:schemeClr>
                  </a:outerShdw>
                </a:effectLst>
              </a:rPr>
              <a:t>ScrollBar</a:t>
            </a:r>
            <a:r>
              <a:rPr lang="en-MY" dirty="0">
                <a:ln w="0"/>
                <a:solidFill>
                  <a:schemeClr val="tx1"/>
                </a:solidFill>
                <a:effectLst>
                  <a:outerShdw blurRad="38100" dist="19050" dir="2700000" algn="tl" rotWithShape="0">
                    <a:schemeClr val="dk1">
                      <a:alpha val="40000"/>
                    </a:schemeClr>
                  </a:outerShdw>
                </a:effectLst>
              </a:rPr>
              <a:t> (too detailed)</a:t>
            </a:r>
          </a:p>
        </p:txBody>
      </p:sp>
      <p:pic>
        <p:nvPicPr>
          <p:cNvPr id="5" name="Picture 4">
            <a:extLst>
              <a:ext uri="{FF2B5EF4-FFF2-40B4-BE49-F238E27FC236}">
                <a16:creationId xmlns:a16="http://schemas.microsoft.com/office/drawing/2014/main" id="{49AA115F-E8B8-AFF1-C878-13EC9A4877A1}"/>
              </a:ext>
            </a:extLst>
          </p:cNvPr>
          <p:cNvPicPr>
            <a:picLocks noChangeAspect="1"/>
          </p:cNvPicPr>
          <p:nvPr/>
        </p:nvPicPr>
        <p:blipFill>
          <a:blip r:embed="rId2"/>
          <a:stretch>
            <a:fillRect/>
          </a:stretch>
        </p:blipFill>
        <p:spPr>
          <a:xfrm>
            <a:off x="6419850" y="4546601"/>
            <a:ext cx="2343150" cy="1952625"/>
          </a:xfrm>
          <a:prstGeom prst="rect">
            <a:avLst/>
          </a:prstGeom>
        </p:spPr>
      </p:pic>
    </p:spTree>
    <p:extLst>
      <p:ext uri="{BB962C8B-B14F-4D97-AF65-F5344CB8AC3E}">
        <p14:creationId xmlns:p14="http://schemas.microsoft.com/office/powerpoint/2010/main" val="331058645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Control objects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Control objects handle the flow of the use case.</a:t>
            </a:r>
            <a:br>
              <a:rPr lang="en-US" dirty="0">
                <a:ln w="0"/>
                <a:solidFill>
                  <a:schemeClr val="tx1"/>
                </a:solidFill>
                <a:effectLst>
                  <a:outerShdw blurRad="38100" dist="19050" dir="2700000" algn="tl" rotWithShape="0">
                    <a:schemeClr val="dk1">
                      <a:alpha val="40000"/>
                    </a:schemeClr>
                  </a:outerShdw>
                </a:effectLst>
              </a:rPr>
            </a:br>
            <a:r>
              <a:rPr lang="en-US" dirty="0">
                <a:ln w="0"/>
                <a:solidFill>
                  <a:schemeClr val="tx1"/>
                </a:solidFill>
                <a:effectLst>
                  <a:outerShdw blurRad="38100" dist="19050" dir="2700000" algn="tl" rotWithShape="0">
                    <a:schemeClr val="dk1">
                      <a:alpha val="40000"/>
                    </a:schemeClr>
                  </a:outerShdw>
                </a:effectLst>
              </a:rPr>
              <a:t>They coordinate interactions between boundary objects (UI) and entity objects (data).</a:t>
            </a:r>
            <a:br>
              <a:rPr lang="en-US" dirty="0">
                <a:ln w="0"/>
                <a:solidFill>
                  <a:schemeClr val="tx1"/>
                </a:solidFill>
                <a:effectLst>
                  <a:outerShdw blurRad="38100" dist="19050" dir="2700000" algn="tl" rotWithShape="0">
                    <a:schemeClr val="dk1">
                      <a:alpha val="40000"/>
                    </a:schemeClr>
                  </a:outerShdw>
                </a:effectLst>
              </a:rPr>
            </a:br>
            <a:r>
              <a:rPr lang="en-US" dirty="0">
                <a:ln w="0"/>
                <a:solidFill>
                  <a:schemeClr val="tx1"/>
                </a:solidFill>
                <a:effectLst>
                  <a:outerShdw blurRad="38100" dist="19050" dir="2700000" algn="tl" rotWithShape="0">
                    <a:schemeClr val="dk1">
                      <a:alpha val="40000"/>
                    </a:schemeClr>
                  </a:outerShdw>
                </a:effectLst>
              </a:rPr>
              <a:t>They </a:t>
            </a:r>
            <a:r>
              <a:rPr lang="en-US" b="1" dirty="0">
                <a:ln w="0"/>
                <a:solidFill>
                  <a:srgbClr val="FF0000"/>
                </a:solidFill>
                <a:effectLst>
                  <a:outerShdw blurRad="38100" dist="19050" dir="2700000" algn="tl" rotWithShape="0">
                    <a:schemeClr val="dk1">
                      <a:alpha val="40000"/>
                    </a:schemeClr>
                  </a:outerShdw>
                </a:effectLst>
              </a:rPr>
              <a:t>contain the logic </a:t>
            </a:r>
            <a:r>
              <a:rPr lang="en-US" dirty="0">
                <a:ln w="0"/>
                <a:solidFill>
                  <a:schemeClr val="tx1"/>
                </a:solidFill>
                <a:effectLst>
                  <a:outerShdw blurRad="38100" dist="19050" dir="2700000" algn="tl" rotWithShape="0">
                    <a:schemeClr val="dk1">
                      <a:alpha val="40000"/>
                    </a:schemeClr>
                  </a:outerShdw>
                </a:effectLst>
              </a:rPr>
              <a:t>that controls the process.</a:t>
            </a:r>
          </a:p>
          <a:p>
            <a:pPr marL="0" indent="0">
              <a:buNone/>
            </a:pPr>
            <a:endParaRPr lang="en-US" dirty="0">
              <a:ln w="0"/>
              <a:solidFill>
                <a:schemeClr val="tx1"/>
              </a:solidFill>
              <a:effectLst>
                <a:outerShdw blurRad="38100" dist="19050" dir="2700000" algn="tl" rotWithShape="0">
                  <a:schemeClr val="dk1">
                    <a:alpha val="40000"/>
                  </a:schemeClr>
                </a:outerShdw>
              </a:effectLst>
            </a:endParaRPr>
          </a:p>
          <a:p>
            <a:r>
              <a:rPr lang="en-US" dirty="0">
                <a:ln w="0"/>
                <a:solidFill>
                  <a:schemeClr val="tx1"/>
                </a:solidFill>
                <a:effectLst>
                  <a:outerShdw blurRad="38100" dist="19050" dir="2700000" algn="tl" rotWithShape="0">
                    <a:schemeClr val="dk1">
                      <a:alpha val="40000"/>
                    </a:schemeClr>
                  </a:outerShdw>
                </a:effectLst>
              </a:rPr>
              <a:t>Responsible for coordinating boundary and entity objects:</a:t>
            </a:r>
          </a:p>
          <a:p>
            <a:pPr lvl="1"/>
            <a:r>
              <a:rPr lang="en-US" dirty="0">
                <a:ln w="0"/>
                <a:solidFill>
                  <a:schemeClr val="tx1"/>
                </a:solidFill>
                <a:effectLst>
                  <a:outerShdw blurRad="38100" dist="19050" dir="2700000" algn="tl" rotWithShape="0">
                    <a:schemeClr val="dk1">
                      <a:alpha val="40000"/>
                    </a:schemeClr>
                  </a:outerShdw>
                </a:effectLst>
              </a:rPr>
              <a:t>Collecting information from boundary objects (e.g. key press)</a:t>
            </a:r>
          </a:p>
          <a:p>
            <a:pPr lvl="1"/>
            <a:r>
              <a:rPr lang="en-US" dirty="0">
                <a:ln w="0"/>
                <a:solidFill>
                  <a:schemeClr val="tx1"/>
                </a:solidFill>
                <a:effectLst>
                  <a:outerShdw blurRad="38100" dist="19050" dir="2700000" algn="tl" rotWithShape="0">
                    <a:schemeClr val="dk1">
                      <a:alpha val="40000"/>
                    </a:schemeClr>
                  </a:outerShdw>
                </a:effectLst>
              </a:rPr>
              <a:t>Dispatching to entity objects</a:t>
            </a:r>
          </a:p>
          <a:p>
            <a:pPr lvl="1"/>
            <a:r>
              <a:rPr lang="en-US" dirty="0">
                <a:ln w="0"/>
                <a:solidFill>
                  <a:schemeClr val="tx1"/>
                </a:solidFill>
                <a:effectLst>
                  <a:outerShdw blurRad="38100" dist="19050" dir="2700000" algn="tl" rotWithShape="0">
                    <a:schemeClr val="dk1">
                      <a:alpha val="40000"/>
                    </a:schemeClr>
                  </a:outerShdw>
                </a:effectLst>
              </a:rPr>
              <a:t>Control of distributed systems</a:t>
            </a:r>
          </a:p>
          <a:p>
            <a:r>
              <a:rPr lang="en-US" dirty="0">
                <a:ln w="0"/>
                <a:solidFill>
                  <a:schemeClr val="tx1"/>
                </a:solidFill>
                <a:effectLst>
                  <a:outerShdw blurRad="38100" dist="19050" dir="2700000" algn="tl" rotWithShape="0">
                    <a:schemeClr val="dk1">
                      <a:alpha val="40000"/>
                    </a:schemeClr>
                  </a:outerShdw>
                </a:effectLst>
              </a:rPr>
              <a:t>Usually requires one (1) control object per use case with the life span of the object lasting the entire extent of the use case session.</a:t>
            </a:r>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8308952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Analysis Object model</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Extension to existing class diagram</a:t>
            </a:r>
            <a:endParaRPr lang="en-MY" dirty="0">
              <a:ln w="0"/>
              <a:solidFill>
                <a:schemeClr val="tx1"/>
              </a:solidFill>
              <a:effectLst>
                <a:outerShdw blurRad="38100" dist="19050" dir="2700000" algn="tl" rotWithShape="0">
                  <a:schemeClr val="dk1">
                    <a:alpha val="40000"/>
                  </a:schemeClr>
                </a:outerShdw>
              </a:effectLst>
            </a:endParaRPr>
          </a:p>
        </p:txBody>
      </p:sp>
      <p:graphicFrame>
        <p:nvGraphicFramePr>
          <p:cNvPr id="4" name="Table 3"/>
          <p:cNvGraphicFramePr>
            <a:graphicFrameLocks noGrp="1"/>
          </p:cNvGraphicFramePr>
          <p:nvPr>
            <p:extLst>
              <p:ext uri="{D42A27DB-BD31-4B8C-83A1-F6EECF244321}">
                <p14:modId xmlns:p14="http://schemas.microsoft.com/office/powerpoint/2010/main" val="11743952"/>
              </p:ext>
            </p:extLst>
          </p:nvPr>
        </p:nvGraphicFramePr>
        <p:xfrm>
          <a:off x="1004935" y="1624685"/>
          <a:ext cx="2137260" cy="165100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Customer</a:t>
                      </a:r>
                    </a:p>
                  </a:txBody>
                  <a:tcPr>
                    <a:solidFill>
                      <a:schemeClr val="bg1"/>
                    </a:solidFill>
                  </a:tcPr>
                </a:tc>
                <a:extLst>
                  <a:ext uri="{0D108BD9-81ED-4DB2-BD59-A6C34878D82A}">
                    <a16:rowId xmlns:a16="http://schemas.microsoft.com/office/drawing/2014/main" val="10000"/>
                  </a:ext>
                </a:extLst>
              </a:tr>
              <a:tr h="370840">
                <a:tc>
                  <a:txBody>
                    <a:bodyPr/>
                    <a:lstStyle/>
                    <a:p>
                      <a:r>
                        <a:rPr lang="en-US"/>
                        <a:t>age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getAge();</a:t>
                      </a:r>
                    </a:p>
                    <a:p>
                      <a:r>
                        <a:rPr lang="en-US"/>
                        <a:t>getMaxBudget();</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825936383"/>
              </p:ext>
            </p:extLst>
          </p:nvPr>
        </p:nvGraphicFramePr>
        <p:xfrm>
          <a:off x="5179160" y="1607520"/>
          <a:ext cx="2137260" cy="165100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t>&lt;&lt;entity&gt;&gt;</a:t>
                      </a:r>
                    </a:p>
                    <a:p>
                      <a:pPr algn="ctr"/>
                      <a:r>
                        <a:rPr lang="en-US"/>
                        <a:t>Toys</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minAge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checkAge();</a:t>
                      </a:r>
                    </a:p>
                    <a:p>
                      <a:r>
                        <a:rPr lang="en-US"/>
                        <a:t>buy();</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892837845"/>
              </p:ext>
            </p:extLst>
          </p:nvPr>
        </p:nvGraphicFramePr>
        <p:xfrm>
          <a:off x="1004935" y="4517435"/>
          <a:ext cx="2137260" cy="138176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&lt;&lt;boundary&gt;&gt;</a:t>
                      </a:r>
                    </a:p>
                    <a:p>
                      <a:pPr algn="ctr"/>
                      <a:r>
                        <a:rPr lang="en-US"/>
                        <a:t>Store</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branchname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enterStore();</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277729004"/>
              </p:ext>
            </p:extLst>
          </p:nvPr>
        </p:nvGraphicFramePr>
        <p:xfrm>
          <a:off x="4344315" y="4120690"/>
          <a:ext cx="1214320" cy="640080"/>
        </p:xfrm>
        <a:graphic>
          <a:graphicData uri="http://schemas.openxmlformats.org/drawingml/2006/table">
            <a:tbl>
              <a:tblPr firstRow="1" bandRow="1">
                <a:tableStyleId>{5940675A-B579-460E-94D1-54222C63F5DA}</a:tableStyleId>
              </a:tblPr>
              <a:tblGrid>
                <a:gridCol w="121432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Doll</a:t>
                      </a:r>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018508165"/>
              </p:ext>
            </p:extLst>
          </p:nvPr>
        </p:nvGraphicFramePr>
        <p:xfrm>
          <a:off x="6393480" y="4120690"/>
          <a:ext cx="2137260" cy="64008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Game</a:t>
                      </a:r>
                      <a:r>
                        <a:rPr lang="en-US" baseline="0"/>
                        <a:t> collection</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724037719"/>
              </p:ext>
            </p:extLst>
          </p:nvPr>
        </p:nvGraphicFramePr>
        <p:xfrm>
          <a:off x="5558635" y="5942170"/>
          <a:ext cx="1517900" cy="640080"/>
        </p:xfrm>
        <a:graphic>
          <a:graphicData uri="http://schemas.openxmlformats.org/drawingml/2006/table">
            <a:tbl>
              <a:tblPr firstRow="1" bandRow="1">
                <a:tableStyleId>{5940675A-B579-460E-94D1-54222C63F5DA}</a:tableStyleId>
              </a:tblPr>
              <a:tblGrid>
                <a:gridCol w="151790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Chess</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22411788"/>
              </p:ext>
            </p:extLst>
          </p:nvPr>
        </p:nvGraphicFramePr>
        <p:xfrm>
          <a:off x="7152430" y="5942170"/>
          <a:ext cx="1517900" cy="640080"/>
        </p:xfrm>
        <a:graphic>
          <a:graphicData uri="http://schemas.openxmlformats.org/drawingml/2006/table">
            <a:tbl>
              <a:tblPr firstRow="1" bandRow="1">
                <a:tableStyleId>{5940675A-B579-460E-94D1-54222C63F5DA}</a:tableStyleId>
              </a:tblPr>
              <a:tblGrid>
                <a:gridCol w="151790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Cards</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746781113"/>
              </p:ext>
            </p:extLst>
          </p:nvPr>
        </p:nvGraphicFramePr>
        <p:xfrm>
          <a:off x="4192525" y="5183220"/>
          <a:ext cx="1517900" cy="640080"/>
        </p:xfrm>
        <a:graphic>
          <a:graphicData uri="http://schemas.openxmlformats.org/drawingml/2006/table">
            <a:tbl>
              <a:tblPr firstRow="1" bandRow="1">
                <a:tableStyleId>{5940675A-B579-460E-94D1-54222C63F5DA}</a:tableStyleId>
              </a:tblPr>
              <a:tblGrid>
                <a:gridCol w="151790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Barbie</a:t>
                      </a:r>
                      <a:endParaRPr lang="en-MY"/>
                    </a:p>
                  </a:txBody>
                  <a:tcPr>
                    <a:solidFill>
                      <a:schemeClr val="bg1"/>
                    </a:solidFill>
                  </a:tcPr>
                </a:tc>
                <a:extLst>
                  <a:ext uri="{0D108BD9-81ED-4DB2-BD59-A6C34878D82A}">
                    <a16:rowId xmlns:a16="http://schemas.microsoft.com/office/drawing/2014/main" val="10000"/>
                  </a:ext>
                </a:extLst>
              </a:tr>
            </a:tbl>
          </a:graphicData>
        </a:graphic>
      </p:graphicFrame>
      <p:cxnSp>
        <p:nvCxnSpPr>
          <p:cNvPr id="13" name="Straight Connector 12"/>
          <p:cNvCxnSpPr>
            <a:stCxn id="4" idx="3"/>
            <a:endCxn id="5" idx="1"/>
          </p:cNvCxnSpPr>
          <p:nvPr/>
        </p:nvCxnSpPr>
        <p:spPr bwMode="auto">
          <a:xfrm flipV="1">
            <a:off x="3142195" y="2433020"/>
            <a:ext cx="2036965" cy="17165"/>
          </a:xfrm>
          <a:prstGeom prst="line">
            <a:avLst/>
          </a:prstGeom>
          <a:ln/>
        </p:spPr>
        <p:style>
          <a:lnRef idx="1">
            <a:schemeClr val="dk1"/>
          </a:lnRef>
          <a:fillRef idx="0">
            <a:schemeClr val="dk1"/>
          </a:fillRef>
          <a:effectRef idx="0">
            <a:schemeClr val="dk1"/>
          </a:effectRef>
          <a:fontRef idx="minor">
            <a:schemeClr val="tx1"/>
          </a:fontRef>
        </p:style>
      </p:cxnSp>
      <p:cxnSp>
        <p:nvCxnSpPr>
          <p:cNvPr id="16" name="Straight Connector 15"/>
          <p:cNvCxnSpPr>
            <a:stCxn id="4" idx="2"/>
            <a:endCxn id="6" idx="0"/>
          </p:cNvCxnSpPr>
          <p:nvPr/>
        </p:nvCxnSpPr>
        <p:spPr bwMode="auto">
          <a:xfrm>
            <a:off x="2073565" y="3275685"/>
            <a:ext cx="0" cy="1241750"/>
          </a:xfrm>
          <a:prstGeom prst="line">
            <a:avLst/>
          </a:prstGeom>
          <a:ln/>
        </p:spPr>
        <p:style>
          <a:lnRef idx="1">
            <a:schemeClr val="dk1"/>
          </a:lnRef>
          <a:fillRef idx="0">
            <a:schemeClr val="dk1"/>
          </a:fillRef>
          <a:effectRef idx="0">
            <a:schemeClr val="dk1"/>
          </a:effectRef>
          <a:fontRef idx="minor">
            <a:schemeClr val="tx1"/>
          </a:fontRef>
        </p:style>
      </p:cxnSp>
      <p:cxnSp>
        <p:nvCxnSpPr>
          <p:cNvPr id="19" name="Elbow Connector 18"/>
          <p:cNvCxnSpPr>
            <a:stCxn id="7" idx="0"/>
            <a:endCxn id="8" idx="0"/>
          </p:cNvCxnSpPr>
          <p:nvPr/>
        </p:nvCxnSpPr>
        <p:spPr bwMode="auto">
          <a:xfrm rot="5400000" flipH="1" flipV="1">
            <a:off x="6206792" y="2865373"/>
            <a:ext cx="12700" cy="2510635"/>
          </a:xfrm>
          <a:prstGeom prst="bentConnector3">
            <a:avLst>
              <a:gd name="adj1" fmla="val 1800000"/>
            </a:avLst>
          </a:prstGeom>
          <a:ln/>
        </p:spPr>
        <p:style>
          <a:lnRef idx="1">
            <a:schemeClr val="dk1"/>
          </a:lnRef>
          <a:fillRef idx="0">
            <a:schemeClr val="dk1"/>
          </a:fillRef>
          <a:effectRef idx="0">
            <a:schemeClr val="dk1"/>
          </a:effectRef>
          <a:fontRef idx="minor">
            <a:schemeClr val="tx1"/>
          </a:fontRef>
        </p:style>
      </p:cxnSp>
      <p:cxnSp>
        <p:nvCxnSpPr>
          <p:cNvPr id="22" name="Straight Connector 21"/>
          <p:cNvCxnSpPr>
            <a:endCxn id="5" idx="2"/>
          </p:cNvCxnSpPr>
          <p:nvPr/>
        </p:nvCxnSpPr>
        <p:spPr bwMode="auto">
          <a:xfrm flipV="1">
            <a:off x="6241690" y="3258520"/>
            <a:ext cx="6100" cy="625850"/>
          </a:xfrm>
          <a:prstGeom prst="line">
            <a:avLst/>
          </a:prstGeom>
          <a:ln/>
        </p:spPr>
        <p:style>
          <a:lnRef idx="1">
            <a:schemeClr val="dk1"/>
          </a:lnRef>
          <a:fillRef idx="0">
            <a:schemeClr val="dk1"/>
          </a:fillRef>
          <a:effectRef idx="0">
            <a:schemeClr val="dk1"/>
          </a:effectRef>
          <a:fontRef idx="minor">
            <a:schemeClr val="tx1"/>
          </a:fontRef>
        </p:style>
      </p:cxnSp>
      <p:cxnSp>
        <p:nvCxnSpPr>
          <p:cNvPr id="24" name="Elbow Connector 23"/>
          <p:cNvCxnSpPr>
            <a:stCxn id="9" idx="0"/>
            <a:endCxn id="10" idx="0"/>
          </p:cNvCxnSpPr>
          <p:nvPr/>
        </p:nvCxnSpPr>
        <p:spPr bwMode="auto">
          <a:xfrm rot="5400000" flipH="1" flipV="1">
            <a:off x="7114482" y="5145273"/>
            <a:ext cx="12700" cy="1593795"/>
          </a:xfrm>
          <a:prstGeom prst="bentConnector3">
            <a:avLst>
              <a:gd name="adj1" fmla="val 1800000"/>
            </a:avLst>
          </a:prstGeom>
          <a:ln/>
        </p:spPr>
        <p:style>
          <a:lnRef idx="1">
            <a:schemeClr val="dk1"/>
          </a:lnRef>
          <a:fillRef idx="0">
            <a:schemeClr val="dk1"/>
          </a:fillRef>
          <a:effectRef idx="0">
            <a:schemeClr val="dk1"/>
          </a:effectRef>
          <a:fontRef idx="minor">
            <a:schemeClr val="tx1"/>
          </a:fontRef>
        </p:style>
      </p:cxnSp>
      <p:cxnSp>
        <p:nvCxnSpPr>
          <p:cNvPr id="27" name="Straight Connector 26"/>
          <p:cNvCxnSpPr>
            <a:endCxn id="8" idx="2"/>
          </p:cNvCxnSpPr>
          <p:nvPr/>
        </p:nvCxnSpPr>
        <p:spPr bwMode="auto">
          <a:xfrm flipV="1">
            <a:off x="7462110" y="4760770"/>
            <a:ext cx="0" cy="945080"/>
          </a:xfrm>
          <a:prstGeom prst="line">
            <a:avLst/>
          </a:prstGeom>
          <a:ln/>
        </p:spPr>
        <p:style>
          <a:lnRef idx="1">
            <a:schemeClr val="dk1"/>
          </a:lnRef>
          <a:fillRef idx="0">
            <a:schemeClr val="dk1"/>
          </a:fillRef>
          <a:effectRef idx="0">
            <a:schemeClr val="dk1"/>
          </a:effectRef>
          <a:fontRef idx="minor">
            <a:schemeClr val="tx1"/>
          </a:fontRef>
        </p:style>
      </p:cxnSp>
      <p:cxnSp>
        <p:nvCxnSpPr>
          <p:cNvPr id="31" name="Straight Connector 30"/>
          <p:cNvCxnSpPr>
            <a:stCxn id="7" idx="2"/>
            <a:endCxn id="11" idx="0"/>
          </p:cNvCxnSpPr>
          <p:nvPr/>
        </p:nvCxnSpPr>
        <p:spPr bwMode="auto">
          <a:xfrm>
            <a:off x="4951475" y="4760770"/>
            <a:ext cx="0" cy="422450"/>
          </a:xfrm>
          <a:prstGeom prst="line">
            <a:avLst/>
          </a:prstGeom>
          <a:ln/>
        </p:spPr>
        <p:style>
          <a:lnRef idx="1">
            <a:schemeClr val="dk1"/>
          </a:lnRef>
          <a:fillRef idx="0">
            <a:schemeClr val="dk1"/>
          </a:fillRef>
          <a:effectRef idx="0">
            <a:schemeClr val="dk1"/>
          </a:effectRef>
          <a:fontRef idx="minor">
            <a:schemeClr val="tx1"/>
          </a:fontRef>
        </p:style>
      </p:cxnSp>
      <p:sp>
        <p:nvSpPr>
          <p:cNvPr id="34" name="Isosceles Triangle 33"/>
          <p:cNvSpPr/>
          <p:nvPr/>
        </p:nvSpPr>
        <p:spPr bwMode="auto">
          <a:xfrm>
            <a:off x="6089900" y="3277210"/>
            <a:ext cx="352153" cy="303580"/>
          </a:xfrm>
          <a:prstGeom prst="triangle">
            <a:avLst/>
          </a:prstGeom>
          <a:ln w="57150"/>
          <a:effectLst/>
        </p:spPr>
        <p:style>
          <a:lnRef idx="3">
            <a:schemeClr val="lt1"/>
          </a:lnRef>
          <a:fillRef idx="1">
            <a:schemeClr val="accent4"/>
          </a:fillRef>
          <a:effectRef idx="1">
            <a:schemeClr val="accent4"/>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
        <p:nvSpPr>
          <p:cNvPr id="36" name="Diamond 35"/>
          <p:cNvSpPr/>
          <p:nvPr/>
        </p:nvSpPr>
        <p:spPr bwMode="auto">
          <a:xfrm>
            <a:off x="7276622" y="4719215"/>
            <a:ext cx="331178" cy="303580"/>
          </a:xfrm>
          <a:prstGeom prst="diamond">
            <a:avLst/>
          </a:prstGeom>
          <a:ln w="57150"/>
          <a:effectLst/>
        </p:spPr>
        <p:style>
          <a:lnRef idx="3">
            <a:schemeClr val="lt1"/>
          </a:lnRef>
          <a:fillRef idx="1">
            <a:schemeClr val="accent4"/>
          </a:fillRef>
          <a:effectRef idx="1">
            <a:schemeClr val="accent4"/>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Tree>
    <p:extLst>
      <p:ext uri="{BB962C8B-B14F-4D97-AF65-F5344CB8AC3E}">
        <p14:creationId xmlns:p14="http://schemas.microsoft.com/office/powerpoint/2010/main" val="212323463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Analysis Object model</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Extension to existing class diagram</a:t>
            </a:r>
            <a:endParaRPr lang="en-MY" dirty="0">
              <a:ln w="0"/>
              <a:solidFill>
                <a:schemeClr val="tx1"/>
              </a:solidFill>
              <a:effectLst>
                <a:outerShdw blurRad="38100" dist="19050" dir="2700000" algn="tl" rotWithShape="0">
                  <a:schemeClr val="dk1">
                    <a:alpha val="40000"/>
                  </a:schemeClr>
                </a:outerShdw>
              </a:effectLst>
            </a:endParaRPr>
          </a:p>
        </p:txBody>
      </p:sp>
      <p:graphicFrame>
        <p:nvGraphicFramePr>
          <p:cNvPr id="4" name="Table 3"/>
          <p:cNvGraphicFramePr>
            <a:graphicFrameLocks noGrp="1"/>
          </p:cNvGraphicFramePr>
          <p:nvPr>
            <p:extLst>
              <p:ext uri="{D42A27DB-BD31-4B8C-83A1-F6EECF244321}">
                <p14:modId xmlns:p14="http://schemas.microsoft.com/office/powerpoint/2010/main" val="4281489327"/>
              </p:ext>
            </p:extLst>
          </p:nvPr>
        </p:nvGraphicFramePr>
        <p:xfrm>
          <a:off x="1004935" y="1624685"/>
          <a:ext cx="2137260" cy="165100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Customer</a:t>
                      </a:r>
                    </a:p>
                  </a:txBody>
                  <a:tcPr>
                    <a:solidFill>
                      <a:schemeClr val="bg1"/>
                    </a:solidFill>
                  </a:tcPr>
                </a:tc>
                <a:extLst>
                  <a:ext uri="{0D108BD9-81ED-4DB2-BD59-A6C34878D82A}">
                    <a16:rowId xmlns:a16="http://schemas.microsoft.com/office/drawing/2014/main" val="10000"/>
                  </a:ext>
                </a:extLst>
              </a:tr>
              <a:tr h="370840">
                <a:tc>
                  <a:txBody>
                    <a:bodyPr/>
                    <a:lstStyle/>
                    <a:p>
                      <a:r>
                        <a:rPr lang="en-US"/>
                        <a:t>age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getAge();</a:t>
                      </a:r>
                    </a:p>
                    <a:p>
                      <a:r>
                        <a:rPr lang="en-US"/>
                        <a:t>getMaxBudget();</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35631446"/>
              </p:ext>
            </p:extLst>
          </p:nvPr>
        </p:nvGraphicFramePr>
        <p:xfrm>
          <a:off x="5179160" y="1607520"/>
          <a:ext cx="2137260" cy="165100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t>&lt;&lt;entity&gt;&gt;</a:t>
                      </a:r>
                    </a:p>
                    <a:p>
                      <a:pPr algn="ctr"/>
                      <a:r>
                        <a:rPr lang="en-US"/>
                        <a:t>Toys</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minAge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checkAge();</a:t>
                      </a:r>
                    </a:p>
                    <a:p>
                      <a:r>
                        <a:rPr lang="en-US"/>
                        <a:t>buy();</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36158817"/>
              </p:ext>
            </p:extLst>
          </p:nvPr>
        </p:nvGraphicFramePr>
        <p:xfrm>
          <a:off x="1004935" y="3504895"/>
          <a:ext cx="2137260" cy="138176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&lt;&lt;boundary&gt;&gt;</a:t>
                      </a:r>
                    </a:p>
                    <a:p>
                      <a:pPr algn="ctr"/>
                      <a:r>
                        <a:rPr lang="en-US"/>
                        <a:t>Store</a:t>
                      </a:r>
                      <a:endParaRPr lang="en-MY"/>
                    </a:p>
                  </a:txBody>
                  <a:tcPr>
                    <a:solidFill>
                      <a:schemeClr val="bg1"/>
                    </a:solidFill>
                  </a:tcPr>
                </a:tc>
                <a:extLst>
                  <a:ext uri="{0D108BD9-81ED-4DB2-BD59-A6C34878D82A}">
                    <a16:rowId xmlns:a16="http://schemas.microsoft.com/office/drawing/2014/main" val="10000"/>
                  </a:ext>
                </a:extLst>
              </a:tr>
              <a:tr h="370840">
                <a:tc>
                  <a:txBody>
                    <a:bodyPr/>
                    <a:lstStyle/>
                    <a:p>
                      <a:r>
                        <a:rPr lang="en-US"/>
                        <a:t>branchname</a:t>
                      </a:r>
                      <a:endParaRPr lang="en-MY"/>
                    </a:p>
                  </a:txBody>
                  <a:tcPr>
                    <a:solidFill>
                      <a:schemeClr val="bg1"/>
                    </a:solidFill>
                  </a:tcPr>
                </a:tc>
                <a:extLst>
                  <a:ext uri="{0D108BD9-81ED-4DB2-BD59-A6C34878D82A}">
                    <a16:rowId xmlns:a16="http://schemas.microsoft.com/office/drawing/2014/main" val="10001"/>
                  </a:ext>
                </a:extLst>
              </a:tr>
              <a:tr h="370840">
                <a:tc>
                  <a:txBody>
                    <a:bodyPr/>
                    <a:lstStyle/>
                    <a:p>
                      <a:r>
                        <a:rPr lang="en-US"/>
                        <a:t>enterStore();</a:t>
                      </a:r>
                      <a:endParaRPr lang="en-MY"/>
                    </a:p>
                  </a:txBody>
                  <a:tcPr>
                    <a:solidFill>
                      <a:schemeClr val="bg1"/>
                    </a:solid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511299790"/>
              </p:ext>
            </p:extLst>
          </p:nvPr>
        </p:nvGraphicFramePr>
        <p:xfrm>
          <a:off x="4344315" y="4120690"/>
          <a:ext cx="1214320" cy="640080"/>
        </p:xfrm>
        <a:graphic>
          <a:graphicData uri="http://schemas.openxmlformats.org/drawingml/2006/table">
            <a:tbl>
              <a:tblPr firstRow="1" bandRow="1">
                <a:tableStyleId>{5940675A-B579-460E-94D1-54222C63F5DA}</a:tableStyleId>
              </a:tblPr>
              <a:tblGrid>
                <a:gridCol w="121432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Doll</a:t>
                      </a:r>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293096792"/>
              </p:ext>
            </p:extLst>
          </p:nvPr>
        </p:nvGraphicFramePr>
        <p:xfrm>
          <a:off x="6393480" y="4120690"/>
          <a:ext cx="2137260" cy="64008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Game</a:t>
                      </a:r>
                      <a:r>
                        <a:rPr lang="en-US" baseline="0"/>
                        <a:t> collection</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998269287"/>
              </p:ext>
            </p:extLst>
          </p:nvPr>
        </p:nvGraphicFramePr>
        <p:xfrm>
          <a:off x="5558635" y="5942170"/>
          <a:ext cx="1517900" cy="640080"/>
        </p:xfrm>
        <a:graphic>
          <a:graphicData uri="http://schemas.openxmlformats.org/drawingml/2006/table">
            <a:tbl>
              <a:tblPr firstRow="1" bandRow="1">
                <a:tableStyleId>{5940675A-B579-460E-94D1-54222C63F5DA}</a:tableStyleId>
              </a:tblPr>
              <a:tblGrid>
                <a:gridCol w="151790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Chess</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461402225"/>
              </p:ext>
            </p:extLst>
          </p:nvPr>
        </p:nvGraphicFramePr>
        <p:xfrm>
          <a:off x="7152430" y="5942170"/>
          <a:ext cx="1517900" cy="640080"/>
        </p:xfrm>
        <a:graphic>
          <a:graphicData uri="http://schemas.openxmlformats.org/drawingml/2006/table">
            <a:tbl>
              <a:tblPr firstRow="1" bandRow="1">
                <a:tableStyleId>{5940675A-B579-460E-94D1-54222C63F5DA}</a:tableStyleId>
              </a:tblPr>
              <a:tblGrid>
                <a:gridCol w="151790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Cards</a:t>
                      </a:r>
                      <a:endParaRPr lang="en-MY"/>
                    </a:p>
                  </a:txBody>
                  <a:tcPr>
                    <a:solidFill>
                      <a:schemeClr val="bg1"/>
                    </a:solidFill>
                  </a:tcPr>
                </a:tc>
                <a:extLst>
                  <a:ext uri="{0D108BD9-81ED-4DB2-BD59-A6C34878D82A}">
                    <a16:rowId xmlns:a16="http://schemas.microsoft.com/office/drawing/2014/main" val="10000"/>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926235530"/>
              </p:ext>
            </p:extLst>
          </p:nvPr>
        </p:nvGraphicFramePr>
        <p:xfrm>
          <a:off x="4192525" y="5183220"/>
          <a:ext cx="1517900" cy="640080"/>
        </p:xfrm>
        <a:graphic>
          <a:graphicData uri="http://schemas.openxmlformats.org/drawingml/2006/table">
            <a:tbl>
              <a:tblPr firstRow="1" bandRow="1">
                <a:tableStyleId>{5940675A-B579-460E-94D1-54222C63F5DA}</a:tableStyleId>
              </a:tblPr>
              <a:tblGrid>
                <a:gridCol w="1517900">
                  <a:extLst>
                    <a:ext uri="{9D8B030D-6E8A-4147-A177-3AD203B41FA5}">
                      <a16:colId xmlns:a16="http://schemas.microsoft.com/office/drawing/2014/main" val="20000"/>
                    </a:ext>
                  </a:extLst>
                </a:gridCol>
              </a:tblGrid>
              <a:tr h="370840">
                <a:tc>
                  <a:txBody>
                    <a:bodyPr/>
                    <a:lstStyle/>
                    <a:p>
                      <a:pPr algn="ctr"/>
                      <a:r>
                        <a:rPr lang="en-US"/>
                        <a:t>&lt;&lt;entity&gt;&gt;</a:t>
                      </a:r>
                    </a:p>
                    <a:p>
                      <a:pPr algn="ctr"/>
                      <a:r>
                        <a:rPr lang="en-US"/>
                        <a:t>Barbie</a:t>
                      </a:r>
                      <a:endParaRPr lang="en-MY"/>
                    </a:p>
                  </a:txBody>
                  <a:tcPr>
                    <a:solidFill>
                      <a:schemeClr val="bg1"/>
                    </a:solidFill>
                  </a:tcPr>
                </a:tc>
                <a:extLst>
                  <a:ext uri="{0D108BD9-81ED-4DB2-BD59-A6C34878D82A}">
                    <a16:rowId xmlns:a16="http://schemas.microsoft.com/office/drawing/2014/main" val="10000"/>
                  </a:ext>
                </a:extLst>
              </a:tr>
            </a:tbl>
          </a:graphicData>
        </a:graphic>
      </p:graphicFrame>
      <p:cxnSp>
        <p:nvCxnSpPr>
          <p:cNvPr id="13" name="Straight Connector 12"/>
          <p:cNvCxnSpPr>
            <a:stCxn id="4" idx="3"/>
            <a:endCxn id="5" idx="1"/>
          </p:cNvCxnSpPr>
          <p:nvPr/>
        </p:nvCxnSpPr>
        <p:spPr bwMode="auto">
          <a:xfrm flipV="1">
            <a:off x="3142195" y="2433020"/>
            <a:ext cx="2036965" cy="17165"/>
          </a:xfrm>
          <a:prstGeom prst="line">
            <a:avLst/>
          </a:prstGeom>
          <a:ln/>
        </p:spPr>
        <p:style>
          <a:lnRef idx="1">
            <a:schemeClr val="dk1"/>
          </a:lnRef>
          <a:fillRef idx="0">
            <a:schemeClr val="dk1"/>
          </a:fillRef>
          <a:effectRef idx="0">
            <a:schemeClr val="dk1"/>
          </a:effectRef>
          <a:fontRef idx="minor">
            <a:schemeClr val="tx1"/>
          </a:fontRef>
        </p:style>
      </p:cxnSp>
      <p:cxnSp>
        <p:nvCxnSpPr>
          <p:cNvPr id="16" name="Straight Connector 15"/>
          <p:cNvCxnSpPr>
            <a:stCxn id="4" idx="2"/>
            <a:endCxn id="6" idx="0"/>
          </p:cNvCxnSpPr>
          <p:nvPr/>
        </p:nvCxnSpPr>
        <p:spPr bwMode="auto">
          <a:xfrm>
            <a:off x="2073565" y="3275685"/>
            <a:ext cx="0" cy="229210"/>
          </a:xfrm>
          <a:prstGeom prst="line">
            <a:avLst/>
          </a:prstGeom>
          <a:ln/>
        </p:spPr>
        <p:style>
          <a:lnRef idx="1">
            <a:schemeClr val="dk1"/>
          </a:lnRef>
          <a:fillRef idx="0">
            <a:schemeClr val="dk1"/>
          </a:fillRef>
          <a:effectRef idx="0">
            <a:schemeClr val="dk1"/>
          </a:effectRef>
          <a:fontRef idx="minor">
            <a:schemeClr val="tx1"/>
          </a:fontRef>
        </p:style>
      </p:cxnSp>
      <p:cxnSp>
        <p:nvCxnSpPr>
          <p:cNvPr id="19" name="Elbow Connector 18"/>
          <p:cNvCxnSpPr>
            <a:stCxn id="7" idx="0"/>
            <a:endCxn id="8" idx="0"/>
          </p:cNvCxnSpPr>
          <p:nvPr/>
        </p:nvCxnSpPr>
        <p:spPr bwMode="auto">
          <a:xfrm rot="5400000" flipH="1" flipV="1">
            <a:off x="6206792" y="2865373"/>
            <a:ext cx="12700" cy="2510635"/>
          </a:xfrm>
          <a:prstGeom prst="bentConnector3">
            <a:avLst>
              <a:gd name="adj1" fmla="val 1800000"/>
            </a:avLst>
          </a:prstGeom>
          <a:ln/>
        </p:spPr>
        <p:style>
          <a:lnRef idx="1">
            <a:schemeClr val="dk1"/>
          </a:lnRef>
          <a:fillRef idx="0">
            <a:schemeClr val="dk1"/>
          </a:fillRef>
          <a:effectRef idx="0">
            <a:schemeClr val="dk1"/>
          </a:effectRef>
          <a:fontRef idx="minor">
            <a:schemeClr val="tx1"/>
          </a:fontRef>
        </p:style>
      </p:cxnSp>
      <p:cxnSp>
        <p:nvCxnSpPr>
          <p:cNvPr id="22" name="Straight Connector 21"/>
          <p:cNvCxnSpPr>
            <a:endCxn id="5" idx="2"/>
          </p:cNvCxnSpPr>
          <p:nvPr/>
        </p:nvCxnSpPr>
        <p:spPr bwMode="auto">
          <a:xfrm flipV="1">
            <a:off x="6241690" y="3258520"/>
            <a:ext cx="6100" cy="625850"/>
          </a:xfrm>
          <a:prstGeom prst="line">
            <a:avLst/>
          </a:prstGeom>
          <a:ln/>
        </p:spPr>
        <p:style>
          <a:lnRef idx="1">
            <a:schemeClr val="dk1"/>
          </a:lnRef>
          <a:fillRef idx="0">
            <a:schemeClr val="dk1"/>
          </a:fillRef>
          <a:effectRef idx="0">
            <a:schemeClr val="dk1"/>
          </a:effectRef>
          <a:fontRef idx="minor">
            <a:schemeClr val="tx1"/>
          </a:fontRef>
        </p:style>
      </p:cxnSp>
      <p:cxnSp>
        <p:nvCxnSpPr>
          <p:cNvPr id="24" name="Elbow Connector 23"/>
          <p:cNvCxnSpPr>
            <a:stCxn id="9" idx="0"/>
            <a:endCxn id="10" idx="0"/>
          </p:cNvCxnSpPr>
          <p:nvPr/>
        </p:nvCxnSpPr>
        <p:spPr bwMode="auto">
          <a:xfrm rot="5400000" flipH="1" flipV="1">
            <a:off x="7114482" y="5145273"/>
            <a:ext cx="12700" cy="1593795"/>
          </a:xfrm>
          <a:prstGeom prst="bentConnector3">
            <a:avLst>
              <a:gd name="adj1" fmla="val 1800000"/>
            </a:avLst>
          </a:prstGeom>
          <a:ln/>
        </p:spPr>
        <p:style>
          <a:lnRef idx="1">
            <a:schemeClr val="dk1"/>
          </a:lnRef>
          <a:fillRef idx="0">
            <a:schemeClr val="dk1"/>
          </a:fillRef>
          <a:effectRef idx="0">
            <a:schemeClr val="dk1"/>
          </a:effectRef>
          <a:fontRef idx="minor">
            <a:schemeClr val="tx1"/>
          </a:fontRef>
        </p:style>
      </p:cxnSp>
      <p:cxnSp>
        <p:nvCxnSpPr>
          <p:cNvPr id="27" name="Straight Connector 26"/>
          <p:cNvCxnSpPr>
            <a:endCxn id="8" idx="2"/>
          </p:cNvCxnSpPr>
          <p:nvPr/>
        </p:nvCxnSpPr>
        <p:spPr bwMode="auto">
          <a:xfrm flipV="1">
            <a:off x="7462110" y="4760770"/>
            <a:ext cx="0" cy="945080"/>
          </a:xfrm>
          <a:prstGeom prst="line">
            <a:avLst/>
          </a:prstGeom>
          <a:ln/>
        </p:spPr>
        <p:style>
          <a:lnRef idx="1">
            <a:schemeClr val="dk1"/>
          </a:lnRef>
          <a:fillRef idx="0">
            <a:schemeClr val="dk1"/>
          </a:fillRef>
          <a:effectRef idx="0">
            <a:schemeClr val="dk1"/>
          </a:effectRef>
          <a:fontRef idx="minor">
            <a:schemeClr val="tx1"/>
          </a:fontRef>
        </p:style>
      </p:cxnSp>
      <p:cxnSp>
        <p:nvCxnSpPr>
          <p:cNvPr id="31" name="Straight Connector 30"/>
          <p:cNvCxnSpPr>
            <a:stCxn id="7" idx="2"/>
            <a:endCxn id="11" idx="0"/>
          </p:cNvCxnSpPr>
          <p:nvPr/>
        </p:nvCxnSpPr>
        <p:spPr bwMode="auto">
          <a:xfrm>
            <a:off x="4951475" y="4760770"/>
            <a:ext cx="0" cy="422450"/>
          </a:xfrm>
          <a:prstGeom prst="line">
            <a:avLst/>
          </a:prstGeom>
          <a:ln/>
        </p:spPr>
        <p:style>
          <a:lnRef idx="1">
            <a:schemeClr val="dk1"/>
          </a:lnRef>
          <a:fillRef idx="0">
            <a:schemeClr val="dk1"/>
          </a:fillRef>
          <a:effectRef idx="0">
            <a:schemeClr val="dk1"/>
          </a:effectRef>
          <a:fontRef idx="minor">
            <a:schemeClr val="tx1"/>
          </a:fontRef>
        </p:style>
      </p:cxnSp>
      <p:sp>
        <p:nvSpPr>
          <p:cNvPr id="34" name="Isosceles Triangle 33"/>
          <p:cNvSpPr/>
          <p:nvPr/>
        </p:nvSpPr>
        <p:spPr bwMode="auto">
          <a:xfrm>
            <a:off x="6089900" y="3277210"/>
            <a:ext cx="352153" cy="303580"/>
          </a:xfrm>
          <a:prstGeom prst="triangle">
            <a:avLst/>
          </a:prstGeom>
          <a:ln w="57150"/>
          <a:effectLst/>
        </p:spPr>
        <p:style>
          <a:lnRef idx="3">
            <a:schemeClr val="lt1"/>
          </a:lnRef>
          <a:fillRef idx="1">
            <a:schemeClr val="accent4"/>
          </a:fillRef>
          <a:effectRef idx="1">
            <a:schemeClr val="accent4"/>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sp>
        <p:nvSpPr>
          <p:cNvPr id="36" name="Diamond 35"/>
          <p:cNvSpPr/>
          <p:nvPr/>
        </p:nvSpPr>
        <p:spPr bwMode="auto">
          <a:xfrm>
            <a:off x="7276622" y="4719215"/>
            <a:ext cx="331178" cy="303580"/>
          </a:xfrm>
          <a:prstGeom prst="diamond">
            <a:avLst/>
          </a:prstGeom>
          <a:ln w="57150"/>
          <a:effectLst/>
        </p:spPr>
        <p:style>
          <a:lnRef idx="3">
            <a:schemeClr val="lt1"/>
          </a:lnRef>
          <a:fillRef idx="1">
            <a:schemeClr val="accent4"/>
          </a:fillRef>
          <a:effectRef idx="1">
            <a:schemeClr val="accent4"/>
          </a:effectRef>
          <a:fontRef idx="minor">
            <a:schemeClr val="lt1"/>
          </a:fontRef>
        </p:style>
        <p:txBody>
          <a:bodyPr vert="horz" wrap="square" lIns="91440" tIns="45720" rIns="91440" bIns="45720" numCol="1" rtlCol="0" anchor="t" anchorCtr="0" compatLnSpc="1">
            <a:prstTxWarp prst="textNoShape">
              <a:avLst/>
            </a:prstTxWarp>
            <a:spAutoFit/>
          </a:bodyPr>
          <a:lstStyle/>
          <a:p>
            <a:pPr marL="342900" marR="0" indent="-342900" algn="ctr" defTabSz="914400" rtl="0" eaLnBrk="0" fontAlgn="base" latinLnBrk="0" hangingPunct="0">
              <a:lnSpc>
                <a:spcPct val="100000"/>
              </a:lnSpc>
              <a:spcBef>
                <a:spcPct val="0"/>
              </a:spcBef>
              <a:spcAft>
                <a:spcPct val="0"/>
              </a:spcAft>
              <a:buClrTx/>
              <a:buSzTx/>
              <a:buFontTx/>
              <a:buNone/>
              <a:tabLst/>
            </a:pPr>
            <a:endParaRPr kumimoji="0" lang="en-MY" sz="1800" b="0" i="0" u="none" strike="noStrike" cap="none" normalizeH="0" baseline="0">
              <a:ln>
                <a:noFill/>
              </a:ln>
              <a:solidFill>
                <a:schemeClr val="tx1"/>
              </a:solidFill>
              <a:effectLst/>
              <a:latin typeface="Calibri" pitchFamily="34" charset="0"/>
            </a:endParaRPr>
          </a:p>
        </p:txBody>
      </p:sp>
      <p:graphicFrame>
        <p:nvGraphicFramePr>
          <p:cNvPr id="23" name="Table 22"/>
          <p:cNvGraphicFramePr>
            <a:graphicFrameLocks noGrp="1"/>
          </p:cNvGraphicFramePr>
          <p:nvPr>
            <p:extLst>
              <p:ext uri="{D42A27DB-BD31-4B8C-83A1-F6EECF244321}">
                <p14:modId xmlns:p14="http://schemas.microsoft.com/office/powerpoint/2010/main" val="2931788878"/>
              </p:ext>
            </p:extLst>
          </p:nvPr>
        </p:nvGraphicFramePr>
        <p:xfrm>
          <a:off x="1004935" y="5098690"/>
          <a:ext cx="2137260" cy="1651000"/>
        </p:xfrm>
        <a:graphic>
          <a:graphicData uri="http://schemas.openxmlformats.org/drawingml/2006/table">
            <a:tbl>
              <a:tblPr firstRow="1" bandRow="1">
                <a:tableStyleId>{5940675A-B579-460E-94D1-54222C63F5DA}</a:tableStyleId>
              </a:tblPr>
              <a:tblGrid>
                <a:gridCol w="2137260">
                  <a:extLst>
                    <a:ext uri="{9D8B030D-6E8A-4147-A177-3AD203B41FA5}">
                      <a16:colId xmlns:a16="http://schemas.microsoft.com/office/drawing/2014/main" val="20000"/>
                    </a:ext>
                  </a:extLst>
                </a:gridCol>
              </a:tblGrid>
              <a:tr h="370840">
                <a:tc>
                  <a:txBody>
                    <a:bodyPr/>
                    <a:lstStyle/>
                    <a:p>
                      <a:pPr algn="ctr"/>
                      <a:r>
                        <a:rPr lang="en-US"/>
                        <a:t>&lt;&lt;control&gt;&gt;</a:t>
                      </a:r>
                    </a:p>
                    <a:p>
                      <a:pPr algn="ctr"/>
                      <a:r>
                        <a:rPr lang="en-US"/>
                        <a:t>SalesTransaction</a:t>
                      </a:r>
                      <a:endParaRPr lang="en-MY"/>
                    </a:p>
                  </a:txBody>
                  <a:tcPr>
                    <a:solidFill>
                      <a:srgbClr val="F7F7AF"/>
                    </a:solidFill>
                  </a:tcPr>
                </a:tc>
                <a:extLst>
                  <a:ext uri="{0D108BD9-81ED-4DB2-BD59-A6C34878D82A}">
                    <a16:rowId xmlns:a16="http://schemas.microsoft.com/office/drawing/2014/main" val="10000"/>
                  </a:ext>
                </a:extLst>
              </a:tr>
              <a:tr h="370840">
                <a:tc>
                  <a:txBody>
                    <a:bodyPr/>
                    <a:lstStyle/>
                    <a:p>
                      <a:r>
                        <a:rPr lang="en-US"/>
                        <a:t>amount</a:t>
                      </a:r>
                    </a:p>
                    <a:p>
                      <a:r>
                        <a:rPr lang="en-US"/>
                        <a:t>salesPerson</a:t>
                      </a:r>
                      <a:endParaRPr lang="en-MY"/>
                    </a:p>
                  </a:txBody>
                  <a:tcPr>
                    <a:solidFill>
                      <a:srgbClr val="F7F7AF"/>
                    </a:solidFill>
                  </a:tcPr>
                </a:tc>
                <a:extLst>
                  <a:ext uri="{0D108BD9-81ED-4DB2-BD59-A6C34878D82A}">
                    <a16:rowId xmlns:a16="http://schemas.microsoft.com/office/drawing/2014/main" val="10001"/>
                  </a:ext>
                </a:extLst>
              </a:tr>
              <a:tr h="370840">
                <a:tc>
                  <a:txBody>
                    <a:bodyPr/>
                    <a:lstStyle/>
                    <a:p>
                      <a:r>
                        <a:rPr lang="en-US"/>
                        <a:t>create()</a:t>
                      </a:r>
                      <a:endParaRPr lang="en-MY"/>
                    </a:p>
                  </a:txBody>
                  <a:tcPr>
                    <a:solidFill>
                      <a:srgbClr val="F7F7AF"/>
                    </a:solidFill>
                  </a:tcPr>
                </a:tc>
                <a:extLst>
                  <a:ext uri="{0D108BD9-81ED-4DB2-BD59-A6C34878D82A}">
                    <a16:rowId xmlns:a16="http://schemas.microsoft.com/office/drawing/2014/main" val="10002"/>
                  </a:ext>
                </a:extLst>
              </a:tr>
            </a:tbl>
          </a:graphicData>
        </a:graphic>
      </p:graphicFrame>
      <p:cxnSp>
        <p:nvCxnSpPr>
          <p:cNvPr id="25" name="Elbow Connector 24"/>
          <p:cNvCxnSpPr>
            <a:stCxn id="6" idx="3"/>
            <a:endCxn id="23" idx="3"/>
          </p:cNvCxnSpPr>
          <p:nvPr/>
        </p:nvCxnSpPr>
        <p:spPr bwMode="auto">
          <a:xfrm>
            <a:off x="3142195" y="4195775"/>
            <a:ext cx="12700" cy="1728415"/>
          </a:xfrm>
          <a:prstGeom prst="bentConnector3">
            <a:avLst>
              <a:gd name="adj1" fmla="val 1800000"/>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5917212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Common problems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dirty="0">
                <a:ln w="0"/>
                <a:solidFill>
                  <a:schemeClr val="tx1"/>
                </a:solidFill>
                <a:effectLst>
                  <a:outerShdw blurRad="38100" dist="19050" dir="2700000" algn="tl" rotWithShape="0">
                    <a:schemeClr val="dk1">
                      <a:alpha val="40000"/>
                    </a:schemeClr>
                  </a:outerShdw>
                </a:effectLst>
              </a:rPr>
              <a:t>Do not defer important decisions</a:t>
            </a:r>
          </a:p>
          <a:p>
            <a:r>
              <a:rPr lang="en-MY" dirty="0">
                <a:ln w="0"/>
                <a:solidFill>
                  <a:schemeClr val="tx1"/>
                </a:solidFill>
                <a:effectLst>
                  <a:outerShdw blurRad="38100" dist="19050" dir="2700000" algn="tl" rotWithShape="0">
                    <a:schemeClr val="dk1">
                      <a:alpha val="40000"/>
                    </a:schemeClr>
                  </a:outerShdw>
                </a:effectLst>
              </a:rPr>
              <a:t>Don’t insist on finding all objects</a:t>
            </a:r>
          </a:p>
          <a:p>
            <a:r>
              <a:rPr lang="en-MY" dirty="0">
                <a:ln w="0"/>
                <a:solidFill>
                  <a:schemeClr val="tx1"/>
                </a:solidFill>
                <a:effectLst>
                  <a:outerShdw blurRad="38100" dist="19050" dir="2700000" algn="tl" rotWithShape="0">
                    <a:schemeClr val="dk1">
                      <a:alpha val="40000"/>
                    </a:schemeClr>
                  </a:outerShdw>
                </a:effectLst>
              </a:rPr>
              <a:t>Don’t be too detailed</a:t>
            </a:r>
          </a:p>
          <a:p>
            <a:pPr lvl="1"/>
            <a:r>
              <a:rPr lang="en-MY" dirty="0">
                <a:ln w="0"/>
                <a:solidFill>
                  <a:schemeClr val="tx1"/>
                </a:solidFill>
                <a:effectLst>
                  <a:outerShdw blurRad="38100" dist="19050" dir="2700000" algn="tl" rotWithShape="0">
                    <a:schemeClr val="dk1">
                      <a:alpha val="40000"/>
                    </a:schemeClr>
                  </a:outerShdw>
                </a:effectLst>
              </a:rPr>
              <a:t>More details are added during object design phase</a:t>
            </a:r>
          </a:p>
          <a:p>
            <a:r>
              <a:rPr lang="en-MY" dirty="0">
                <a:ln w="0"/>
                <a:solidFill>
                  <a:schemeClr val="tx1"/>
                </a:solidFill>
                <a:effectLst>
                  <a:outerShdw blurRad="38100" dist="19050" dir="2700000" algn="tl" rotWithShape="0">
                    <a:schemeClr val="dk1">
                      <a:alpha val="40000"/>
                    </a:schemeClr>
                  </a:outerShdw>
                </a:effectLst>
              </a:rPr>
              <a:t>Requirements are still incomplete </a:t>
            </a:r>
          </a:p>
          <a:p>
            <a:pPr lvl="1"/>
            <a:r>
              <a:rPr lang="en-MY" dirty="0">
                <a:ln w="0"/>
                <a:solidFill>
                  <a:schemeClr val="tx1"/>
                </a:solidFill>
                <a:effectLst>
                  <a:outerShdw blurRad="38100" dist="19050" dir="2700000" algn="tl" rotWithShape="0">
                    <a:schemeClr val="dk1">
                      <a:alpha val="40000"/>
                    </a:schemeClr>
                  </a:outerShdw>
                </a:effectLst>
              </a:rPr>
              <a:t>Check list (later)</a:t>
            </a:r>
          </a:p>
          <a:p>
            <a:pPr lvl="1"/>
            <a:r>
              <a:rPr lang="en-MY" dirty="0">
                <a:ln w="0"/>
                <a:solidFill>
                  <a:schemeClr val="tx1"/>
                </a:solidFill>
                <a:effectLst>
                  <a:outerShdw blurRad="38100" dist="19050" dir="2700000" algn="tl" rotWithShape="0">
                    <a:schemeClr val="dk1">
                      <a:alpha val="40000"/>
                    </a:schemeClr>
                  </a:outerShdw>
                </a:effectLst>
              </a:rPr>
              <a:t>Requirements validation (later)</a:t>
            </a:r>
          </a:p>
          <a:p>
            <a:r>
              <a:rPr lang="en-MY" dirty="0">
                <a:ln w="0"/>
                <a:solidFill>
                  <a:schemeClr val="tx1"/>
                </a:solidFill>
                <a:effectLst>
                  <a:outerShdw blurRad="38100" dist="19050" dir="2700000" algn="tl" rotWithShape="0">
                    <a:schemeClr val="dk1">
                      <a:alpha val="40000"/>
                    </a:schemeClr>
                  </a:outerShdw>
                </a:effectLst>
              </a:rPr>
              <a:t>Feedback with Stakeholder still valuable</a:t>
            </a:r>
          </a:p>
        </p:txBody>
      </p:sp>
    </p:spTree>
    <p:extLst>
      <p:ext uri="{BB962C8B-B14F-4D97-AF65-F5344CB8AC3E}">
        <p14:creationId xmlns:p14="http://schemas.microsoft.com/office/powerpoint/2010/main" val="156506980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Dynamic models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b="1" dirty="0" err="1">
                <a:ln w="0"/>
                <a:solidFill>
                  <a:srgbClr val="FF0000"/>
                </a:solidFill>
                <a:effectLst>
                  <a:outerShdw blurRad="38100" dist="19050" dir="2700000" algn="tl" rotWithShape="0">
                    <a:schemeClr val="dk1">
                      <a:alpha val="40000"/>
                    </a:schemeClr>
                  </a:outerShdw>
                </a:effectLst>
              </a:rPr>
              <a:t>Modeling</a:t>
            </a:r>
            <a:r>
              <a:rPr lang="en-MY" b="1" dirty="0">
                <a:ln w="0"/>
                <a:solidFill>
                  <a:srgbClr val="FF0000"/>
                </a:solidFill>
                <a:effectLst>
                  <a:outerShdw blurRad="38100" dist="19050" dir="2700000" algn="tl" rotWithShape="0">
                    <a:schemeClr val="dk1">
                      <a:alpha val="40000"/>
                    </a:schemeClr>
                  </a:outerShdw>
                </a:effectLst>
              </a:rPr>
              <a:t> of </a:t>
            </a:r>
            <a:r>
              <a:rPr lang="en-MY" b="1" dirty="0" err="1">
                <a:ln w="0"/>
                <a:solidFill>
                  <a:srgbClr val="FF0000"/>
                </a:solidFill>
                <a:effectLst>
                  <a:outerShdw blurRad="38100" dist="19050" dir="2700000" algn="tl" rotWithShape="0">
                    <a:schemeClr val="dk1">
                      <a:alpha val="40000"/>
                    </a:schemeClr>
                  </a:outerShdw>
                </a:effectLst>
              </a:rPr>
              <a:t>behavioral</a:t>
            </a:r>
            <a:r>
              <a:rPr lang="en-MY" b="1" dirty="0">
                <a:ln w="0"/>
                <a:solidFill>
                  <a:srgbClr val="FF0000"/>
                </a:solidFill>
                <a:effectLst>
                  <a:outerShdw blurRad="38100" dist="19050" dir="2700000" algn="tl" rotWithShape="0">
                    <a:schemeClr val="dk1">
                      <a:alpha val="40000"/>
                    </a:schemeClr>
                  </a:outerShdw>
                </a:effectLst>
              </a:rPr>
              <a:t> aspects among the participating objects</a:t>
            </a:r>
          </a:p>
          <a:p>
            <a:r>
              <a:rPr lang="en-MY" dirty="0">
                <a:ln w="0"/>
                <a:solidFill>
                  <a:schemeClr val="tx1"/>
                </a:solidFill>
                <a:effectLst>
                  <a:outerShdw blurRad="38100" dist="19050" dir="2700000" algn="tl" rotWithShape="0">
                    <a:schemeClr val="dk1">
                      <a:alpha val="40000"/>
                    </a:schemeClr>
                  </a:outerShdw>
                </a:effectLst>
              </a:rPr>
              <a:t>Tie use cases with objects</a:t>
            </a:r>
          </a:p>
          <a:p>
            <a:pPr lvl="1"/>
            <a:r>
              <a:rPr lang="en-MY" dirty="0">
                <a:ln w="0"/>
                <a:solidFill>
                  <a:schemeClr val="tx1"/>
                </a:solidFill>
                <a:effectLst>
                  <a:outerShdw blurRad="38100" dist="19050" dir="2700000" algn="tl" rotWithShape="0">
                    <a:schemeClr val="dk1">
                      <a:alpha val="40000"/>
                    </a:schemeClr>
                  </a:outerShdw>
                </a:effectLst>
              </a:rPr>
              <a:t>Shows how the </a:t>
            </a:r>
            <a:r>
              <a:rPr lang="en-MY" dirty="0" err="1">
                <a:ln w="0"/>
                <a:solidFill>
                  <a:schemeClr val="tx1"/>
                </a:solidFill>
                <a:effectLst>
                  <a:outerShdw blurRad="38100" dist="19050" dir="2700000" algn="tl" rotWithShape="0">
                    <a:schemeClr val="dk1">
                      <a:alpha val="40000"/>
                    </a:schemeClr>
                  </a:outerShdw>
                </a:effectLst>
              </a:rPr>
              <a:t>behavior</a:t>
            </a:r>
            <a:r>
              <a:rPr lang="en-MY" dirty="0">
                <a:ln w="0"/>
                <a:solidFill>
                  <a:schemeClr val="tx1"/>
                </a:solidFill>
                <a:effectLst>
                  <a:outerShdw blurRad="38100" dist="19050" dir="2700000" algn="tl" rotWithShape="0">
                    <a:schemeClr val="dk1">
                      <a:alpha val="40000"/>
                    </a:schemeClr>
                  </a:outerShdw>
                </a:effectLst>
              </a:rPr>
              <a:t> of a use case (or scenario) is distributed among its participating objects</a:t>
            </a:r>
          </a:p>
          <a:p>
            <a:pPr lvl="1"/>
            <a:r>
              <a:rPr lang="en-MY" dirty="0">
                <a:ln w="0"/>
                <a:solidFill>
                  <a:schemeClr val="tx1"/>
                </a:solidFill>
                <a:effectLst>
                  <a:outerShdw blurRad="38100" dist="19050" dir="2700000" algn="tl" rotWithShape="0">
                    <a:schemeClr val="dk1">
                      <a:alpha val="40000"/>
                    </a:schemeClr>
                  </a:outerShdw>
                </a:effectLst>
              </a:rPr>
              <a:t>Identify new objects and classes</a:t>
            </a:r>
          </a:p>
          <a:p>
            <a:pPr lvl="1"/>
            <a:r>
              <a:rPr lang="en-MY" dirty="0">
                <a:ln w="0"/>
                <a:solidFill>
                  <a:schemeClr val="tx1"/>
                </a:solidFill>
                <a:effectLst>
                  <a:outerShdw blurRad="38100" dist="19050" dir="2700000" algn="tl" rotWithShape="0">
                    <a:schemeClr val="dk1">
                      <a:alpha val="40000"/>
                    </a:schemeClr>
                  </a:outerShdw>
                </a:effectLst>
              </a:rPr>
              <a:t>Helps to determine how decentralized the system is.</a:t>
            </a:r>
          </a:p>
          <a:p>
            <a:r>
              <a:rPr lang="en-MY" dirty="0">
                <a:ln w="0"/>
                <a:solidFill>
                  <a:schemeClr val="tx1"/>
                </a:solidFill>
                <a:effectLst>
                  <a:outerShdw blurRad="38100" dist="19050" dir="2700000" algn="tl" rotWithShape="0">
                    <a:schemeClr val="dk1">
                      <a:alpha val="40000"/>
                    </a:schemeClr>
                  </a:outerShdw>
                </a:effectLst>
              </a:rPr>
              <a:t>Purpose:</a:t>
            </a:r>
          </a:p>
          <a:p>
            <a:pPr lvl="1"/>
            <a:r>
              <a:rPr lang="en-MY" dirty="0">
                <a:ln w="0"/>
                <a:solidFill>
                  <a:schemeClr val="tx1"/>
                </a:solidFill>
                <a:effectLst>
                  <a:outerShdw blurRad="38100" dist="19050" dir="2700000" algn="tl" rotWithShape="0">
                    <a:schemeClr val="dk1">
                      <a:alpha val="40000"/>
                    </a:schemeClr>
                  </a:outerShdw>
                </a:effectLst>
              </a:rPr>
              <a:t>Detect and supply methods for the object model</a:t>
            </a:r>
          </a:p>
          <a:p>
            <a:r>
              <a:rPr lang="en-MY" dirty="0">
                <a:ln w="0"/>
                <a:solidFill>
                  <a:schemeClr val="tx1"/>
                </a:solidFill>
                <a:effectLst>
                  <a:outerShdw blurRad="38100" dist="19050" dir="2700000" algn="tl" rotWithShape="0">
                    <a:schemeClr val="dk1">
                      <a:alpha val="40000"/>
                    </a:schemeClr>
                  </a:outerShdw>
                </a:effectLst>
              </a:rPr>
              <a:t>How do we do this?</a:t>
            </a:r>
          </a:p>
          <a:p>
            <a:pPr lvl="1"/>
            <a:r>
              <a:rPr lang="en-MY" dirty="0">
                <a:ln w="0"/>
                <a:solidFill>
                  <a:schemeClr val="tx1"/>
                </a:solidFill>
                <a:effectLst>
                  <a:outerShdw blurRad="38100" dist="19050" dir="2700000" algn="tl" rotWithShape="0">
                    <a:schemeClr val="dk1">
                      <a:alpha val="40000"/>
                    </a:schemeClr>
                  </a:outerShdw>
                </a:effectLst>
              </a:rPr>
              <a:t>Start with use case or scenario</a:t>
            </a:r>
          </a:p>
          <a:p>
            <a:pPr lvl="1"/>
            <a:r>
              <a:rPr lang="en-MY" dirty="0">
                <a:ln w="0"/>
                <a:solidFill>
                  <a:schemeClr val="tx1"/>
                </a:solidFill>
                <a:effectLst>
                  <a:outerShdw blurRad="38100" dist="19050" dir="2700000" algn="tl" rotWithShape="0">
                    <a:schemeClr val="dk1">
                      <a:alpha val="40000"/>
                    </a:schemeClr>
                  </a:outerShdw>
                </a:effectLst>
              </a:rPr>
              <a:t>Model interaction between objects - sequence diagram, CRC</a:t>
            </a:r>
          </a:p>
          <a:p>
            <a:pPr lvl="1"/>
            <a:r>
              <a:rPr lang="en-MY" dirty="0">
                <a:ln w="0"/>
                <a:solidFill>
                  <a:schemeClr val="tx1"/>
                </a:solidFill>
                <a:effectLst>
                  <a:outerShdw blurRad="38100" dist="19050" dir="2700000" algn="tl" rotWithShape="0">
                    <a:schemeClr val="dk1">
                      <a:alpha val="40000"/>
                    </a:schemeClr>
                  </a:outerShdw>
                </a:effectLst>
              </a:rPr>
              <a:t>Model dynamic </a:t>
            </a:r>
            <a:r>
              <a:rPr lang="en-MY" dirty="0" err="1">
                <a:ln w="0"/>
                <a:solidFill>
                  <a:schemeClr val="tx1"/>
                </a:solidFill>
                <a:effectLst>
                  <a:outerShdw blurRad="38100" dist="19050" dir="2700000" algn="tl" rotWithShape="0">
                    <a:schemeClr val="dk1">
                      <a:alpha val="40000"/>
                    </a:schemeClr>
                  </a:outerShdw>
                </a:effectLst>
              </a:rPr>
              <a:t>behavior</a:t>
            </a:r>
            <a:r>
              <a:rPr lang="en-MY" dirty="0">
                <a:ln w="0"/>
                <a:solidFill>
                  <a:schemeClr val="tx1"/>
                </a:solidFill>
                <a:effectLst>
                  <a:outerShdw blurRad="38100" dist="19050" dir="2700000" algn="tl" rotWithShape="0">
                    <a:schemeClr val="dk1">
                      <a:alpha val="40000"/>
                    </a:schemeClr>
                  </a:outerShdw>
                </a:effectLst>
              </a:rPr>
              <a:t> of a single object - state chart diagram</a:t>
            </a:r>
          </a:p>
        </p:txBody>
      </p:sp>
    </p:spTree>
    <p:extLst>
      <p:ext uri="{BB962C8B-B14F-4D97-AF65-F5344CB8AC3E}">
        <p14:creationId xmlns:p14="http://schemas.microsoft.com/office/powerpoint/2010/main" val="316820520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Dynamic modeling with UML</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Includes:</a:t>
            </a:r>
          </a:p>
          <a:p>
            <a:pPr lvl="1"/>
            <a:r>
              <a:rPr lang="en-MY" dirty="0">
                <a:ln w="0"/>
                <a:solidFill>
                  <a:srgbClr val="FF0000"/>
                </a:solidFill>
                <a:effectLst>
                  <a:outerShdw blurRad="38100" dist="19050" dir="2700000" algn="tl" rotWithShape="0">
                    <a:schemeClr val="dk1">
                      <a:alpha val="40000"/>
                    </a:schemeClr>
                  </a:outerShdw>
                </a:effectLst>
              </a:rPr>
              <a:t>Sequence Diagram</a:t>
            </a:r>
          </a:p>
          <a:p>
            <a:pPr lvl="2"/>
            <a:r>
              <a:rPr lang="en-MY" dirty="0">
                <a:ln w="0"/>
                <a:solidFill>
                  <a:schemeClr val="tx1"/>
                </a:solidFill>
                <a:effectLst>
                  <a:outerShdw blurRad="38100" dist="19050" dir="2700000" algn="tl" rotWithShape="0">
                    <a:schemeClr val="dk1">
                      <a:alpha val="40000"/>
                    </a:schemeClr>
                  </a:outerShdw>
                </a:effectLst>
              </a:rPr>
              <a:t>Can be read out of use cases</a:t>
            </a:r>
          </a:p>
          <a:p>
            <a:pPr lvl="2"/>
            <a:r>
              <a:rPr lang="en-MY" dirty="0">
                <a:ln w="0"/>
                <a:solidFill>
                  <a:schemeClr val="tx1"/>
                </a:solidFill>
                <a:effectLst>
                  <a:outerShdw blurRad="38100" dist="19050" dir="2700000" algn="tl" rotWithShape="0">
                    <a:schemeClr val="dk1">
                      <a:alpha val="40000"/>
                    </a:schemeClr>
                  </a:outerShdw>
                </a:effectLst>
              </a:rPr>
              <a:t>Dynamic </a:t>
            </a:r>
            <a:r>
              <a:rPr lang="en-MY" dirty="0" err="1">
                <a:ln w="0"/>
                <a:solidFill>
                  <a:schemeClr val="tx1"/>
                </a:solidFill>
                <a:effectLst>
                  <a:outerShdw blurRad="38100" dist="19050" dir="2700000" algn="tl" rotWithShape="0">
                    <a:schemeClr val="dk1">
                      <a:alpha val="40000"/>
                    </a:schemeClr>
                  </a:outerShdw>
                </a:effectLst>
              </a:rPr>
              <a:t>behavior</a:t>
            </a:r>
            <a:r>
              <a:rPr lang="en-MY" dirty="0">
                <a:ln w="0"/>
                <a:solidFill>
                  <a:schemeClr val="tx1"/>
                </a:solidFill>
                <a:effectLst>
                  <a:outerShdw blurRad="38100" dist="19050" dir="2700000" algn="tl" rotWithShape="0">
                    <a:schemeClr val="dk1">
                      <a:alpha val="40000"/>
                    </a:schemeClr>
                  </a:outerShdw>
                </a:effectLst>
              </a:rPr>
              <a:t> of a set of objects arranged against a time sequence</a:t>
            </a:r>
          </a:p>
          <a:p>
            <a:pPr lvl="2"/>
            <a:r>
              <a:rPr lang="en-MY" dirty="0">
                <a:ln w="0"/>
                <a:solidFill>
                  <a:schemeClr val="tx1"/>
                </a:solidFill>
                <a:effectLst>
                  <a:outerShdw blurRad="38100" dist="19050" dir="2700000" algn="tl" rotWithShape="0">
                    <a:schemeClr val="dk1">
                      <a:alpha val="40000"/>
                    </a:schemeClr>
                  </a:outerShdw>
                </a:effectLst>
              </a:rPr>
              <a:t>Good for real-time specifications and complex scenarios</a:t>
            </a:r>
          </a:p>
          <a:p>
            <a:pPr lvl="2"/>
            <a:r>
              <a:rPr lang="en-MY" dirty="0">
                <a:ln w="0"/>
                <a:solidFill>
                  <a:schemeClr val="tx1"/>
                </a:solidFill>
                <a:effectLst>
                  <a:outerShdw blurRad="38100" dist="19050" dir="2700000" algn="tl" rotWithShape="0">
                    <a:schemeClr val="dk1">
                      <a:alpha val="40000"/>
                    </a:schemeClr>
                  </a:outerShdw>
                </a:effectLst>
              </a:rPr>
              <a:t>Information of the life time of objects</a:t>
            </a:r>
          </a:p>
          <a:p>
            <a:pPr lvl="2"/>
            <a:r>
              <a:rPr lang="en-MY" dirty="0">
                <a:ln w="0"/>
                <a:solidFill>
                  <a:schemeClr val="tx1"/>
                </a:solidFill>
                <a:effectLst>
                  <a:outerShdw blurRad="38100" dist="19050" dir="2700000" algn="tl" rotWithShape="0">
                    <a:schemeClr val="dk1">
                      <a:alpha val="40000"/>
                    </a:schemeClr>
                  </a:outerShdw>
                </a:effectLst>
              </a:rPr>
              <a:t>Also show relationships between objects methods</a:t>
            </a:r>
          </a:p>
          <a:p>
            <a:pPr lvl="1"/>
            <a:r>
              <a:rPr lang="en-MY" dirty="0">
                <a:ln w="0"/>
                <a:solidFill>
                  <a:srgbClr val="FF0000"/>
                </a:solidFill>
                <a:effectLst>
                  <a:outerShdw blurRad="38100" dist="19050" dir="2700000" algn="tl" rotWithShape="0">
                    <a:schemeClr val="dk1">
                      <a:alpha val="40000"/>
                    </a:schemeClr>
                  </a:outerShdw>
                </a:effectLst>
              </a:rPr>
              <a:t>State Chart Diagram </a:t>
            </a:r>
          </a:p>
          <a:p>
            <a:pPr lvl="2"/>
            <a:r>
              <a:rPr lang="en-MY" dirty="0">
                <a:ln w="0"/>
                <a:solidFill>
                  <a:schemeClr val="tx1"/>
                </a:solidFill>
                <a:effectLst>
                  <a:outerShdw blurRad="38100" dist="19050" dir="2700000" algn="tl" rotWithShape="0">
                    <a:schemeClr val="dk1">
                      <a:alpha val="40000"/>
                    </a:schemeClr>
                  </a:outerShdw>
                </a:effectLst>
              </a:rPr>
              <a:t>describes the dynamic </a:t>
            </a:r>
            <a:r>
              <a:rPr lang="en-MY" dirty="0" err="1">
                <a:ln w="0"/>
                <a:solidFill>
                  <a:schemeClr val="tx1"/>
                </a:solidFill>
                <a:effectLst>
                  <a:outerShdw blurRad="38100" dist="19050" dir="2700000" algn="tl" rotWithShape="0">
                    <a:schemeClr val="dk1">
                      <a:alpha val="40000"/>
                    </a:schemeClr>
                  </a:outerShdw>
                </a:effectLst>
              </a:rPr>
              <a:t>behavior</a:t>
            </a:r>
            <a:r>
              <a:rPr lang="en-MY" dirty="0">
                <a:ln w="0"/>
                <a:solidFill>
                  <a:schemeClr val="tx1"/>
                </a:solidFill>
                <a:effectLst>
                  <a:outerShdw blurRad="38100" dist="19050" dir="2700000" algn="tl" rotWithShape="0">
                    <a:schemeClr val="dk1">
                      <a:alpha val="40000"/>
                    </a:schemeClr>
                  </a:outerShdw>
                </a:effectLst>
              </a:rPr>
              <a:t> of a single object</a:t>
            </a:r>
          </a:p>
          <a:p>
            <a:pPr lvl="2"/>
            <a:r>
              <a:rPr lang="en-MY" dirty="0">
                <a:ln w="0"/>
                <a:solidFill>
                  <a:schemeClr val="tx1"/>
                </a:solidFill>
                <a:effectLst>
                  <a:outerShdw blurRad="38100" dist="19050" dir="2700000" algn="tl" rotWithShape="0">
                    <a:schemeClr val="dk1">
                      <a:alpha val="40000"/>
                    </a:schemeClr>
                  </a:outerShdw>
                </a:effectLst>
              </a:rPr>
              <a:t>A state machine that describes the response of an object of a given class to the receipt of outside stimuli (Events)</a:t>
            </a:r>
          </a:p>
        </p:txBody>
      </p:sp>
    </p:spTree>
    <p:extLst>
      <p:ext uri="{BB962C8B-B14F-4D97-AF65-F5344CB8AC3E}">
        <p14:creationId xmlns:p14="http://schemas.microsoft.com/office/powerpoint/2010/main" val="75431434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Sequence Diagram Example</a:t>
            </a:r>
            <a:endParaRPr lang="en-MY" dirty="0">
              <a:ln w="0"/>
              <a:solidFill>
                <a:schemeClr val="tx1"/>
              </a:solidFill>
              <a:effectLst>
                <a:outerShdw blurRad="38100" dist="19050" dir="2700000" algn="tl" rotWithShape="0">
                  <a:schemeClr val="dk1">
                    <a:alpha val="40000"/>
                  </a:schemeClr>
                </a:outerShdw>
              </a:effectLst>
            </a:endParaRPr>
          </a:p>
        </p:txBody>
      </p:sp>
      <p:sp>
        <p:nvSpPr>
          <p:cNvPr id="4" name="Content Placeholder 3"/>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ln w="0"/>
                <a:solidFill>
                  <a:schemeClr val="tx1"/>
                </a:solidFill>
                <a:effectLst>
                  <a:outerShdw blurRad="38100" dist="19050" dir="2700000" algn="tl" rotWithShape="0">
                    <a:schemeClr val="dk1">
                      <a:alpha val="40000"/>
                    </a:schemeClr>
                  </a:outerShdw>
                </a:effectLst>
              </a:rPr>
              <a:t>Sequence diagrams will be covered in detail later</a:t>
            </a:r>
            <a:endParaRPr lang="en-MY" dirty="0">
              <a:ln w="0"/>
              <a:solidFill>
                <a:schemeClr val="tx1"/>
              </a:solidFill>
              <a:effectLst>
                <a:outerShdw blurRad="38100" dist="19050" dir="2700000" algn="tl" rotWithShape="0">
                  <a:schemeClr val="dk1">
                    <a:alpha val="40000"/>
                  </a:schemeClr>
                </a:outerShdw>
              </a:effectLst>
            </a:endParaRPr>
          </a:p>
          <a:p>
            <a:endParaRPr lang="en-MY"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880" y="924465"/>
            <a:ext cx="8418327" cy="5009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8644642"/>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23636" y="223838"/>
            <a:ext cx="9144000" cy="762000"/>
          </a:xfrm>
        </p:spPr>
        <p:txBody>
          <a:bodyPr/>
          <a:lstStyle/>
          <a:p>
            <a:r>
              <a:rPr lang="en-US" sz="2800" dirty="0">
                <a:ln w="0"/>
                <a:solidFill>
                  <a:schemeClr val="tx1"/>
                </a:solidFill>
                <a:effectLst>
                  <a:outerShdw blurRad="38100" dist="19050" dir="2700000" algn="tl" rotWithShape="0">
                    <a:schemeClr val="dk1">
                      <a:alpha val="40000"/>
                    </a:schemeClr>
                  </a:outerShdw>
                </a:effectLst>
              </a:rPr>
              <a:t>CRC </a:t>
            </a:r>
            <a:endParaRPr lang="en-MY" sz="2800" dirty="0">
              <a:ln w="0"/>
              <a:solidFill>
                <a:schemeClr val="tx1"/>
              </a:solidFill>
              <a:effectLst>
                <a:outerShdw blurRad="38100" dist="19050" dir="2700000" algn="tl" rotWithShape="0">
                  <a:schemeClr val="dk1">
                    <a:alpha val="40000"/>
                  </a:schemeClr>
                </a:outerShdw>
              </a:effectLst>
            </a:endParaRPr>
          </a:p>
        </p:txBody>
      </p:sp>
      <p:sp>
        <p:nvSpPr>
          <p:cNvPr id="4" name="Content Placeholder 3"/>
          <p:cNvSpPr>
            <a:spLocks noGrp="1"/>
          </p:cNvSpPr>
          <p:nvPr>
            <p:ph idx="1"/>
          </p:nvPr>
        </p:nvSpPr>
        <p:spPr>
          <a:xfrm>
            <a:off x="460375" y="1143000"/>
            <a:ext cx="8763000" cy="5715000"/>
          </a:xfrm>
        </p:spPr>
        <p:txBody>
          <a:bodyPr/>
          <a:lstStyle/>
          <a:p>
            <a:r>
              <a:rPr lang="en-MY" dirty="0">
                <a:ln w="0"/>
                <a:solidFill>
                  <a:schemeClr val="tx1"/>
                </a:solidFill>
                <a:effectLst>
                  <a:outerShdw blurRad="38100" dist="19050" dir="2700000" algn="tl" rotWithShape="0">
                    <a:schemeClr val="dk1">
                      <a:alpha val="40000"/>
                    </a:schemeClr>
                  </a:outerShdw>
                </a:effectLst>
              </a:rPr>
              <a:t>CRC Cards are valuable tools in OO to represent </a:t>
            </a:r>
            <a:r>
              <a:rPr lang="en-MY" b="1" dirty="0">
                <a:ln w="0"/>
                <a:solidFill>
                  <a:srgbClr val="FF0000"/>
                </a:solidFill>
                <a:effectLst>
                  <a:outerShdw blurRad="38100" dist="19050" dir="2700000" algn="tl" rotWithShape="0">
                    <a:schemeClr val="dk1">
                      <a:alpha val="40000"/>
                    </a:schemeClr>
                  </a:outerShdw>
                </a:effectLst>
              </a:rPr>
              <a:t>C</a:t>
            </a:r>
            <a:r>
              <a:rPr lang="en-MY" dirty="0">
                <a:ln w="0"/>
                <a:solidFill>
                  <a:schemeClr val="tx1"/>
                </a:solidFill>
                <a:effectLst>
                  <a:outerShdw blurRad="38100" dist="19050" dir="2700000" algn="tl" rotWithShape="0">
                    <a:schemeClr val="dk1">
                      <a:alpha val="40000"/>
                    </a:schemeClr>
                  </a:outerShdw>
                </a:effectLst>
              </a:rPr>
              <a:t>lasses, </a:t>
            </a:r>
            <a:r>
              <a:rPr lang="en-MY" b="1" dirty="0" err="1">
                <a:ln w="0"/>
                <a:solidFill>
                  <a:srgbClr val="FF0000"/>
                </a:solidFill>
                <a:effectLst>
                  <a:outerShdw blurRad="38100" dist="19050" dir="2700000" algn="tl" rotWithShape="0">
                    <a:schemeClr val="dk1">
                      <a:alpha val="40000"/>
                    </a:schemeClr>
                  </a:outerShdw>
                </a:effectLst>
              </a:rPr>
              <a:t>R</a:t>
            </a:r>
            <a:r>
              <a:rPr lang="en-MY" dirty="0" err="1">
                <a:ln w="0"/>
                <a:solidFill>
                  <a:schemeClr val="tx1"/>
                </a:solidFill>
                <a:effectLst>
                  <a:outerShdw blurRad="38100" dist="19050" dir="2700000" algn="tl" rotWithShape="0">
                    <a:schemeClr val="dk1">
                      <a:alpha val="40000"/>
                    </a:schemeClr>
                  </a:outerShdw>
                </a:effectLst>
              </a:rPr>
              <a:t>esponsibilites</a:t>
            </a:r>
            <a:r>
              <a:rPr lang="en-MY" dirty="0">
                <a:ln w="0"/>
                <a:solidFill>
                  <a:schemeClr val="tx1"/>
                </a:solidFill>
                <a:effectLst>
                  <a:outerShdw blurRad="38100" dist="19050" dir="2700000" algn="tl" rotWithShape="0">
                    <a:schemeClr val="dk1">
                      <a:alpha val="40000"/>
                    </a:schemeClr>
                  </a:outerShdw>
                </a:effectLst>
              </a:rPr>
              <a:t> and </a:t>
            </a:r>
            <a:r>
              <a:rPr lang="en-MY" b="1" dirty="0">
                <a:ln w="0"/>
                <a:solidFill>
                  <a:srgbClr val="FF0000"/>
                </a:solidFill>
                <a:effectLst>
                  <a:outerShdw blurRad="38100" dist="19050" dir="2700000" algn="tl" rotWithShape="0">
                    <a:schemeClr val="dk1">
                      <a:alpha val="40000"/>
                    </a:schemeClr>
                  </a:outerShdw>
                </a:effectLst>
              </a:rPr>
              <a:t>C</a:t>
            </a:r>
            <a:r>
              <a:rPr lang="en-MY" dirty="0">
                <a:ln w="0"/>
                <a:solidFill>
                  <a:schemeClr val="tx1"/>
                </a:solidFill>
                <a:effectLst>
                  <a:outerShdw blurRad="38100" dist="19050" dir="2700000" algn="tl" rotWithShape="0">
                    <a:schemeClr val="dk1">
                      <a:alpha val="40000"/>
                    </a:schemeClr>
                  </a:outerShdw>
                </a:effectLst>
              </a:rPr>
              <a:t>ollaborators using cards</a:t>
            </a:r>
          </a:p>
          <a:p>
            <a:r>
              <a:rPr lang="en-US" dirty="0">
                <a:ln w="0"/>
                <a:solidFill>
                  <a:schemeClr val="tx1"/>
                </a:solidFill>
                <a:effectLst>
                  <a:outerShdw blurRad="38100" dist="19050" dir="2700000" algn="tl" rotWithShape="0">
                    <a:schemeClr val="dk1">
                      <a:alpha val="40000"/>
                    </a:schemeClr>
                  </a:outerShdw>
                </a:effectLst>
              </a:rPr>
              <a:t>One card represents one class with the name written at the top of the card</a:t>
            </a:r>
            <a:endParaRPr lang="en-MY" dirty="0">
              <a:ln w="0"/>
              <a:solidFill>
                <a:schemeClr val="tx1"/>
              </a:solidFill>
              <a:effectLst>
                <a:outerShdw blurRad="38100" dist="19050" dir="2700000" algn="tl" rotWithShape="0">
                  <a:schemeClr val="dk1">
                    <a:alpha val="40000"/>
                  </a:schemeClr>
                </a:outerShdw>
              </a:effectLst>
            </a:endParaRPr>
          </a:p>
          <a:p>
            <a:r>
              <a:rPr lang="en-MY" dirty="0">
                <a:ln w="0"/>
                <a:solidFill>
                  <a:schemeClr val="tx1"/>
                </a:solidFill>
                <a:effectLst>
                  <a:outerShdw blurRad="38100" dist="19050" dir="2700000" algn="tl" rotWithShape="0">
                    <a:schemeClr val="dk1">
                      <a:alpha val="40000"/>
                    </a:schemeClr>
                  </a:outerShdw>
                </a:effectLst>
              </a:rPr>
              <a:t>Each class has a limited set of well defined responsibilities written on the left column</a:t>
            </a:r>
          </a:p>
          <a:p>
            <a:r>
              <a:rPr lang="en-MY" dirty="0">
                <a:ln w="0"/>
                <a:solidFill>
                  <a:schemeClr val="tx1"/>
                </a:solidFill>
                <a:effectLst>
                  <a:outerShdw blurRad="38100" dist="19050" dir="2700000" algn="tl" rotWithShape="0">
                    <a:schemeClr val="dk1">
                      <a:alpha val="40000"/>
                    </a:schemeClr>
                  </a:outerShdw>
                </a:effectLst>
              </a:rPr>
              <a:t>The CRC Card also lists the collaborators of each class on the right column</a:t>
            </a:r>
          </a:p>
          <a:p>
            <a:r>
              <a:rPr lang="en-MY" dirty="0">
                <a:ln w="0"/>
                <a:solidFill>
                  <a:schemeClr val="tx1"/>
                </a:solidFill>
                <a:effectLst>
                  <a:outerShdw blurRad="38100" dist="19050" dir="2700000" algn="tl" rotWithShape="0">
                    <a:schemeClr val="dk1">
                      <a:alpha val="40000"/>
                    </a:schemeClr>
                  </a:outerShdw>
                </a:effectLst>
              </a:rPr>
              <a:t>The attributes of a class can be recorded at the back of the CRC card.</a:t>
            </a:r>
          </a:p>
          <a:p>
            <a:r>
              <a:rPr lang="en-US" dirty="0">
                <a:ln w="0"/>
                <a:solidFill>
                  <a:schemeClr val="tx1"/>
                </a:solidFill>
                <a:effectLst>
                  <a:outerShdw blurRad="38100" dist="19050" dir="2700000" algn="tl" rotWithShape="0">
                    <a:schemeClr val="dk1">
                      <a:alpha val="40000"/>
                    </a:schemeClr>
                  </a:outerShdw>
                </a:effectLst>
              </a:rPr>
              <a:t>Using a card helps to limit the number </a:t>
            </a:r>
            <a:br>
              <a:rPr lang="en-US" dirty="0">
                <a:ln w="0"/>
                <a:solidFill>
                  <a:schemeClr val="tx1"/>
                </a:solidFill>
                <a:effectLst>
                  <a:outerShdw blurRad="38100" dist="19050" dir="2700000" algn="tl" rotWithShape="0">
                    <a:schemeClr val="dk1">
                      <a:alpha val="40000"/>
                    </a:schemeClr>
                  </a:outerShdw>
                </a:effectLst>
              </a:rPr>
            </a:br>
            <a:r>
              <a:rPr lang="en-US" dirty="0">
                <a:ln w="0"/>
                <a:solidFill>
                  <a:schemeClr val="tx1"/>
                </a:solidFill>
                <a:effectLst>
                  <a:outerShdw blurRad="38100" dist="19050" dir="2700000" algn="tl" rotWithShape="0">
                    <a:schemeClr val="dk1">
                      <a:alpha val="40000"/>
                    </a:schemeClr>
                  </a:outerShdw>
                </a:effectLst>
              </a:rPr>
              <a:t>of methods (responsibilities) and </a:t>
            </a:r>
            <a:br>
              <a:rPr lang="en-US" dirty="0">
                <a:ln w="0"/>
                <a:solidFill>
                  <a:schemeClr val="tx1"/>
                </a:solidFill>
                <a:effectLst>
                  <a:outerShdw blurRad="38100" dist="19050" dir="2700000" algn="tl" rotWithShape="0">
                    <a:schemeClr val="dk1">
                      <a:alpha val="40000"/>
                    </a:schemeClr>
                  </a:outerShdw>
                </a:effectLst>
              </a:rPr>
            </a:br>
            <a:r>
              <a:rPr lang="en-US" dirty="0">
                <a:ln w="0"/>
                <a:solidFill>
                  <a:schemeClr val="tx1"/>
                </a:solidFill>
                <a:effectLst>
                  <a:outerShdw blurRad="38100" dist="19050" dir="2700000" algn="tl" rotWithShape="0">
                    <a:schemeClr val="dk1">
                      <a:alpha val="40000"/>
                    </a:schemeClr>
                  </a:outerShdw>
                </a:effectLst>
              </a:rPr>
              <a:t>collaborators a class can have to </a:t>
            </a:r>
            <a:br>
              <a:rPr lang="en-US" dirty="0">
                <a:ln w="0"/>
                <a:solidFill>
                  <a:schemeClr val="tx1"/>
                </a:solidFill>
                <a:effectLst>
                  <a:outerShdw blurRad="38100" dist="19050" dir="2700000" algn="tl" rotWithShape="0">
                    <a:schemeClr val="dk1">
                      <a:alpha val="40000"/>
                    </a:schemeClr>
                  </a:outerShdw>
                </a:effectLst>
              </a:rPr>
            </a:br>
            <a:r>
              <a:rPr lang="en-US" dirty="0">
                <a:ln w="0"/>
                <a:solidFill>
                  <a:schemeClr val="tx1"/>
                </a:solidFill>
                <a:effectLst>
                  <a:outerShdw blurRad="38100" dist="19050" dir="2700000" algn="tl" rotWithShape="0">
                    <a:schemeClr val="dk1">
                      <a:alpha val="40000"/>
                    </a:schemeClr>
                  </a:outerShdw>
                </a:effectLst>
              </a:rPr>
              <a:t>keep a </a:t>
            </a:r>
            <a:r>
              <a:rPr lang="en-US" dirty="0" err="1">
                <a:ln w="0"/>
                <a:solidFill>
                  <a:schemeClr val="tx1"/>
                </a:solidFill>
                <a:effectLst>
                  <a:outerShdw blurRad="38100" dist="19050" dir="2700000" algn="tl" rotWithShape="0">
                    <a:schemeClr val="dk1">
                      <a:alpha val="40000"/>
                    </a:schemeClr>
                  </a:outerShdw>
                </a:effectLst>
              </a:rPr>
              <a:t>class’</a:t>
            </a:r>
            <a:r>
              <a:rPr lang="en-US" dirty="0">
                <a:ln w="0"/>
                <a:solidFill>
                  <a:schemeClr val="tx1"/>
                </a:solidFill>
                <a:effectLst>
                  <a:outerShdw blurRad="38100" dist="19050" dir="2700000" algn="tl" rotWithShape="0">
                    <a:schemeClr val="dk1">
                      <a:alpha val="40000"/>
                    </a:schemeClr>
                  </a:outerShdw>
                </a:effectLst>
              </a:rPr>
              <a:t> design at a minimum</a:t>
            </a:r>
            <a:endParaRPr lang="en-MY" dirty="0">
              <a:ln w="0"/>
              <a:solidFill>
                <a:schemeClr val="tx1"/>
              </a:solidFill>
              <a:effectLst>
                <a:outerShdw blurRad="38100" dist="19050" dir="2700000" algn="tl" rotWithShape="0">
                  <a:schemeClr val="dk1">
                    <a:alpha val="40000"/>
                  </a:schemeClr>
                </a:outerShdw>
              </a:effectLst>
            </a:endParaRPr>
          </a:p>
          <a:p>
            <a:endParaRPr lang="en-MY" dirty="0">
              <a:ln w="0"/>
              <a:solidFill>
                <a:schemeClr val="tx1"/>
              </a:solidFill>
              <a:effectLst>
                <a:outerShdw blurRad="38100" dist="19050" dir="2700000" algn="tl" rotWithShape="0">
                  <a:schemeClr val="dk1">
                    <a:alpha val="40000"/>
                  </a:schemeClr>
                </a:outerShdw>
              </a:effectLst>
            </a:endParaRPr>
          </a:p>
        </p:txBody>
      </p:sp>
      <p:sp>
        <p:nvSpPr>
          <p:cNvPr id="5" name="AutoShape 2" descr="data:image/jpeg;base64,/9j/4AAQSkZJRgABAQAAAQABAAD/2wCEAAkGBxQHERAIBwgKFhUVDRIbGBUWDRsgGBcfFh0iHhwdHRgYKCglGhwrJx8WIT0tKCwvLi4uIyIzODQtQyguLi8BCgoKBQUFDgUFDisZExkrKysrKysrKysrKysrKysrKysrKysrKysrKysrKysrKysrKysrKysrKysrKysrKysrK//AABEIAJoBDQMBIgACEQEDEQH/xAAcAAEBAAMAAwEAAAAAAAAAAAAABQYHCAEDBAL/xAA9EAAABQEEBgYJBAICAwAAAAAAAQIDBBEFBhIWEyExVZTRB0FTdJPSFCIzNFFxsrTCFSMyYSShQoFEUpH/xAAUAQEAAAAAAAAAAAAAAAAAAAAA/8QAFBEBAAAAAAAAAAAAAAAAAAAAAP/aAAwDAQACEQMRAD8A2Pdm78WTEivyLLiKUqM2alKaIzUZlUzMz2mKeWIe54PgJ5D5LFtJqybMjTbRkIbbRDaxKUeotRDxFvxClNSJaJiiKOglOpW0pK0JPYo0KIlUP40AfZliHueD4CeQZYh7ng+AnkKqV4qGXWQ84qAJOWIe54PgJ5BliHueD4CeQrV6h8B2yymT+jHITpzY0hI6zTWlSAejLEPc8HwE8gyxD3PB8BPIfTZFqtWw0U2z3MSDUsq0MtaFGlW3+yMfbi/owEnLEPc8HwE8gyxD3PB8BPIVqgR16jAScsQ9zwfATyDLEPc8HwE8hXABIyxD3PB8BPIMsQ9zwfATyFcAEjLEPc8HwE8gyxD3PB8BPIVwASMsQ9zwfATyDLEPc8HwE8hXABIyxD3PB8BPIMsQ9zwfATyFcAEjLEPc8HwE8gyxD3PB8BPIVwASMsQ9zwfATyDLEPc8HwE8hXABIyxD3PB8BPIMsQ9zwfATyFcAEjLEPc8HwE8gyxD3PB8BPIVwASMsQ9zwfATyDLEPc8HwE8hXABIyxD3PB8BPIMsQ9zwfATyFcAEjLEPc8HwE8hrrpbs5qzDh/p0ZprET+LRpw4qYKVpt2n/9G3DGremzbB+Uj8AH225Adl2VZUiCy656O/BfW0hNVOIaoakpI9p9ZF10H5vRaKryw7URZl35pF+nklLy4ykuuqM/ZpaUklqIttdleoZhdL3GH3Rr6SFagDUt6zkPS1ORIdoIWzJg4VpakLNbdUmtScJk2hH8iNNDNWHXtH02S2/FtU1HHnOkqdIxKWy+2ppBkoyq4Rmy61qSSS269hGRjaQ8UAau6PW340xLUhia4RsvaR91h9paaGRpJ1KzNt1Z1Ohp2F/R6/pvZd9607TdtGzW3Cej2XHXHcNJ4DcS4s1NmrYZKT6pl8DGyR4oA0rZ0d/9Ps+z5liz0Gs7RWZmzIPRqU4ZoSbTeE8R1qlSzIipXrH1KsyVabJHaLVrmpN06kX7pf5CVLMqpKmJ6pIOn8tn9DcFAoA1LJs+ZDTITZDdpYnbusKUZqcM1PY1E5RSj1PYOojI9n9DIujVlxtUtVZBMGbOBtcd5BJUSfXNHpBmqh6q9Va/2M4oPIAAAAAAAAAAAAAAAAAAAAAAAAAAAAAAAAAAAAABjVvTZtg/KR+A2kY1b02bYPykfgAya694o7MOI0469UozZHSK6ewi6yTrFTM8ftZHBveUebpe4w+6NfSQrgI+Z4/ayODe8oZnj9rI4N7yiwACPmeP2sjg3vKGZ4/ayODe8osAAj5nj9rI4N7yhmeP2sjg3vKLAAI+Z4/ayODe8oZnj9rI4N7yiwACPmeP2sjg3vKGZ4/ayODe8osAAj5nj9rI4N7yhmeP2sjg3vKLAAI+Z4/ayODe8oZnj9rI4N7yiwACPmeP2sjg3vKGZ4/ayODe8osAAj5nj9rI4N7yj8ovVFXrRIePWZaoru0joZfx2keoWhKu77Jev/zpv3DgD8Znj9rI4N7yhmeP2sjg3vKLAAI+Z4/ayODe8oZnj9rI4N7yiwACPmeP2sjg3vKGZ4/ayODe8osAAj5nj9rI4N7yhmeP2sjg3vKLAAI+Z4/ayODe8oZnj9rI4N7yiwACPmeP2sjg3vKGZ4/ayODe8osAAjHeeN2sjg3vKNcdMFrtTTh+jrdOhP1qw4nbg/8AZJVG3xq7ps2wflI/ABnd0fcYfdGvpIVxIuj7jD7o19JCuAAAAAAAAAAAAAAAAAAAAAAAAAAAAJd3PZL79N+4cFQS7ueyX36b9w4AqAAAAAAAAAAAAAAAAAAAAGNW9Nm2D8pH4DaRjVvTZtg/KR+ADO7o+4w+6NfSQriRdH3GH3Rr6SFcAAAAAAAAAAAAAAAAAAAAAAAAAAAAS7ueyX36b9w4Kgl3c9kvv037hwBUAAAAAAAAAAAAAAAAAAAAMat6bNsH5SPwG0jGremzbB+Uj8AGd3R9xh90a+khXEi6PuMPujX0kK4AADEukK3HbERD9BmxmdNOJtbrrWJKU6Nav4kZdaSIBloDXt278q0cyTa0hqQyy6whmQxGWlL63alo0pUZkpRHhKpHT1hVcv4w03pnWpCXPTCYNlWFKydNOMkmpSsBFh11rQ9m0BloDGZN8EMeitnZ1pm7JQ8bbPo9F/s0xEZKMiSWsqGeox688sOojrgx5rrjyXTSyhn91JNHhcxpVTDhP1de09RVAZUAxU78sOJYXAjzXjfYeWhDbPrUZMiWSiUZYVEZ0ofXqHqX0gRzKOURmU6p6Kl9KEILHozM01JBmRrOpH6qan/QDLwGC3rvW5ZhTjhP+szGhrJCop1TpnMJnWvrGZVKlNRj6Z980m1KShMmO8ypgzS9HqeF1ZJSokkesj1ltqXXsAZiAwlm87pvvRn30JJNvFHQRMVNSNEleGtSodTPX/oemwr6uWt6MuQytjHakhnCqOdHEtpcMiJRq9VRYNZ/EqU1gM8AYnDv9GlGajTJQ2bT623VN+o6lgjNZopr1ERmRGRVIqlUfddq8yLwka40SWlOBKkrUkjQtKtlFoMyxfFJniLrIBeAAABLu57Jffpv3DgqCXdz2S+/TfuHAFQB4MYZLtSba8yZZl35UJlMQmiUpxk1qcW4gl0oRlhQRGRV27QGaAMXk3pOzSZhWjCdclnG0jjMZOMkJTqNdVU9Wuwtp7CrQSrWvotRSJdjPtKaK77slozb/wCaTOla/KhkAz0Bi86+CLMW2zOhzsJmwlT+h/aJTxFhIjPWvWZEZpIyI9R/ATbPvwbLspm1o0k227WWwTyGP20EZklslnWpmZmRVItRmVQGdAMWO/DBPHH0MvRlK0BydF+yTtaYMXz1VpSuraPEe+rcsn3IVm2qtLK1oNSYpmSlpXgNCfj8TPYRVMzIBlQDBLQ6QiQ2y5Z1nyFLO1Ex3WzSRqbOhmZeodDUZUpQ6bfgKbl9mEOmzoJmjKSTKpGh/ZS6ZkWA1fM8NaUxaqgMoAYg90gR2ikPKjTtGw6ttbptUbNxLhN4CUZ0qZq27KEZ11C7YtqfqqDe9FktmSzI0uI/2lSTNK0/2kzIwFIxq3ps2wflI/AbSMat6bNsH5SPwAZ3dH3GH3Rr6SFcSLo+4w+6NfSQrgAk21YpWq5EeW6afR5elIsNcR4FIofwL1q/9CsADC5nR82+mXGZnOoafkNvJaJtJpZdQeI1JI9WFR7U0oPJ3F/x1QinM1VJNxX+A1olFhwk2bVP4Ft21r19QzMAGulXKes1+y2bGmOpSwi0TU9okYUKfNBpToj1YNSiIi2ULWKLFxDg+jyLMtiQh9pMglPKZQrS+kLxuYkGVCPFrKmzZrGZ0HkBi9kXNRZS4r7Mp5RsRpKDxEVXDkLJa1mfUeIjOhatZiTM6NUyY0eylWkRoaiaL14jaus/3EGrW25rpWplqLVtrnwAMPtK4iZpSE/qD6dNEiNVwkZpKMrESqntUdR+X7jHN9KdtK13nHX0x06TQpIkoYXjSkklqMzOtT/sZkADFjucnTHM9MXU7WKVTAVKk2SMG3ZQq1HpgXI9FU0blpOKQ1aT8hCdERU0xLJSTUW0quGdf6IZeADCLC6PEWMr9ierAhl1DdIzZOJ0hUqp2hmtSSMyKvVtqPruvcsrBkOWkctClLZSgyRGQ2lVDrjWSP5ua9oywAAAAAEu7nsl9+m/cOCoJd3PZL79N+4cAUz1jFrUum47IftOxrZfjLkNoS8RNJWlWAsKVpJf8FkmhVL4Fq1DKgAYe5ck2TZkWTbMtp1EH0dTi0pcN1Fa1Vj/AOZGajIy+NKU1D8F0ftNNKgxZbyUHZLkXWkjOjijUpwz1VUZmZn1axmYAMGtLo+9PeclKtNVFuxl0OOlSkmxholKzOqWzw1oXWe34+524pureSu2ZGgetH0hxnQooaiWS0pJe0k1SRn8aFs1jMwAYaVxCJZsptR/0U5/pJxtGnWvFjppS9bBjIlU/qlR5euKS4btjt2i8WO0FSMWAqGal4zQpFfXRtKlSGYgAwcrgG22pti1lJWdpNySWUVGFKkIw4SRsw6zoXUPa5cTGtbX6xI9GXO9IXH0SPWcxEsy0m0kGsiVT/qozMAGMJulo4sizWJ7idNNdexaJJ00q8ZoNCqkpO0uQ990bspuyh1lp4j0r2MyS0SG0HhIqIbTqSWqvzMxkAABjVvTZtg/KR+A2kY1b02bYPykfgAzu6PuMPujX0kK4kXR9xh90a+khXAAAAAAAAAAAAAAAAAAAAAAAAAAAAEu7nsl9+m/cOCoJd3PZL79N+4cAVAAAAAAAAAAAAAAAAAAAADGremzbB+Uj8BtIxq3ps2wflI/ABnd0fcYfdGvpIVxIuj7jD7o19JCuAAAAAAAAAAAAAAAAAAAAAAAAAAAAJd3PZL79N+4cFQS7ueyX36b9w4AqAAAAAAAAAAAAAAAAAAAAGNW9Nm2D8pH4DaRjVvTZtg/KR+ADO7o+4w+6NfSQrjm9i35TKSaZte0EpSVCSUlZERFsIiI9RD2Zkmb6tLi3OYDowBznmSZvq0uLc5hmSZvq0uLc5gOjAHOeZJm+rS4tzmGZJm+rS4tzmA6MAc55kmb6tLi3OYZkmb6tLi3OYDowBznmSZvq0uLc5hmSZvq0uLc5gOjAHOeZJm+rS4tzmGZJm+rS4tzmA6MAc55kmb6tLi3OYZkmb6tLi3OYDowBznmSZvq0uLc5hmSZvq0uLc5gOjAHOeZJm+rS4tzmGZJm+rS4tzmA6MEu7nsl9+m/cODQ+ZJm+rS4tzmPRCvDLbSZIti0CLTOnqlL2mtRme3rOpgOkwHOeZJm+rS4tzmGZJm+rS4tzmA6MAc55kmb6tLi3OYZkmb6tLi3OYDowBznmSZvq0uLc5hmSZvq0uLc5gOjAHOeZJm+rS4tzmGZJm+rS4tzmA6MAc55kmb6tLi3OYZkmb6tLi3OYDowBznmSZvq0uLc5hmSZvq0uLc5gOjDGremzbB+Uj8BguZJm+rS4tzmJVuWq/N0fps+U5hxUxvKVStK0qerYQD/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pic>
        <p:nvPicPr>
          <p:cNvPr id="5124" name="Picture 4" descr="http://agilemodeling.com/images/models/crcCardLayou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0425" y="4795837"/>
            <a:ext cx="3209925" cy="183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11639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170" name="Picture 2" descr="http://agilemodeling.com/images/models/crcCardStude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090" y="317305"/>
            <a:ext cx="3209925" cy="183832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c2.com/doc/oopsla89/fig2.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5365" y="1759310"/>
            <a:ext cx="5236755" cy="486491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1.bp.blogspot.com/-UxTii_iURn8/T8YJ3INwnAI/AAAAAAAAAd0/saDEA5r4k9I/s320/Screen%2BShot%2B2012-05-30%2Bat%2B12.48.1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195" y="3125420"/>
            <a:ext cx="3657700" cy="273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78966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Group 36"/>
          <p:cNvGraphicFramePr>
            <a:graphicFrameLocks noGrp="1"/>
          </p:cNvGraphicFramePr>
          <p:nvPr>
            <p:extLst>
              <p:ext uri="{D42A27DB-BD31-4B8C-83A1-F6EECF244321}">
                <p14:modId xmlns:p14="http://schemas.microsoft.com/office/powerpoint/2010/main" val="2147678540"/>
              </p:ext>
            </p:extLst>
          </p:nvPr>
        </p:nvGraphicFramePr>
        <p:xfrm>
          <a:off x="245985" y="317305"/>
          <a:ext cx="8001000" cy="4267200"/>
        </p:xfrm>
        <a:graphic>
          <a:graphicData uri="http://schemas.openxmlformats.org/drawingml/2006/table">
            <a:tbl>
              <a:tblPr>
                <a:tableStyleId>{775DCB02-9BB8-47FD-8907-85C794F793BA}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406400">
                <a:tc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u="none" strike="noStrike" cap="none" normalizeH="0" baseline="0">
                          <a:ln>
                            <a:noFill/>
                          </a:ln>
                          <a:effectLst/>
                        </a:rPr>
                        <a:t>Class Name:</a:t>
                      </a: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hMerge="1">
                  <a:txBody>
                    <a:bodyPr/>
                    <a:lstStyle/>
                    <a:p>
                      <a:endParaRPr lang="en-US"/>
                    </a:p>
                  </a:txBody>
                  <a:tcPr/>
                </a:tc>
                <a:extLst>
                  <a:ext uri="{0D108BD9-81ED-4DB2-BD59-A6C34878D82A}">
                    <a16:rowId xmlns:a16="http://schemas.microsoft.com/office/drawing/2014/main" val="10000"/>
                  </a:ext>
                </a:extLst>
              </a:tr>
              <a:tr h="406400">
                <a:tc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u="none" strike="noStrike" cap="none" normalizeH="0" baseline="0">
                          <a:ln>
                            <a:noFill/>
                          </a:ln>
                          <a:effectLst/>
                        </a:rPr>
                        <a:t>Superclasses:</a:t>
                      </a: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hMerge="1">
                  <a:txBody>
                    <a:bodyPr/>
                    <a:lstStyle/>
                    <a:p>
                      <a:endParaRPr lang="en-US"/>
                    </a:p>
                  </a:txBody>
                  <a:tcPr/>
                </a:tc>
                <a:extLst>
                  <a:ext uri="{0D108BD9-81ED-4DB2-BD59-A6C34878D82A}">
                    <a16:rowId xmlns:a16="http://schemas.microsoft.com/office/drawing/2014/main" val="10001"/>
                  </a:ext>
                </a:extLst>
              </a:tr>
              <a:tr h="406400">
                <a:tc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u="none" strike="noStrike" cap="none" normalizeH="0" baseline="0">
                          <a:ln>
                            <a:noFill/>
                          </a:ln>
                          <a:effectLst/>
                        </a:rPr>
                        <a:t>Subclasses:</a:t>
                      </a: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hMerge="1">
                  <a:txBody>
                    <a:bodyPr/>
                    <a:lstStyle/>
                    <a:p>
                      <a:endParaRPr lang="en-US"/>
                    </a:p>
                  </a:txBody>
                  <a:tcPr/>
                </a:tc>
                <a:extLst>
                  <a:ext uri="{0D108BD9-81ED-4DB2-BD59-A6C34878D82A}">
                    <a16:rowId xmlns:a16="http://schemas.microsoft.com/office/drawing/2014/main" val="10002"/>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u="none" strike="noStrike" cap="none" normalizeH="0" baseline="0">
                          <a:ln>
                            <a:noFill/>
                          </a:ln>
                          <a:effectLst/>
                        </a:rPr>
                        <a:t>Responsibilities</a:t>
                      </a: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u="none" strike="noStrike" cap="none" normalizeH="0" baseline="0">
                          <a:ln>
                            <a:noFill/>
                          </a:ln>
                          <a:effectLst/>
                        </a:rPr>
                        <a:t>Collaborators</a:t>
                      </a: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extLst>
                  <a:ext uri="{0D108BD9-81ED-4DB2-BD59-A6C34878D82A}">
                    <a16:rowId xmlns:a16="http://schemas.microsoft.com/office/drawing/2014/main" val="10003"/>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extLst>
                  <a:ext uri="{0D108BD9-81ED-4DB2-BD59-A6C34878D82A}">
                    <a16:rowId xmlns:a16="http://schemas.microsoft.com/office/drawing/2014/main" val="10004"/>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extLst>
                  <a:ext uri="{0D108BD9-81ED-4DB2-BD59-A6C34878D82A}">
                    <a16:rowId xmlns:a16="http://schemas.microsoft.com/office/drawing/2014/main" val="10005"/>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extLst>
                  <a:ext uri="{0D108BD9-81ED-4DB2-BD59-A6C34878D82A}">
                    <a16:rowId xmlns:a16="http://schemas.microsoft.com/office/drawing/2014/main" val="10006"/>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extLst>
                  <a:ext uri="{0D108BD9-81ED-4DB2-BD59-A6C34878D82A}">
                    <a16:rowId xmlns:a16="http://schemas.microsoft.com/office/drawing/2014/main" val="10007"/>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extLst>
                  <a:ext uri="{0D108BD9-81ED-4DB2-BD59-A6C34878D82A}">
                    <a16:rowId xmlns:a16="http://schemas.microsoft.com/office/drawing/2014/main" val="10008"/>
                  </a:ext>
                </a:extLst>
              </a:tr>
              <a:tr h="406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marT="0" marB="0" anchor="ctr" horzOverflow="overflow"/>
                </a:tc>
                <a:extLst>
                  <a:ext uri="{0D108BD9-81ED-4DB2-BD59-A6C34878D82A}">
                    <a16:rowId xmlns:a16="http://schemas.microsoft.com/office/drawing/2014/main" val="10009"/>
                  </a:ext>
                </a:extLst>
              </a:tr>
            </a:tbl>
          </a:graphicData>
        </a:graphic>
      </p:graphicFrame>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3050" y="3125420"/>
            <a:ext cx="5091074" cy="35670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3407954"/>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Common class design flaws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190500" y="1535113"/>
            <a:ext cx="8763000" cy="3187152"/>
          </a:xfrm>
        </p:spPr>
        <p:txBody>
          <a:bodyPr/>
          <a:lstStyle/>
          <a:p>
            <a:r>
              <a:rPr lang="en-MY" dirty="0">
                <a:ln w="0"/>
                <a:solidFill>
                  <a:schemeClr val="tx1"/>
                </a:solidFill>
                <a:effectLst>
                  <a:outerShdw blurRad="38100" dist="19050" dir="2700000" algn="tl" rotWithShape="0">
                    <a:schemeClr val="dk1">
                      <a:alpha val="40000"/>
                    </a:schemeClr>
                  </a:outerShdw>
                </a:effectLst>
              </a:rPr>
              <a:t>Classes with too much responsibilities/no responsibility</a:t>
            </a:r>
          </a:p>
          <a:p>
            <a:r>
              <a:rPr lang="en-MY" dirty="0">
                <a:ln w="0"/>
                <a:solidFill>
                  <a:schemeClr val="tx1"/>
                </a:solidFill>
                <a:effectLst>
                  <a:outerShdw blurRad="38100" dist="19050" dir="2700000" algn="tl" rotWithShape="0">
                    <a:schemeClr val="dk1">
                      <a:alpha val="40000"/>
                    </a:schemeClr>
                  </a:outerShdw>
                </a:effectLst>
              </a:rPr>
              <a:t>Classes with unused responsibility</a:t>
            </a:r>
          </a:p>
          <a:p>
            <a:r>
              <a:rPr lang="en-MY" dirty="0">
                <a:ln w="0"/>
                <a:solidFill>
                  <a:schemeClr val="tx1"/>
                </a:solidFill>
                <a:effectLst>
                  <a:outerShdw blurRad="38100" dist="19050" dir="2700000" algn="tl" rotWithShape="0">
                    <a:schemeClr val="dk1">
                      <a:alpha val="40000"/>
                    </a:schemeClr>
                  </a:outerShdw>
                </a:effectLst>
              </a:rPr>
              <a:t>Misleading names</a:t>
            </a:r>
          </a:p>
          <a:p>
            <a:r>
              <a:rPr lang="en-MY" dirty="0">
                <a:ln w="0"/>
                <a:solidFill>
                  <a:schemeClr val="tx1"/>
                </a:solidFill>
                <a:effectLst>
                  <a:outerShdw blurRad="38100" dist="19050" dir="2700000" algn="tl" rotWithShape="0">
                    <a:schemeClr val="dk1">
                      <a:alpha val="40000"/>
                    </a:schemeClr>
                  </a:outerShdw>
                </a:effectLst>
              </a:rPr>
              <a:t>Unconnected responsibilities</a:t>
            </a:r>
          </a:p>
          <a:p>
            <a:r>
              <a:rPr lang="en-MY" dirty="0">
                <a:ln w="0"/>
                <a:solidFill>
                  <a:schemeClr val="tx1"/>
                </a:solidFill>
                <a:effectLst>
                  <a:outerShdw blurRad="38100" dist="19050" dir="2700000" algn="tl" rotWithShape="0">
                    <a:schemeClr val="dk1">
                      <a:alpha val="40000"/>
                    </a:schemeClr>
                  </a:outerShdw>
                </a:effectLst>
              </a:rPr>
              <a:t>Inappropriate use of inheritance</a:t>
            </a:r>
          </a:p>
          <a:p>
            <a:r>
              <a:rPr lang="en-MY" dirty="0">
                <a:ln w="0"/>
                <a:solidFill>
                  <a:schemeClr val="tx1"/>
                </a:solidFill>
                <a:effectLst>
                  <a:outerShdw blurRad="38100" dist="19050" dir="2700000" algn="tl" rotWithShape="0">
                    <a:schemeClr val="dk1">
                      <a:alpha val="40000"/>
                    </a:schemeClr>
                  </a:outerShdw>
                </a:effectLst>
              </a:rPr>
              <a:t>Repeated functionality</a:t>
            </a:r>
          </a:p>
          <a:p>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03208663"/>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Tips in dynamic modeling</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US" dirty="0">
                <a:ln w="0"/>
                <a:solidFill>
                  <a:schemeClr val="tx1"/>
                </a:solidFill>
                <a:effectLst>
                  <a:outerShdw blurRad="38100" dist="19050" dir="2700000" algn="tl" rotWithShape="0">
                    <a:schemeClr val="dk1">
                      <a:alpha val="40000"/>
                    </a:schemeClr>
                  </a:outerShdw>
                </a:effectLst>
              </a:rPr>
              <a:t>It is not necessary (and sometimes impossible) to construct the dynamic model for the entire problem domain.</a:t>
            </a:r>
          </a:p>
          <a:p>
            <a:r>
              <a:rPr lang="en-MY" dirty="0">
                <a:ln w="0"/>
                <a:solidFill>
                  <a:schemeClr val="tx1"/>
                </a:solidFill>
                <a:effectLst>
                  <a:outerShdw blurRad="38100" dist="19050" dir="2700000" algn="tl" rotWithShape="0">
                    <a:schemeClr val="dk1">
                      <a:alpha val="40000"/>
                    </a:schemeClr>
                  </a:outerShdw>
                </a:effectLst>
              </a:rPr>
              <a:t>Construct dynamic </a:t>
            </a:r>
            <a:r>
              <a:rPr lang="en-MY" b="1" dirty="0">
                <a:ln w="0"/>
                <a:solidFill>
                  <a:srgbClr val="FF0000"/>
                </a:solidFill>
                <a:effectLst>
                  <a:outerShdw blurRad="38100" dist="19050" dir="2700000" algn="tl" rotWithShape="0">
                    <a:schemeClr val="dk1">
                      <a:alpha val="40000"/>
                    </a:schemeClr>
                  </a:outerShdw>
                </a:effectLst>
              </a:rPr>
              <a:t>models only for classes with significant dynamic </a:t>
            </a:r>
            <a:r>
              <a:rPr lang="en-MY" b="1" dirty="0" err="1">
                <a:ln w="0"/>
                <a:solidFill>
                  <a:srgbClr val="FF0000"/>
                </a:solidFill>
                <a:effectLst>
                  <a:outerShdw blurRad="38100" dist="19050" dir="2700000" algn="tl" rotWithShape="0">
                    <a:schemeClr val="dk1">
                      <a:alpha val="40000"/>
                    </a:schemeClr>
                  </a:outerShdw>
                </a:effectLst>
              </a:rPr>
              <a:t>behavior</a:t>
            </a:r>
            <a:r>
              <a:rPr lang="en-MY" b="1" dirty="0">
                <a:ln w="0"/>
                <a:solidFill>
                  <a:srgbClr val="FF0000"/>
                </a:solidFill>
                <a:effectLst>
                  <a:outerShdw blurRad="38100" dist="19050" dir="2700000" algn="tl" rotWithShape="0">
                    <a:schemeClr val="dk1">
                      <a:alpha val="40000"/>
                    </a:schemeClr>
                  </a:outerShdw>
                </a:effectLst>
              </a:rPr>
              <a:t> </a:t>
            </a:r>
            <a:r>
              <a:rPr lang="en-MY" dirty="0">
                <a:ln w="0"/>
                <a:solidFill>
                  <a:schemeClr val="tx1"/>
                </a:solidFill>
                <a:effectLst>
                  <a:outerShdw blurRad="38100" dist="19050" dir="2700000" algn="tl" rotWithShape="0">
                    <a:schemeClr val="dk1">
                      <a:alpha val="40000"/>
                    </a:schemeClr>
                  </a:outerShdw>
                </a:effectLst>
              </a:rPr>
              <a:t>– e.g. those that require specific flow of operations or sequence</a:t>
            </a:r>
          </a:p>
          <a:p>
            <a:r>
              <a:rPr lang="en-MY" dirty="0">
                <a:ln w="0"/>
                <a:solidFill>
                  <a:schemeClr val="tx1"/>
                </a:solidFill>
                <a:effectLst>
                  <a:outerShdw blurRad="38100" dist="19050" dir="2700000" algn="tl" rotWithShape="0">
                    <a:schemeClr val="dk1">
                      <a:alpha val="40000"/>
                    </a:schemeClr>
                  </a:outerShdw>
                </a:effectLst>
              </a:rPr>
              <a:t>Consider only relevant attributes - Use abstraction wherever Possible</a:t>
            </a:r>
          </a:p>
          <a:p>
            <a:r>
              <a:rPr lang="en-MY" dirty="0">
                <a:ln w="0"/>
                <a:solidFill>
                  <a:schemeClr val="tx1"/>
                </a:solidFill>
                <a:effectLst>
                  <a:outerShdw blurRad="38100" dist="19050" dir="2700000" algn="tl" rotWithShape="0">
                    <a:schemeClr val="dk1">
                      <a:alpha val="40000"/>
                    </a:schemeClr>
                  </a:outerShdw>
                </a:effectLst>
              </a:rPr>
              <a:t>Look at the granularity of the application when deciding on actions and activities (e.g. is “Perform sales transaction” better than “Take item”, “Scan item barcode”, “Retrieve relevant item price”, “Add to total” , “repeat”)</a:t>
            </a:r>
          </a:p>
        </p:txBody>
      </p:sp>
    </p:spTree>
    <p:extLst>
      <p:ext uri="{BB962C8B-B14F-4D97-AF65-F5344CB8AC3E}">
        <p14:creationId xmlns:p14="http://schemas.microsoft.com/office/powerpoint/2010/main" val="4981579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Risks in domain/req. analysis</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dirty="0">
                <a:ln w="0"/>
                <a:solidFill>
                  <a:schemeClr val="tx1"/>
                </a:solidFill>
                <a:effectLst>
                  <a:outerShdw blurRad="38100" dist="19050" dir="2700000" algn="tl" rotWithShape="0">
                    <a:schemeClr val="dk1">
                      <a:alpha val="40000"/>
                    </a:schemeClr>
                  </a:outerShdw>
                </a:effectLst>
              </a:rPr>
              <a:t>Lack of understanding of the domain or the real problem </a:t>
            </a:r>
          </a:p>
          <a:p>
            <a:pPr lvl="1"/>
            <a:r>
              <a:rPr lang="en-MY" dirty="0">
                <a:ln w="0"/>
                <a:solidFill>
                  <a:schemeClr val="tx1"/>
                </a:solidFill>
                <a:effectLst>
                  <a:outerShdw blurRad="38100" dist="19050" dir="2700000" algn="tl" rotWithShape="0">
                    <a:schemeClr val="dk1">
                      <a:alpha val="40000"/>
                    </a:schemeClr>
                  </a:outerShdw>
                </a:effectLst>
              </a:rPr>
              <a:t>Do domain analysis and prototyping </a:t>
            </a:r>
          </a:p>
          <a:p>
            <a:r>
              <a:rPr lang="en-MY" dirty="0">
                <a:ln w="0"/>
                <a:solidFill>
                  <a:schemeClr val="tx1"/>
                </a:solidFill>
                <a:effectLst>
                  <a:outerShdw blurRad="38100" dist="19050" dir="2700000" algn="tl" rotWithShape="0">
                    <a:schemeClr val="dk1">
                      <a:alpha val="40000"/>
                    </a:schemeClr>
                  </a:outerShdw>
                </a:effectLst>
              </a:rPr>
              <a:t>Requirements change rapidly</a:t>
            </a:r>
          </a:p>
          <a:p>
            <a:pPr lvl="1"/>
            <a:r>
              <a:rPr lang="en-MY" dirty="0">
                <a:ln w="0"/>
                <a:solidFill>
                  <a:schemeClr val="tx1"/>
                </a:solidFill>
                <a:effectLst>
                  <a:outerShdw blurRad="38100" dist="19050" dir="2700000" algn="tl" rotWithShape="0">
                    <a:schemeClr val="dk1">
                      <a:alpha val="40000"/>
                    </a:schemeClr>
                  </a:outerShdw>
                </a:effectLst>
              </a:rPr>
              <a:t>Perform incremental development, build flexibility into the design, do regular reviews  </a:t>
            </a:r>
          </a:p>
          <a:p>
            <a:r>
              <a:rPr lang="en-MY" dirty="0">
                <a:ln w="0"/>
                <a:solidFill>
                  <a:schemeClr val="tx1"/>
                </a:solidFill>
                <a:effectLst>
                  <a:outerShdw blurRad="38100" dist="19050" dir="2700000" algn="tl" rotWithShape="0">
                    <a:schemeClr val="dk1">
                      <a:alpha val="40000"/>
                    </a:schemeClr>
                  </a:outerShdw>
                </a:effectLst>
              </a:rPr>
              <a:t>Attempting to do too much </a:t>
            </a:r>
          </a:p>
          <a:p>
            <a:pPr lvl="1"/>
            <a:r>
              <a:rPr lang="en-MY" dirty="0">
                <a:ln w="0"/>
                <a:solidFill>
                  <a:schemeClr val="tx1"/>
                </a:solidFill>
                <a:effectLst>
                  <a:outerShdw blurRad="38100" dist="19050" dir="2700000" algn="tl" rotWithShape="0">
                    <a:schemeClr val="dk1">
                      <a:alpha val="40000"/>
                    </a:schemeClr>
                  </a:outerShdw>
                </a:effectLst>
              </a:rPr>
              <a:t>Document the problem boundaries at an early stage, carefully estimate the time </a:t>
            </a:r>
          </a:p>
          <a:p>
            <a:r>
              <a:rPr lang="en-MY" dirty="0">
                <a:ln w="0"/>
                <a:solidFill>
                  <a:schemeClr val="tx1"/>
                </a:solidFill>
                <a:effectLst>
                  <a:outerShdw blurRad="38100" dist="19050" dir="2700000" algn="tl" rotWithShape="0">
                    <a:schemeClr val="dk1">
                      <a:alpha val="40000"/>
                    </a:schemeClr>
                  </a:outerShdw>
                </a:effectLst>
              </a:rPr>
              <a:t>It may be hard to reconcile conflicting sets of requirements from multiple sources</a:t>
            </a:r>
          </a:p>
          <a:p>
            <a:pPr lvl="1"/>
            <a:r>
              <a:rPr lang="en-MY" dirty="0">
                <a:ln w="0"/>
                <a:solidFill>
                  <a:schemeClr val="tx1"/>
                </a:solidFill>
                <a:effectLst>
                  <a:outerShdw blurRad="38100" dist="19050" dir="2700000" algn="tl" rotWithShape="0">
                    <a:schemeClr val="dk1">
                      <a:alpha val="40000"/>
                    </a:schemeClr>
                  </a:outerShdw>
                </a:effectLst>
              </a:rPr>
              <a:t>Brainstorming, Joint Application Development (JAD) sessions, competing prototypes </a:t>
            </a:r>
          </a:p>
          <a:p>
            <a:r>
              <a:rPr lang="en-MY" dirty="0">
                <a:ln w="0"/>
                <a:solidFill>
                  <a:schemeClr val="tx1"/>
                </a:solidFill>
                <a:effectLst>
                  <a:outerShdw blurRad="38100" dist="19050" dir="2700000" algn="tl" rotWithShape="0">
                    <a:schemeClr val="dk1">
                      <a:alpha val="40000"/>
                    </a:schemeClr>
                  </a:outerShdw>
                </a:effectLst>
              </a:rPr>
              <a:t>It is hard to state requirements precisely</a:t>
            </a:r>
          </a:p>
          <a:p>
            <a:pPr lvl="1"/>
            <a:r>
              <a:rPr lang="en-MY" dirty="0">
                <a:ln w="0"/>
                <a:solidFill>
                  <a:schemeClr val="tx1"/>
                </a:solidFill>
                <a:effectLst>
                  <a:outerShdw blurRad="38100" dist="19050" dir="2700000" algn="tl" rotWithShape="0">
                    <a:schemeClr val="dk1">
                      <a:alpha val="40000"/>
                    </a:schemeClr>
                  </a:outerShdw>
                </a:effectLst>
              </a:rPr>
              <a:t>Break requirements down into simple sentences and review them carefully, look for potential ambiguity, make early prototypes </a:t>
            </a:r>
          </a:p>
          <a:p>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5732064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w="0"/>
                <a:solidFill>
                  <a:schemeClr val="tx1"/>
                </a:solidFill>
                <a:effectLst>
                  <a:outerShdw blurRad="38100" dist="19050" dir="2700000" algn="tl" rotWithShape="0">
                    <a:schemeClr val="dk1">
                      <a:alpha val="40000"/>
                    </a:schemeClr>
                  </a:outerShdw>
                </a:effectLst>
              </a:rPr>
              <a:t>Summary</a:t>
            </a:r>
            <a:endParaRPr lang="en-MY" dirty="0">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p:txBody>
          <a:bodyPr/>
          <a:lstStyle/>
          <a:p>
            <a:r>
              <a:rPr lang="en-MY" b="1" dirty="0">
                <a:ln w="0"/>
                <a:solidFill>
                  <a:srgbClr val="FF0000"/>
                </a:solidFill>
                <a:effectLst>
                  <a:outerShdw blurRad="38100" dist="19050" dir="2700000" algn="tl" rotWithShape="0">
                    <a:schemeClr val="dk1">
                      <a:alpha val="40000"/>
                    </a:schemeClr>
                  </a:outerShdw>
                </a:effectLst>
              </a:rPr>
              <a:t>What is the structure of the system?</a:t>
            </a:r>
          </a:p>
          <a:p>
            <a:pPr lvl="1"/>
            <a:r>
              <a:rPr lang="en-MY" dirty="0">
                <a:ln w="0"/>
                <a:solidFill>
                  <a:schemeClr val="tx1"/>
                </a:solidFill>
                <a:effectLst>
                  <a:outerShdw blurRad="38100" dist="19050" dir="2700000" algn="tl" rotWithShape="0">
                    <a:schemeClr val="dk1">
                      <a:alpha val="40000"/>
                    </a:schemeClr>
                  </a:outerShdw>
                </a:effectLst>
              </a:rPr>
              <a:t>Create class diagrams</a:t>
            </a:r>
          </a:p>
          <a:p>
            <a:pPr lvl="2"/>
            <a:r>
              <a:rPr lang="en-MY" dirty="0">
                <a:ln w="0"/>
                <a:solidFill>
                  <a:schemeClr val="tx1"/>
                </a:solidFill>
                <a:effectLst>
                  <a:outerShdw blurRad="38100" dist="19050" dir="2700000" algn="tl" rotWithShape="0">
                    <a:schemeClr val="dk1">
                      <a:alpha val="40000"/>
                    </a:schemeClr>
                  </a:outerShdw>
                </a:effectLst>
              </a:rPr>
              <a:t>Identify objects. </a:t>
            </a:r>
          </a:p>
          <a:p>
            <a:pPr lvl="2"/>
            <a:r>
              <a:rPr lang="en-MY" dirty="0">
                <a:ln w="0"/>
                <a:solidFill>
                  <a:schemeClr val="tx1"/>
                </a:solidFill>
                <a:effectLst>
                  <a:outerShdw blurRad="38100" dist="19050" dir="2700000" algn="tl" rotWithShape="0">
                    <a:schemeClr val="dk1">
                      <a:alpha val="40000"/>
                    </a:schemeClr>
                  </a:outerShdw>
                </a:effectLst>
              </a:rPr>
              <a:t>What are the associations between them? What is their multiplicity? What are the attributes of the objects? What operations are defined on the objects?</a:t>
            </a:r>
          </a:p>
          <a:p>
            <a:r>
              <a:rPr lang="en-MY" b="1" dirty="0">
                <a:ln w="0"/>
                <a:solidFill>
                  <a:srgbClr val="FF0000"/>
                </a:solidFill>
                <a:effectLst>
                  <a:outerShdw blurRad="38100" dist="19050" dir="2700000" algn="tl" rotWithShape="0">
                    <a:schemeClr val="dk1">
                      <a:alpha val="40000"/>
                    </a:schemeClr>
                  </a:outerShdw>
                </a:effectLst>
              </a:rPr>
              <a:t>What is its </a:t>
            </a:r>
            <a:r>
              <a:rPr lang="en-MY" b="1" dirty="0" err="1">
                <a:ln w="0"/>
                <a:solidFill>
                  <a:srgbClr val="FF0000"/>
                </a:solidFill>
                <a:effectLst>
                  <a:outerShdw blurRad="38100" dist="19050" dir="2700000" algn="tl" rotWithShape="0">
                    <a:schemeClr val="dk1">
                      <a:alpha val="40000"/>
                    </a:schemeClr>
                  </a:outerShdw>
                </a:effectLst>
              </a:rPr>
              <a:t>behavior</a:t>
            </a:r>
            <a:r>
              <a:rPr lang="en-MY" b="1" dirty="0">
                <a:ln w="0"/>
                <a:solidFill>
                  <a:srgbClr val="FF0000"/>
                </a:solidFill>
                <a:effectLst>
                  <a:outerShdw blurRad="38100" dist="19050" dir="2700000" algn="tl" rotWithShape="0">
                    <a:schemeClr val="dk1">
                      <a:alpha val="40000"/>
                    </a:schemeClr>
                  </a:outerShdw>
                </a:effectLst>
              </a:rPr>
              <a:t>? </a:t>
            </a:r>
          </a:p>
          <a:p>
            <a:pPr lvl="1"/>
            <a:r>
              <a:rPr lang="en-MY" dirty="0">
                <a:ln w="0"/>
                <a:solidFill>
                  <a:schemeClr val="tx1"/>
                </a:solidFill>
                <a:effectLst>
                  <a:outerShdw blurRad="38100" dist="19050" dir="2700000" algn="tl" rotWithShape="0">
                    <a:schemeClr val="dk1">
                      <a:alpha val="40000"/>
                    </a:schemeClr>
                  </a:outerShdw>
                </a:effectLst>
              </a:rPr>
              <a:t>Create sequence diagrams</a:t>
            </a:r>
          </a:p>
          <a:p>
            <a:pPr lvl="2"/>
            <a:r>
              <a:rPr lang="en-MY" dirty="0">
                <a:ln w="0"/>
                <a:solidFill>
                  <a:schemeClr val="tx1"/>
                </a:solidFill>
                <a:effectLst>
                  <a:outerShdw blurRad="38100" dist="19050" dir="2700000" algn="tl" rotWithShape="0">
                    <a:schemeClr val="dk1">
                      <a:alpha val="40000"/>
                    </a:schemeClr>
                  </a:outerShdw>
                </a:effectLst>
              </a:rPr>
              <a:t>Identify senders and receivers</a:t>
            </a:r>
          </a:p>
          <a:p>
            <a:pPr lvl="2"/>
            <a:r>
              <a:rPr lang="en-MY" dirty="0">
                <a:ln w="0"/>
                <a:solidFill>
                  <a:schemeClr val="tx1"/>
                </a:solidFill>
                <a:effectLst>
                  <a:outerShdw blurRad="38100" dist="19050" dir="2700000" algn="tl" rotWithShape="0">
                    <a:schemeClr val="dk1">
                      <a:alpha val="40000"/>
                    </a:schemeClr>
                  </a:outerShdw>
                </a:effectLst>
              </a:rPr>
              <a:t>Show sequence of events exchanged between objects.</a:t>
            </a:r>
          </a:p>
          <a:p>
            <a:pPr lvl="2"/>
            <a:r>
              <a:rPr lang="en-MY" dirty="0">
                <a:ln w="0"/>
                <a:solidFill>
                  <a:schemeClr val="tx1"/>
                </a:solidFill>
                <a:effectLst>
                  <a:outerShdw blurRad="38100" dist="19050" dir="2700000" algn="tl" rotWithShape="0">
                    <a:schemeClr val="dk1">
                      <a:alpha val="40000"/>
                    </a:schemeClr>
                  </a:outerShdw>
                </a:effectLst>
              </a:rPr>
              <a:t>Identify event dependencies and event concurrency.</a:t>
            </a:r>
          </a:p>
          <a:p>
            <a:pPr lvl="1"/>
            <a:r>
              <a:rPr lang="en-MY" dirty="0">
                <a:ln w="0"/>
                <a:solidFill>
                  <a:schemeClr val="tx1"/>
                </a:solidFill>
                <a:effectLst>
                  <a:outerShdw blurRad="38100" dist="19050" dir="2700000" algn="tl" rotWithShape="0">
                    <a:schemeClr val="dk1">
                      <a:alpha val="40000"/>
                    </a:schemeClr>
                  </a:outerShdw>
                </a:effectLst>
              </a:rPr>
              <a:t>Create state diagrams </a:t>
            </a:r>
          </a:p>
          <a:p>
            <a:pPr lvl="2"/>
            <a:r>
              <a:rPr lang="en-MY" dirty="0">
                <a:ln w="0"/>
                <a:solidFill>
                  <a:schemeClr val="tx1"/>
                </a:solidFill>
                <a:effectLst>
                  <a:outerShdw blurRad="38100" dist="19050" dir="2700000" algn="tl" rotWithShape="0">
                    <a:schemeClr val="dk1">
                      <a:alpha val="40000"/>
                    </a:schemeClr>
                  </a:outerShdw>
                </a:effectLst>
              </a:rPr>
              <a:t>Only for the dynamically interesting objects</a:t>
            </a:r>
            <a:r>
              <a:rPr lang="en-US" dirty="0">
                <a:ln w="0"/>
                <a:solidFill>
                  <a:schemeClr val="tx1"/>
                </a:solidFill>
                <a:effectLst>
                  <a:outerShdw blurRad="38100" dist="19050" dir="2700000" algn="tl" rotWithShape="0">
                    <a:schemeClr val="dk1">
                      <a:alpha val="40000"/>
                    </a:schemeClr>
                  </a:outerShdw>
                </a:effectLst>
              </a:rPr>
              <a:t>.</a:t>
            </a:r>
            <a:endParaRPr lang="en-MY"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38131916"/>
      </p:ext>
    </p:extLst>
  </p:cSld>
  <p:clrMapOvr>
    <a:masterClrMapping/>
  </p:clrMapOvr>
  <p:transition/>
</p:sld>
</file>

<file path=ppt/theme/theme1.xml><?xml version="1.0" encoding="utf-8"?>
<a:theme xmlns:a="http://schemas.openxmlformats.org/drawingml/2006/main" name="01090025">
  <a:themeElements>
    <a:clrScheme name="0109002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01090025">
      <a:majorFont>
        <a:latin typeface="Book Antiqua"/>
        <a:ea typeface=""/>
        <a:cs typeface=""/>
      </a:majorFont>
      <a:minorFont>
        <a:latin typeface="Basic Sans SF"/>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342900" marR="0" indent="-342900" algn="ctr"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Calibri" pitchFamily="34" charset="0"/>
          </a:defRPr>
        </a:defPPr>
      </a:lstStyle>
    </a:spDef>
    <a:lnDef>
      <a:spPr bwMode="auto">
        <a:ln w="57150"/>
      </a:spPr>
      <a:bodyPr/>
      <a:lstStyle/>
      <a:style>
        <a:lnRef idx="1">
          <a:schemeClr val="accent3"/>
        </a:lnRef>
        <a:fillRef idx="0">
          <a:schemeClr val="accent3"/>
        </a:fillRef>
        <a:effectRef idx="0">
          <a:schemeClr val="accent3"/>
        </a:effectRef>
        <a:fontRef idx="minor">
          <a:schemeClr val="tx1"/>
        </a:fontRef>
      </a:style>
    </a:lnDef>
  </a:objectDefaults>
  <a:extraClrSchemeLst>
    <a:extraClrScheme>
      <a:clrScheme name="01090025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01090025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01090025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01090025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0109002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0109002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0109002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01090025</Template>
  <TotalTime>6840</TotalTime>
  <Words>3633</Words>
  <Application>Microsoft Office PowerPoint</Application>
  <PresentationFormat>On-screen Show (4:3)</PresentationFormat>
  <Paragraphs>522</Paragraphs>
  <Slides>51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Aptos Black</vt:lpstr>
      <vt:lpstr>Arial</vt:lpstr>
      <vt:lpstr>Basic Sans SF</vt:lpstr>
      <vt:lpstr>Book Antiqua</vt:lpstr>
      <vt:lpstr>Calibri</vt:lpstr>
      <vt:lpstr>Tahoma</vt:lpstr>
      <vt:lpstr>Times</vt:lpstr>
      <vt:lpstr>Wingdings</vt:lpstr>
      <vt:lpstr>01090025</vt:lpstr>
      <vt:lpstr>OO Analysis</vt:lpstr>
      <vt:lpstr>Lecture outcomes</vt:lpstr>
      <vt:lpstr>Software : Definition</vt:lpstr>
      <vt:lpstr>The nature of software</vt:lpstr>
      <vt:lpstr>Types of Software</vt:lpstr>
      <vt:lpstr>Software engineering?</vt:lpstr>
      <vt:lpstr>OO software development </vt:lpstr>
      <vt:lpstr>Why OO?</vt:lpstr>
      <vt:lpstr>Types of software projects</vt:lpstr>
      <vt:lpstr>Activities in software projects</vt:lpstr>
      <vt:lpstr>PowerPoint Presentation</vt:lpstr>
      <vt:lpstr>How does this map to design models?</vt:lpstr>
      <vt:lpstr>Domain analysis</vt:lpstr>
      <vt:lpstr>The starting point of software projects</vt:lpstr>
      <vt:lpstr>Problem definition</vt:lpstr>
      <vt:lpstr>Problem scope</vt:lpstr>
      <vt:lpstr>Defining requirements</vt:lpstr>
      <vt:lpstr>Types of requirements</vt:lpstr>
      <vt:lpstr>Gathering requirements</vt:lpstr>
      <vt:lpstr>PowerPoint Presentation</vt:lpstr>
      <vt:lpstr>PowerPoint Presentation</vt:lpstr>
      <vt:lpstr>Types of requirements document</vt:lpstr>
      <vt:lpstr>Depicting/Presenting requirements</vt:lpstr>
      <vt:lpstr>Requirements to Analysis models</vt:lpstr>
      <vt:lpstr>Analysis models</vt:lpstr>
      <vt:lpstr>Creating the Analysis object model</vt:lpstr>
      <vt:lpstr>Steps to analysis</vt:lpstr>
      <vt:lpstr>Class Identification</vt:lpstr>
      <vt:lpstr>PowerPoint Presentation</vt:lpstr>
      <vt:lpstr>Identifying participating objects</vt:lpstr>
      <vt:lpstr>Example</vt:lpstr>
      <vt:lpstr>Overview of analysis</vt:lpstr>
      <vt:lpstr>Analysis Object model</vt:lpstr>
      <vt:lpstr>PowerPoint Presentation</vt:lpstr>
      <vt:lpstr>Object types</vt:lpstr>
      <vt:lpstr>Entity objects</vt:lpstr>
      <vt:lpstr>Boundary objects</vt:lpstr>
      <vt:lpstr>Control objects</vt:lpstr>
      <vt:lpstr>Analysis Object model</vt:lpstr>
      <vt:lpstr>Analysis Object model</vt:lpstr>
      <vt:lpstr>Common problems</vt:lpstr>
      <vt:lpstr>Dynamic models</vt:lpstr>
      <vt:lpstr>Dynamic modeling with UML</vt:lpstr>
      <vt:lpstr>Sequence Diagram Example</vt:lpstr>
      <vt:lpstr>CRC </vt:lpstr>
      <vt:lpstr>PowerPoint Presentation</vt:lpstr>
      <vt:lpstr>PowerPoint Presentation</vt:lpstr>
      <vt:lpstr>Common class design flaws</vt:lpstr>
      <vt:lpstr>Tips in dynamic modeling</vt:lpstr>
      <vt:lpstr>Risks in domain/req. analysis</vt:lpstr>
      <vt:lpstr>Summary</vt:lpstr>
    </vt:vector>
  </TitlesOfParts>
  <Company>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WKS</dc:creator>
  <cp:lastModifiedBy>Kamal Shahid</cp:lastModifiedBy>
  <cp:revision>262</cp:revision>
  <dcterms:created xsi:type="dcterms:W3CDTF">2006-02-03T14:02:10Z</dcterms:created>
  <dcterms:modified xsi:type="dcterms:W3CDTF">2025-12-08T07:21:18Z</dcterms:modified>
</cp:coreProperties>
</file>